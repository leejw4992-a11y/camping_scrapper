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3" d="100"/>
          <a:sy n="83" d="100"/>
        </p:scale>
        <p:origin x="408" y="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1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50.png"/><Relationship Id="rId4" Type="http://schemas.openxmlformats.org/officeDocument/2006/relationships/image" Target="../media/image5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12" Type="http://schemas.openxmlformats.org/officeDocument/2006/relationships/image" Target="../media/image7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11" Type="http://schemas.openxmlformats.org/officeDocument/2006/relationships/image" Target="../media/image70.png"/><Relationship Id="rId5" Type="http://schemas.openxmlformats.org/officeDocument/2006/relationships/image" Target="../media/image64.png"/><Relationship Id="rId10" Type="http://schemas.openxmlformats.org/officeDocument/2006/relationships/image" Target="../media/image69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000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962275"/>
            <a:ext cx="12192000" cy="76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20840" y="2335559"/>
            <a:ext cx="2550318" cy="643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070"/>
              </a:lnSpc>
            </a:pPr>
            <a:r>
              <a:rPr sz="3900" b="0" i="0" u="none">
                <a:solidFill>
                  <a:srgbClr val="FFFFFF"/>
                </a:solidFill>
                <a:latin typeface="Noto Sans KR Black"/>
              </a:rPr>
              <a:t>캠핑나침반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96865" y="3122265"/>
            <a:ext cx="5198119" cy="2714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137"/>
              </a:lnSpc>
            </a:pPr>
            <a:r>
              <a:rPr sz="1425" b="0" i="0" u="none">
                <a:solidFill>
                  <a:srgbClr val="A3D9B7"/>
                </a:solidFill>
                <a:latin typeface="Noto Sans KR"/>
              </a:rPr>
              <a:t>전국 캠핑장을 지역 · 시설 · 날씨까지 한 번에 찾는 검색 웹사이트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35400" y="3584227"/>
            <a:ext cx="2921198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FFFFFF"/>
                </a:solidFill>
                <a:latin typeface="Noto Sans KR"/>
              </a:rPr>
              <a:t>어디로 캠핑 갈까요? 지역 · 업종 · 시설로 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13716" y="3941415"/>
            <a:ext cx="2208460" cy="200025"/>
          </a:xfrm>
          <a:prstGeom prst="rect">
            <a:avLst/>
          </a:prstGeom>
          <a:noFill/>
        </p:spPr>
        <p:txBody>
          <a:bodyPr wrap="square" lIns="103733" tIns="0" r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sz="1050" b="1" i="0" u="none">
                <a:solidFill>
                  <a:srgbClr val="FFB703"/>
                </a:solidFill>
                <a:latin typeface="Noto Sans KR"/>
              </a:rPr>
              <a:t>camping-scrapper.onrender.com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6466" y="1859309"/>
            <a:ext cx="1926580" cy="2857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8296" y="1859309"/>
            <a:ext cx="1733996" cy="2857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7542" y="1859309"/>
            <a:ext cx="1067990" cy="2857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1695" y="3979515"/>
            <a:ext cx="103733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/>
          <p:cNvSpPr/>
          <p:nvPr/>
        </p:nvSpPr>
        <p:spPr>
          <a:xfrm>
            <a:off x="571500" y="2102313"/>
            <a:ext cx="5405437" cy="27560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215062" y="2102313"/>
            <a:ext cx="5405437" cy="27560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1. 프로젝트 소개: 왜 만들었고 무엇을 해결하려 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2361" y="2321389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 dirty="0" err="1">
                <a:solidFill>
                  <a:srgbClr val="0C3C20"/>
                </a:solidFill>
                <a:latin typeface="Noto Sans KR"/>
              </a:rPr>
              <a:t>선택한</a:t>
            </a:r>
            <a:r>
              <a:rPr sz="1350" b="1" i="0" u="none" dirty="0">
                <a:solidFill>
                  <a:srgbClr val="0C3C20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0C3C20"/>
                </a:solidFill>
                <a:latin typeface="Noto Sans KR"/>
              </a:rPr>
              <a:t>이유</a:t>
            </a:r>
            <a:r>
              <a:rPr sz="1350" b="1" i="0" u="none" dirty="0">
                <a:solidFill>
                  <a:srgbClr val="0C3C20"/>
                </a:solidFill>
                <a:latin typeface="Noto Sans KR"/>
              </a:rPr>
              <a:t> (왜 </a:t>
            </a:r>
            <a:r>
              <a:rPr sz="1350" b="1" i="0" u="none" dirty="0" err="1">
                <a:solidFill>
                  <a:srgbClr val="0C3C20"/>
                </a:solidFill>
                <a:latin typeface="Noto Sans KR"/>
              </a:rPr>
              <a:t>만들었는가</a:t>
            </a:r>
            <a:r>
              <a:rPr sz="1350" b="1" i="0" u="none" dirty="0">
                <a:solidFill>
                  <a:srgbClr val="0C3C20"/>
                </a:solidFill>
                <a:latin typeface="Noto Sans KR"/>
              </a:rPr>
              <a:t>?)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575" y="2601334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5923" y="2321389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핵심 목적 (달성하려는 과제)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34137" y="2601334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2340439"/>
            <a:ext cx="133498" cy="1714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1075" y="27346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① SNS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광고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피해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검색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효율화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인스타나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광고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피드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대신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이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사이트에서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바로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진짜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지역별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검색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및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즉각적인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비교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가능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81075" y="32299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② 시설 정보 사전 확인: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캠핑장별로 전기, 온수, 샤워시설 등 어떤 필수 유틸리티를 쓸 수 있는지 투명하게 체크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7252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③ 전 연령 무료 간편 이용: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아이 동반 부부, 부모님 세대까지 누구나 가입이나 결제 비용 부담 없이 손쉬운 서칭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075" y="42205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④ 효율적인 여행 동선 구축: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시간이 부족한 바쁜 직장인들도 이동 소요 시간을 직관적으로 확인해 일정 설계 용이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37" y="2340439"/>
            <a:ext cx="133498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4637" y="27346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0C3C20"/>
                </a:solidFill>
                <a:latin typeface="Noto Sans KR"/>
              </a:rPr>
              <a:t>● 전국 야영지 정보 단일창구 가시화: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전국에 분산된 3,800여 개 야영장 위치와 실시간 운영시설 현황을 한곳에서 일목요연하게 파악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4637" y="32299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0C3C20"/>
                </a:solidFill>
                <a:latin typeface="Noto Sans KR"/>
              </a:rPr>
              <a:t>● 경유지 결합 맞춤 소요시간 제공: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장보기 마트 등 중간 경유지까지 포함하여 실제로 차량이 가는데 걸리는 시간을 실시간 연동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4637" y="37252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0C3C20"/>
                </a:solidFill>
                <a:latin typeface="Noto Sans KR"/>
              </a:rPr>
              <a:t>● 인프라 매칭 예약 최적화: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필요한 편의시설(글램핑, 카라반, 화장실 등) 위주로 골라 안전하고 정확한 예약 링크로 즉시 연결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27251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32204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37157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42110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1762" y="27251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1762" y="32204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1762" y="37157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28"/>
          <p:cNvSpPr/>
          <p:nvPr/>
        </p:nvSpPr>
        <p:spPr>
          <a:xfrm>
            <a:off x="571500" y="2404020"/>
            <a:ext cx="5405437" cy="22702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15062" y="2404020"/>
            <a:ext cx="5405437" cy="22702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2. 데이터 설계: 수집 데이터 정보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2361" y="2623096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어떤 데이터를 수집했는가?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575" y="2903041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0575" y="3036391"/>
            <a:ext cx="4967287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0C3C20"/>
                </a:solidFill>
                <a:latin typeface="Noto Sans KR"/>
              </a:rPr>
              <a:t>🏕 전국 야영장(캠핑장) 상세 정보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5923" y="2623096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수집한 주요 데이터 필드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34137" y="2903041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2642146"/>
            <a:ext cx="133498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1075" y="3345954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데이터 출처: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공공데이터포털 (data.go.kr) 공식 수집 창구 일원화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641229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수집처 기관: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한국관광공사 '고캠핑(GoCamping)' 정식 Open API 승인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075" y="3936504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수집 규모: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전국 등록 야영장 약 </a:t>
            </a:r>
            <a:r>
              <a:rPr sz="1050" b="1" i="0" u="none">
                <a:solidFill>
                  <a:srgbClr val="E65F2C"/>
                </a:solidFill>
                <a:latin typeface="Noto Sans KR"/>
              </a:rPr>
              <a:t>3,800여 곳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의 실시간 데이터베이스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37" y="2642146"/>
            <a:ext cx="133498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4637" y="3036391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캠핑장 핵심 메타: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캠핑장명, 도로명 주소, 위도/경도 지도 매핑 데이터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4637" y="3331666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시설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형태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분석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일반야영장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글램핑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카라반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자동차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야영장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등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세부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업종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구분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24637" y="3626941"/>
            <a:ext cx="4776787" cy="1860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보유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인프라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정보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전기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온수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샤워실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화장실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완비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여부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환경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4637" y="3922216"/>
            <a:ext cx="4776787" cy="1860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영업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시설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규모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데크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파쇄석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카라반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사이트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총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공급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수량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24637" y="4217491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예약 연계 필드: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캠핑장 공식 대표사진 및 외부 직접 예약 사이트 이동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333642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3631704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392697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1762" y="3026866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1762" y="3322141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1762" y="3617416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1762" y="3912691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1762" y="4207966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4540448"/>
            <a:ext cx="11049000" cy="1043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2. 데이터 설계: 데이터 및 외부 연계 API 상세 출처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71500" y="1825823"/>
            <a:ext cx="11049000" cy="25717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203216"/>
              </p:ext>
            </p:extLst>
          </p:nvPr>
        </p:nvGraphicFramePr>
        <p:xfrm>
          <a:off x="571500" y="1825823"/>
          <a:ext cx="11039473" cy="2571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37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70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01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FFFFFF"/>
                          </a:solidFill>
                          <a:latin typeface="Noto Sans KR"/>
                        </a:rPr>
                        <a:t>연동 데이터 종류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3C2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FFFFFF"/>
                          </a:solidFill>
                          <a:latin typeface="Noto Sans KR"/>
                        </a:rPr>
                        <a:t>제공 기관 및 구체적 기술 출처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3C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u="none">
                          <a:solidFill>
                            <a:srgbClr val="FFFFFF"/>
                          </a:solidFill>
                          <a:latin typeface="Noto Sans KR"/>
                        </a:rPr>
                        <a:t>수신 형식 (수신방식)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3C2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FFFFFF"/>
                          </a:solidFill>
                          <a:latin typeface="Noto Sans KR"/>
                        </a:rPr>
                        <a:t>핵심 활용 방식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3C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2E3B32"/>
                          </a:solidFill>
                          <a:latin typeface="Noto Sans KR"/>
                        </a:rPr>
                        <a:t>🏕 캠핑장 전국 데이터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공공데이터포털 (data.go.kr) / 한국관광공사 '고캠핑' API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012" b="0" i="0" u="none" dirty="0">
                        <a:solidFill>
                          <a:srgbClr val="2E3B32"/>
                        </a:solidFill>
                        <a:latin typeface="Noto Sans K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전국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3,800개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캠핑장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기본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프로필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수집</a:t>
                      </a:r>
                      <a:endParaRPr sz="1012" b="0" i="0" u="none" dirty="0">
                        <a:solidFill>
                          <a:srgbClr val="2E3B32"/>
                        </a:solidFill>
                        <a:latin typeface="Noto Sans K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2E3B32"/>
                          </a:solidFill>
                          <a:latin typeface="Noto Sans KR"/>
                        </a:rPr>
                        <a:t>🚗 소요시간 및 최적 경로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네이버 클라우드 플랫폼 (Maps Directions API)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JSON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출발지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➔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경유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마트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➔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캠핑장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실시간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시간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계산</a:t>
                      </a:r>
                      <a:endParaRPr sz="1012" b="0" i="0" u="none" dirty="0">
                        <a:solidFill>
                          <a:srgbClr val="2E3B32"/>
                        </a:solidFill>
                        <a:latin typeface="Noto Sans K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2E3B32"/>
                          </a:solidFill>
                          <a:latin typeface="Noto Sans KR"/>
                        </a:rPr>
                        <a:t>🛒 중간 장보기 경유지 검색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카카오 디벨로퍼스 (Kakao Local Search API)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REST API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내 주변 대형마트 좌표 자동 추출 및 경로 이식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2E3B32"/>
                          </a:solidFill>
                          <a:latin typeface="Noto Sans KR"/>
                        </a:rPr>
                        <a:t>🌤 실시간 주말 날씨 정보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Open-Meteo Weather Forecast (무료 기상 정보 서비스)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Weather API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해당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캠핑장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위치의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금/토/일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예보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병합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표출</a:t>
                      </a:r>
                      <a:endParaRPr sz="1012" b="0" i="0" u="none" dirty="0">
                        <a:solidFill>
                          <a:srgbClr val="2E3B32"/>
                        </a:solidFill>
                        <a:latin typeface="Noto Sans K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76262" y="2640210"/>
            <a:ext cx="2428577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04839" y="2640210"/>
            <a:ext cx="386372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68566" y="2640210"/>
            <a:ext cx="1987004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855571" y="2640210"/>
            <a:ext cx="276016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76262" y="3221235"/>
            <a:ext cx="2428577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004839" y="3221235"/>
            <a:ext cx="386372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68566" y="3221235"/>
            <a:ext cx="1987004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855571" y="3221235"/>
            <a:ext cx="276016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6262" y="3802260"/>
            <a:ext cx="2428577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04839" y="3802260"/>
            <a:ext cx="386372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68566" y="3802260"/>
            <a:ext cx="1987004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855571" y="3802260"/>
            <a:ext cx="276016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6262" y="4383285"/>
            <a:ext cx="2428577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004839" y="4383285"/>
            <a:ext cx="386372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68566" y="4383285"/>
            <a:ext cx="1987004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855571" y="4383285"/>
            <a:ext cx="276016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3215" y="4683323"/>
            <a:ext cx="5061346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>
                <a:solidFill>
                  <a:srgbClr val="E65F2C"/>
                </a:solidFill>
                <a:latin typeface="Noto Sans KR ExtraBold"/>
              </a:rPr>
              <a:t>수집 특징 및 비용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625" y="4902398"/>
            <a:ext cx="5214937" cy="538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>
                <a:solidFill>
                  <a:srgbClr val="4A4230"/>
                </a:solidFill>
                <a:latin typeface="Noto Sans KR"/>
              </a:rPr>
              <a:t>네이버 클라우드는 API 신청 후 클라이언트 ID 및 Secret 발급을 통해 상호 유기적 암호화 전송을 유지하며, Open-Meteo는 별도 키가 필요 없는 완전 개방형 API로 트래픽 유연성을 부여했습니다.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8653" y="4683323"/>
            <a:ext cx="5061346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>
                <a:solidFill>
                  <a:srgbClr val="E65F2C"/>
                </a:solidFill>
                <a:latin typeface="Noto Sans KR ExtraBold"/>
              </a:rPr>
              <a:t>비용 리스크 사전 관리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5062" y="4902398"/>
            <a:ext cx="5214937" cy="344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제시된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모든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데이터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파이프라인은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100%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무료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lang="ko-KR" altLang="en-US" sz="975" b="1" dirty="0">
                <a:solidFill>
                  <a:srgbClr val="4A4230"/>
                </a:solidFill>
                <a:latin typeface="Noto Sans KR"/>
              </a:rPr>
              <a:t>한도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범위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내에서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완벽하게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구동할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수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있도록</a:t>
            </a:r>
            <a:r>
              <a:rPr lang="ko-KR" altLang="en-US" sz="975" b="0" i="0" u="none" dirty="0">
                <a:solidFill>
                  <a:srgbClr val="4A4230"/>
                </a:solidFill>
                <a:latin typeface="Noto Sans KR"/>
              </a:rPr>
              <a:t> 설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계되었</a:t>
            </a:r>
            <a:r>
              <a:rPr lang="ko-KR" altLang="en-US" sz="975" b="0" i="0" u="none" dirty="0">
                <a:solidFill>
                  <a:srgbClr val="4A4230"/>
                </a:solidFill>
                <a:latin typeface="Noto Sans KR"/>
              </a:rPr>
              <a:t>습니다</a:t>
            </a:r>
            <a:r>
              <a:rPr lang="en-US" altLang="ko-KR" sz="975" b="0" i="0" u="none" dirty="0">
                <a:solidFill>
                  <a:srgbClr val="4A4230"/>
                </a:solidFill>
                <a:latin typeface="Noto Sans KR"/>
              </a:rPr>
              <a:t>.</a:t>
            </a:r>
            <a:endParaRPr sz="975" b="0" i="0" u="none" dirty="0">
              <a:solidFill>
                <a:srgbClr val="4A4230"/>
              </a:solidFill>
              <a:latin typeface="Noto Sans KR"/>
            </a:endParaRP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205" y="2343447"/>
            <a:ext cx="1143000" cy="25717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205" y="2914947"/>
            <a:ext cx="1149613" cy="258663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5206" y="3426022"/>
            <a:ext cx="1142999" cy="257175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5205" y="3954659"/>
            <a:ext cx="1158283" cy="247651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625" y="4707135"/>
            <a:ext cx="96440" cy="12382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5062" y="4707135"/>
            <a:ext cx="96440" cy="123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5565576"/>
            <a:ext cx="11049000" cy="86379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71500" y="2038369"/>
            <a:ext cx="5405437" cy="22607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215062" y="2038369"/>
            <a:ext cx="5405437" cy="22607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2. 데이터 수집: 웹 크롤링 vs 공식 API 활용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3215" y="5708451"/>
            <a:ext cx="10466784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>
                <a:solidFill>
                  <a:srgbClr val="2E7D32"/>
                </a:solidFill>
                <a:latin typeface="Noto Sans KR ExtraBold"/>
              </a:rPr>
              <a:t>본 프로젝트의 선언 (100% API 활용 보장)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5927526"/>
            <a:ext cx="10620375" cy="3589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>
                <a:solidFill>
                  <a:srgbClr val="4A4230"/>
                </a:solidFill>
                <a:latin typeface="Noto Sans KR"/>
              </a:rPr>
              <a:t>본 캠핑나침반 프로젝트는 </a:t>
            </a:r>
            <a:r>
              <a:rPr sz="975" b="1" i="0" u="none">
                <a:solidFill>
                  <a:srgbClr val="4A4230"/>
                </a:solidFill>
                <a:latin typeface="Noto Sans KR"/>
              </a:rPr>
              <a:t>100% 검증된 API 통신</a:t>
            </a:r>
            <a:r>
              <a:rPr sz="975" b="0" i="0" u="none">
                <a:solidFill>
                  <a:srgbClr val="4A4230"/>
                </a:solidFill>
                <a:latin typeface="Noto Sans KR"/>
              </a:rPr>
              <a:t>만을 이용합니다. 공공데이터포털 정식 파이프라인을 구축하여 실시간 JSON 형식으로 캠핑장 정보를 수수하므로, 임시 웹페이지 HTML을 무단으로 긁어서 연동 오류를 뿜어내는 '크롤링'은 철저히 배제했습니다.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361" y="2257445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기존 방식: 일반적인 웹 크롤링 (Crawling)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575" y="2537390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5923" y="2257445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정석 설계: 공식 Open API 사용 (본 서비스 적용)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4137" y="2537390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5732264"/>
            <a:ext cx="96440" cy="1238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75" y="2276495"/>
            <a:ext cx="133498" cy="171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075" y="26707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작동 구조: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브라우저 상의 HTML 코드 원본을 통째 복사해와 특정 태그를 파싱해 원하는 필드 수동 추출 (requests + BeautifulSoup 활용)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1075" y="31660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구조적 결함: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대상 사이트의 화면 디자인 레이아웃이나 태그 이름이 아주 미세하게 바뀌기만 해도 데이터를 전혀 파싱하지 못해 크래시 발생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075" y="36613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법적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/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운영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위험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일시적으로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수많은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트래픽을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단숨에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끌어올려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차단을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당하거나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사이트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소유자로부터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차단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(IP Block) 등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법적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제재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우려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37" y="2276495"/>
            <a:ext cx="133498" cy="1714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24637" y="26707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0C3C20"/>
                </a:solidFill>
                <a:latin typeface="Noto Sans KR"/>
              </a:rPr>
              <a:t>작동</a:t>
            </a:r>
            <a:r>
              <a:rPr sz="1050" b="1" i="0" u="none" dirty="0">
                <a:solidFill>
                  <a:srgbClr val="0C3C20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0C3C20"/>
                </a:solidFill>
                <a:latin typeface="Noto Sans KR"/>
              </a:rPr>
              <a:t>구조</a:t>
            </a:r>
            <a:r>
              <a:rPr sz="1050" b="1" i="0" u="none" dirty="0">
                <a:solidFill>
                  <a:srgbClr val="0C3C20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데이터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제공자가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외부에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정식으로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약속해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열어둔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표준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데이터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창구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(API)로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전송받아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깔끔하게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검수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완료된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JSON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형태를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즉시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매핑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24637" y="31660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0C3C20"/>
                </a:solidFill>
                <a:latin typeface="Noto Sans KR"/>
              </a:rPr>
              <a:t>압도적인 안정성: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웹사이트 프론트엔드 디자인이 어떻게 전면 리뉴얼되더라도 뒤에서 받는 데이터 형태와 핵심 규격은 변함없어 마비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4637" y="36613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0C3C20"/>
                </a:solidFill>
                <a:latin typeface="Noto Sans KR"/>
              </a:rPr>
              <a:t>합법성과</a:t>
            </a:r>
            <a:r>
              <a:rPr sz="1050" b="1" i="0" u="none" dirty="0">
                <a:solidFill>
                  <a:srgbClr val="0C3C20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0C3C20"/>
                </a:solidFill>
                <a:latin typeface="Noto Sans KR"/>
              </a:rPr>
              <a:t>영속성</a:t>
            </a:r>
            <a:r>
              <a:rPr sz="1050" b="1" i="0" u="none" dirty="0">
                <a:solidFill>
                  <a:srgbClr val="0C3C20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국가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공인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데이터를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인가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하에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수수하므로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가이드라인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준수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시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평생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완벽하고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합법적인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배포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가능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8200" y="26612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31565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6518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1762" y="26612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1762" y="31565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1762" y="36518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215730"/>
            <a:ext cx="2735609" cy="9715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0709" y="2215730"/>
            <a:ext cx="4103340" cy="9715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7798" y="2215730"/>
            <a:ext cx="3282701" cy="97155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71500" y="3377780"/>
            <a:ext cx="5405437" cy="16797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215062" y="3377780"/>
            <a:ext cx="5405437" cy="16797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3. 시스템 구성: 데이터와 서버가 유기적으로 도는 구조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3133" y="2396705"/>
            <a:ext cx="2492342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C3C20"/>
                </a:solidFill>
                <a:latin typeface="Noto Sans KR"/>
              </a:rPr>
              <a:t>사용자</a:t>
            </a:r>
            <a:r>
              <a:t>
</a:t>
            </a:r>
            <a:r>
              <a:rPr sz="1125" b="1" i="0" u="none">
                <a:solidFill>
                  <a:srgbClr val="0C3C20"/>
                </a:solidFill>
                <a:latin typeface="Noto Sans KR"/>
              </a:rPr>
              <a:t> (웹 브라우저)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475" y="2834855"/>
            <a:ext cx="2373659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900" b="0" i="0" u="none">
                <a:solidFill>
                  <a:srgbClr val="55665A"/>
                </a:solidFill>
                <a:latin typeface="Noto Sans KR"/>
              </a:rPr>
              <a:t>PC, 스마트폰 화면에서 입력 조건 필터링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984" y="2587205"/>
            <a:ext cx="177849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68150" y="2406230"/>
            <a:ext cx="390845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C3C20"/>
                </a:solidFill>
                <a:latin typeface="Noto Sans KR"/>
              </a:rPr>
              <a:t>Flask 웹 서버</a:t>
            </a:r>
            <a:r>
              <a:t>
</a:t>
            </a:r>
            <a:r>
              <a:rPr sz="1125" b="1" i="0" u="none">
                <a:solidFill>
                  <a:srgbClr val="0C3C20"/>
                </a:solidFill>
                <a:latin typeface="Noto Sans KR"/>
              </a:rPr>
              <a:t> (app.py)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1209" y="2825330"/>
            <a:ext cx="372234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900" b="0" i="0" u="none">
                <a:solidFill>
                  <a:srgbClr val="55665A"/>
                </a:solidFill>
                <a:latin typeface="Noto Sans KR"/>
              </a:rPr>
              <a:t>검색 처리 및 매시업 중앙 통제 중추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6924" y="2587205"/>
            <a:ext cx="177849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45754" y="2396705"/>
            <a:ext cx="3066789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C3C20"/>
                </a:solidFill>
                <a:latin typeface="Noto Sans KR"/>
              </a:rPr>
              <a:t>공공데이터포털</a:t>
            </a:r>
            <a:r>
              <a:t>
</a:t>
            </a:r>
            <a:r>
              <a:rPr sz="1125" b="1" i="0" u="none">
                <a:solidFill>
                  <a:srgbClr val="0C3C20"/>
                </a:solidFill>
                <a:latin typeface="Noto Sans KR"/>
              </a:rPr>
              <a:t> (고캠핑 Open API)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8773" y="2834855"/>
            <a:ext cx="2920751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900" b="0" i="0" u="none">
                <a:solidFill>
                  <a:srgbClr val="55665A"/>
                </a:solidFill>
                <a:latin typeface="Noto Sans KR"/>
              </a:rPr>
              <a:t>전국 캠핑장 표준 데이터 소스 제공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361" y="3596855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외부 부가 연동 생태계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575" y="3876800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5923" y="3596855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사용 기술 및 환경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34137" y="3876800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575" y="3615905"/>
            <a:ext cx="133498" cy="1714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1075" y="4010150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날씨 동적 예보: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Open-Meteo API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075" y="4305425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소요시간/거리 추적: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네이버 지도 길찾기 API 연동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075" y="4600700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클라우드 프로덕션 배포: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Render + gunicorn 웹 서버 탑재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4137" y="3615905"/>
            <a:ext cx="133498" cy="1714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24637" y="4010150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Back-end &amp; Engine: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Python, Flask, requests, gunicorn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4637" y="4305425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Front-end UI: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Jinja2 HTML Template, CSS3, JavaScript (AJAX)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4637" y="4600700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Hosting Service: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Render Cloud Platform 배포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400062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4295900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459117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1762" y="400062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1762" y="4295900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1762" y="459117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4038599"/>
            <a:ext cx="11049000" cy="86379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00312"/>
            <a:ext cx="2735609" cy="11096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709" y="2500312"/>
            <a:ext cx="4103340" cy="110966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7798" y="2500312"/>
            <a:ext cx="3282701" cy="1109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3. 시스템 구성: 검색 한 번에 구동되는 실시간 3단계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3215" y="4192178"/>
            <a:ext cx="10466784" cy="1500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[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핵심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동작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비화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]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전국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데이터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메모리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탑재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캐시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기법</a:t>
            </a:r>
            <a:endParaRPr sz="975" b="0" i="0" u="none" dirty="0">
              <a:solidFill>
                <a:srgbClr val="0C3C20"/>
              </a:solidFill>
              <a:latin typeface="Noto Sans KR Extra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9625" y="4400549"/>
            <a:ext cx="10620375" cy="3589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>
                <a:solidFill>
                  <a:srgbClr val="4A4230"/>
                </a:solidFill>
                <a:latin typeface="Noto Sans KR"/>
              </a:rPr>
              <a:t>고캠핑 Open API 서버는 데이터를 일괄 전송하지 않고 100개씩 '페이지'로만 끊어줍니다. 사용자가 매 검색 시마다 공공포털 서버에서 무겁게 페이징 호출을 하게 되면 엄청난 딜레이가 발생하므로, </a:t>
            </a:r>
            <a:r>
              <a:rPr sz="975" b="1" i="0" u="none">
                <a:solidFill>
                  <a:srgbClr val="4A4230"/>
                </a:solidFill>
                <a:latin typeface="Noto Sans KR"/>
              </a:rPr>
              <a:t>서버 부팅 시 처음에 무한 루프를 통해 끝까지 받아와 메모리에 저장(캐싱)</a:t>
            </a:r>
            <a:r>
              <a:rPr sz="975" b="0" i="0" u="none">
                <a:solidFill>
                  <a:srgbClr val="4A4230"/>
                </a:solidFill>
                <a:latin typeface="Noto Sans KR"/>
              </a:rPr>
              <a:t>해 두는 전처리 알고리즘을 장착해 검색 대기 시간을 줄였습니다.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33" y="2709862"/>
            <a:ext cx="2492342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E65F2C"/>
                </a:solidFill>
                <a:latin typeface="Noto Sans KR"/>
              </a:rPr>
              <a:t>1. 입력 조건 파악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475" y="3043237"/>
            <a:ext cx="2373659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시도, 시군구 지역 선택</a:t>
            </a:r>
            <a:r>
              <a:t>
</a:t>
            </a:r>
            <a:r>
              <a:rPr sz="1012" b="0" i="0" u="none">
                <a:solidFill>
                  <a:srgbClr val="55665A"/>
                </a:solidFill>
                <a:latin typeface="Noto Sans KR"/>
              </a:rPr>
              <a:t> '글램핑', '온수' 복수 키워드 제출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9984" y="2940843"/>
            <a:ext cx="177849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58149" y="2709862"/>
            <a:ext cx="3928459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C3C20"/>
                </a:solidFill>
                <a:latin typeface="Noto Sans KR"/>
              </a:rPr>
              <a:t>2. 서버사이드 추려내기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1684" y="3043237"/>
            <a:ext cx="3741390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전체 로드된 메모리 데이터 중</a:t>
            </a:r>
            <a:r>
              <a:t>
</a:t>
            </a:r>
            <a:r>
              <a:rPr sz="1012" b="0" i="0" u="none">
                <a:solidFill>
                  <a:srgbClr val="55665A"/>
                </a:solidFill>
                <a:latin typeface="Noto Sans KR"/>
              </a:rPr>
              <a:t> 조건 일치 캠핑장 필터링 완료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6924" y="2940843"/>
            <a:ext cx="177849" cy="228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45754" y="2709862"/>
            <a:ext cx="3066789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C3C20"/>
                </a:solidFill>
                <a:latin typeface="Noto Sans KR"/>
              </a:rPr>
              <a:t>3. 화면 다이내믹 표시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8773" y="3043237"/>
            <a:ext cx="2920751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사진, 날씨, 경유 소요 시간</a:t>
            </a:r>
            <a:r>
              <a:t>
</a:t>
            </a:r>
            <a:r>
              <a:rPr sz="1012" b="0" i="0" u="none">
                <a:solidFill>
                  <a:srgbClr val="55665A"/>
                </a:solidFill>
                <a:latin typeface="Noto Sans KR"/>
              </a:rPr>
              <a:t> 비동기 병합 카드로 화면 표시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625" y="4205287"/>
            <a:ext cx="96440" cy="1238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405437" cy="285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7775"/>
            <a:ext cx="5405437" cy="5181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5062" y="962025"/>
            <a:ext cx="5405437" cy="152206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626965"/>
            <a:ext cx="5405437" cy="12529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핵심 코드 ①: 데이터 일괄 프리패치 및 메모리 캐시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51991" y="1162050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0C3C20"/>
                </a:solidFill>
                <a:latin typeface="Noto Sans KR"/>
              </a:rPr>
              <a:t>쉽게 말하면 어떻게 작동하나요?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087" y="1436340"/>
            <a:ext cx="5005387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공공데이터포털 API는 데이터를 한꺼번에 통째로 넘겨주지 않고, 번거롭게 책장을 넘기듯 여러 '페이지'로 나누어 반환합니다.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5087" y="1898302"/>
            <a:ext cx="5005387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이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코드는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반복문을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통해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첫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페이지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1부터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끝까지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수집하여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서버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컴퓨터의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활성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메모리에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일괄로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차곡차곡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모아놓는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역할을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합니다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1991" y="2826990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핵심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087" y="3101280"/>
            <a:ext cx="5005387" cy="578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1" i="0" u="none">
                <a:solidFill>
                  <a:srgbClr val="4A4230"/>
                </a:solidFill>
                <a:latin typeface="Noto Sans KR"/>
              </a:rPr>
              <a:t>최초 한 번만 원거리 공공서버에서 데이터를 모두 가져온 뒤 메모리에 저장합니다. 이후 사용자가 검색할 때는 먼 네트워크를 우회하여 0.05초 내로 검색 결과를 즉각 받아볼 수 있습니다.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5087" y="1181100"/>
            <a:ext cx="118616" cy="1524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087" y="2846040"/>
            <a:ext cx="118616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449788" cy="285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7775"/>
            <a:ext cx="5449788" cy="5181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9413" y="962025"/>
            <a:ext cx="5361086" cy="12625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9413" y="2367408"/>
            <a:ext cx="5361086" cy="12529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핵심 코드 ②: 영어 명칭 번역 사전 및 공백 무시 검색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96342" y="1162050"/>
            <a:ext cx="5209088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0C3C20"/>
                </a:solidFill>
                <a:latin typeface="Noto Sans KR"/>
              </a:rPr>
              <a:t>쉽게 말하면 어떻게 작동하나요?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38" y="1436340"/>
            <a:ext cx="4961036" cy="588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공공 API가 제공하는 원형 파일 속 영어 이름 필드(facltNm 등)들을 개발자와 일반인이 쉽게 알아볼 수 있도록 직관적인 한글로 매핑하는 변환 매퍼(FIELD_MAP)를 구현했습니다.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6342" y="2567433"/>
            <a:ext cx="5209088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핵심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9438" y="2841724"/>
            <a:ext cx="4961036" cy="578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1" i="0" u="none">
                <a:solidFill>
                  <a:srgbClr val="4A4230"/>
                </a:solidFill>
                <a:latin typeface="Noto Sans KR"/>
              </a:rPr>
              <a:t>사용자가 '금호강오토캠핑장'을 '금호강 오토 캠핑장'처럼 무심코 띄어쓰기를 다르게 입력하여 검색이 먹통이 되는 문제를 원천 방어하고자 공백을 미리 양방향 삭제 전처리하고 일치 판별을 내립니다.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9438" y="1181100"/>
            <a:ext cx="118616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9438" y="2586483"/>
            <a:ext cx="118616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405437" cy="285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7775"/>
            <a:ext cx="5405437" cy="5181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5062" y="962025"/>
            <a:ext cx="5405437" cy="106962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174527"/>
            <a:ext cx="5405437" cy="1856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핵심 코드 ③: Flask 라우트와 동적 데이터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51991" y="1162050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0C3C20"/>
                </a:solidFill>
                <a:latin typeface="Noto Sans KR"/>
              </a:rPr>
              <a:t>쉽게 말하면 어떻게 작동하나요?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087" y="1436340"/>
            <a:ext cx="5005387" cy="559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@app.route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구문은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사용자가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주소창에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도메인을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치고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웹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브라우저로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접근했을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때,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서버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내부의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어떤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기능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함수가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마중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나가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응대할지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연결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지어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주는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관문입니다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.</a:t>
            </a:r>
            <a:endParaRPr lang="en-US" sz="1012" b="0" i="0" u="none" dirty="0">
              <a:solidFill>
                <a:srgbClr val="55665A"/>
              </a:solidFill>
              <a:latin typeface="Noto Sans KR"/>
            </a:endParaRPr>
          </a:p>
          <a:p>
            <a:pPr algn="l">
              <a:lnSpc>
                <a:spcPts val="1518"/>
              </a:lnSpc>
            </a:pPr>
            <a:endParaRPr sz="1012" b="0" i="0" u="none" dirty="0">
              <a:solidFill>
                <a:srgbClr val="55665A"/>
              </a:solidFill>
              <a:latin typeface="Noto Sans K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51991" y="2374552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핵심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087" y="2648842"/>
            <a:ext cx="5005387" cy="11370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'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사용자의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접근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요청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수수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➔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맞춤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데이터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추출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및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가공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➔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디자인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HTML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화면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반환'의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견고한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웹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프로덕션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표준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패턴을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정직하게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수수하여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뛰어난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호환성을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보장합니다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.</a:t>
            </a:r>
            <a:endParaRPr lang="en-US" sz="1012" b="1" i="0" u="none" dirty="0">
              <a:solidFill>
                <a:srgbClr val="4A4230"/>
              </a:solidFill>
              <a:latin typeface="Noto Sans KR"/>
            </a:endParaRPr>
          </a:p>
          <a:p>
            <a:pPr algn="l">
              <a:lnSpc>
                <a:spcPts val="1518"/>
              </a:lnSpc>
            </a:pPr>
            <a:endParaRPr lang="en-US" sz="1012" b="1" dirty="0">
              <a:solidFill>
                <a:srgbClr val="4A4230"/>
              </a:solidFill>
              <a:latin typeface="Noto Sans KR"/>
            </a:endParaRPr>
          </a:p>
          <a:p>
            <a:pPr algn="l">
              <a:lnSpc>
                <a:spcPts val="1518"/>
              </a:lnSpc>
            </a:pPr>
            <a:r>
              <a:rPr lang="en-US" sz="1012" b="1" dirty="0">
                <a:solidFill>
                  <a:srgbClr val="4A4230"/>
                </a:solidFill>
                <a:latin typeface="Noto Sans KR"/>
              </a:rPr>
              <a:t>Ex) 1. </a:t>
            </a:r>
            <a:r>
              <a:rPr lang="ko-KR" altLang="en-US" sz="1012" b="1" dirty="0">
                <a:solidFill>
                  <a:srgbClr val="4A4230"/>
                </a:solidFill>
                <a:latin typeface="Noto Sans KR"/>
              </a:rPr>
              <a:t>사용자가 입력한 검색조건을 주소에서 꺼냄</a:t>
            </a:r>
            <a:endParaRPr lang="en-US" altLang="ko-KR" sz="1012" b="1" dirty="0">
              <a:solidFill>
                <a:srgbClr val="4A4230"/>
              </a:solidFill>
              <a:latin typeface="Noto Sans KR"/>
            </a:endParaRPr>
          </a:p>
          <a:p>
            <a:pPr algn="l">
              <a:lnSpc>
                <a:spcPts val="1518"/>
              </a:lnSpc>
            </a:pPr>
            <a:r>
              <a:rPr lang="en-US" sz="1012" b="1" i="0" u="none" dirty="0">
                <a:solidFill>
                  <a:srgbClr val="4A4230"/>
                </a:solidFill>
                <a:latin typeface="Noto Sans KR"/>
              </a:rPr>
              <a:t>        2. </a:t>
            </a:r>
            <a:r>
              <a:rPr lang="ko-KR" altLang="en-US" sz="1012" b="1" i="0" u="none" dirty="0">
                <a:solidFill>
                  <a:srgbClr val="4A4230"/>
                </a:solidFill>
                <a:latin typeface="Noto Sans KR"/>
              </a:rPr>
              <a:t>그 조건으로 데이터를 가져옴</a:t>
            </a:r>
            <a:r>
              <a:rPr lang="en-US" altLang="ko-KR" sz="1012" b="1" i="0" u="none" dirty="0">
                <a:solidFill>
                  <a:srgbClr val="4A4230"/>
                </a:solidFill>
                <a:latin typeface="Noto Sans KR"/>
              </a:rPr>
              <a:t>.</a:t>
            </a:r>
          </a:p>
          <a:p>
            <a:pPr algn="l">
              <a:lnSpc>
                <a:spcPts val="1518"/>
              </a:lnSpc>
            </a:pPr>
            <a:r>
              <a:rPr lang="en-US" sz="1012" b="1" dirty="0">
                <a:solidFill>
                  <a:srgbClr val="4A4230"/>
                </a:solidFill>
                <a:latin typeface="Noto Sans KR"/>
              </a:rPr>
              <a:t>        3. </a:t>
            </a:r>
            <a:r>
              <a:rPr lang="ko-KR" altLang="en-US" sz="1012" b="1" dirty="0" err="1">
                <a:solidFill>
                  <a:srgbClr val="4A4230"/>
                </a:solidFill>
                <a:latin typeface="Noto Sans KR"/>
              </a:rPr>
              <a:t>만든데이터를</a:t>
            </a:r>
            <a:r>
              <a:rPr lang="ko-KR" altLang="en-US" sz="1012" b="1" dirty="0">
                <a:solidFill>
                  <a:srgbClr val="4A4230"/>
                </a:solidFill>
                <a:latin typeface="Noto Sans KR"/>
              </a:rPr>
              <a:t> </a:t>
            </a:r>
            <a:r>
              <a:rPr lang="en-US" altLang="ko-KR" sz="1012" b="1" dirty="0">
                <a:solidFill>
                  <a:srgbClr val="4A4230"/>
                </a:solidFill>
                <a:latin typeface="Noto Sans KR"/>
              </a:rPr>
              <a:t>HTML</a:t>
            </a:r>
            <a:r>
              <a:rPr lang="ko-KR" altLang="en-US" sz="1012" b="1" dirty="0">
                <a:solidFill>
                  <a:srgbClr val="4A4230"/>
                </a:solidFill>
                <a:latin typeface="Noto Sans KR"/>
              </a:rPr>
              <a:t>로 넘겨줌 </a:t>
            </a:r>
            <a:endParaRPr sz="1012" b="1" i="0" u="none" dirty="0">
              <a:solidFill>
                <a:srgbClr val="4A4230"/>
              </a:solidFill>
              <a:latin typeface="Noto Sans KR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5087" y="1181100"/>
            <a:ext cx="118616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087" y="2393602"/>
            <a:ext cx="118616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405437" cy="285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7775"/>
            <a:ext cx="5405437" cy="5181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5062" y="962025"/>
            <a:ext cx="5405437" cy="125298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357883"/>
            <a:ext cx="5405437" cy="10601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핵심 코드 ④: 외부 API 연동 - 소요 시간 및 경유 마트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51991" y="1162050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0C3C20"/>
                </a:solidFill>
                <a:latin typeface="Noto Sans KR"/>
              </a:rPr>
              <a:t>쉽게 말하면 어떻게 작동하나요?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087" y="1436340"/>
            <a:ext cx="5005387" cy="578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사용자 GPS 기반 출발지 주소와 카카오 디벨로퍼스로 탐색한 인근 대형마트 위치 좌표를 취합해, 네이버 길찾기 시스템(Directions)에 전달하여 실재 이동 소요시간을 획득합니다.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1991" y="2557908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핵심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087" y="2832199"/>
            <a:ext cx="5005387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1" i="0" u="none">
                <a:solidFill>
                  <a:srgbClr val="4A4230"/>
                </a:solidFill>
                <a:latin typeface="Noto Sans KR"/>
              </a:rPr>
              <a:t>네이버(경로 시간)와 카카오(주변 검색)라는 거대 플랫폼의 이종 API를 유기적으로 조합하여, 화면 깜빡임이 없는 AJAX 통신 기반으로 실시간 최적 동선을 그려냅니다.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5087" y="1181100"/>
            <a:ext cx="118616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087" y="2576958"/>
            <a:ext cx="118616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405437" cy="285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7775"/>
            <a:ext cx="5405437" cy="5181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5062" y="962025"/>
            <a:ext cx="5405437" cy="127873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383631"/>
            <a:ext cx="5405437" cy="8846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핵심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코드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⑤ &amp; ⑥: 웹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서버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실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배포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및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반응형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CSS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6923" y="1114425"/>
            <a:ext cx="5355669" cy="185737"/>
          </a:xfrm>
          <a:prstGeom prst="rect">
            <a:avLst/>
          </a:prstGeom>
          <a:noFill/>
        </p:spPr>
        <p:txBody>
          <a:bodyPr wrap="square" lIns="111174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 u="none">
                <a:solidFill>
                  <a:srgbClr val="0C3C20"/>
                </a:solidFill>
                <a:latin typeface="Noto Sans KR"/>
              </a:rPr>
              <a:t>쉬운 설명 (배포 및 모바일)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7462" y="1347787"/>
            <a:ext cx="5100637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1" i="0" u="none">
                <a:solidFill>
                  <a:srgbClr val="55665A"/>
                </a:solidFill>
                <a:latin typeface="Noto Sans KR"/>
              </a:rPr>
              <a:t>배포:</a:t>
            </a:r>
            <a:r>
              <a:rPr sz="975" b="0" i="0" u="none">
                <a:solidFill>
                  <a:srgbClr val="55665A"/>
                </a:solidFill>
                <a:latin typeface="Noto Sans KR"/>
              </a:rPr>
              <a:t> 개인 PC 내부가 아닌, 누구나 스마트폰 주소창으로 들어올 수 있게 클라우드 플랫폼인 Render와 가속용 엔진 Gunicorn으로 구동시켰습니다.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7462" y="1741884"/>
            <a:ext cx="5100637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1" i="0" u="none">
                <a:solidFill>
                  <a:srgbClr val="55665A"/>
                </a:solidFill>
                <a:latin typeface="Noto Sans KR"/>
              </a:rPr>
              <a:t>모바일:</a:t>
            </a:r>
            <a:r>
              <a:rPr sz="975" b="0" i="0" u="none">
                <a:solidFill>
                  <a:srgbClr val="55665A"/>
                </a:solidFill>
                <a:latin typeface="Noto Sans KR"/>
              </a:rPr>
              <a:t> 화면 가로 폭이 680px 이하인 작은 휴대폰으로 보면 복잡했던 카드 모양 가로 레이아웃이 상하 세로로 자동 줄 바꿈 정렬되는 미디어쿼리 디자인을 전 기종 탑재했습니다.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6923" y="2536031"/>
            <a:ext cx="5355669" cy="185737"/>
          </a:xfrm>
          <a:prstGeom prst="rect">
            <a:avLst/>
          </a:prstGeom>
          <a:noFill/>
        </p:spPr>
        <p:txBody>
          <a:bodyPr wrap="square" lIns="111174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 u="none">
                <a:solidFill>
                  <a:srgbClr val="E65F2C"/>
                </a:solidFill>
                <a:latin typeface="Noto Sans KR"/>
              </a:rPr>
              <a:t>핵심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7462" y="2769393"/>
            <a:ext cx="5100637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1" i="0" u="none">
                <a:solidFill>
                  <a:srgbClr val="4A4230"/>
                </a:solidFill>
                <a:latin typeface="Noto Sans KR"/>
              </a:rPr>
              <a:t>최초 실행 시 전국 데이터를 모으는 과정에서 30초 한계를 돌파하여 멈추는 에러를 극복하기 위해 타임아웃 세팅을 120초로 대폭 늘려 안정적 가동을 구현했습니다.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7462" y="1143000"/>
            <a:ext cx="111174" cy="1428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7462" y="2564606"/>
            <a:ext cx="111174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896719" cy="54673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438275"/>
            <a:ext cx="5591919" cy="3333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866900"/>
            <a:ext cx="5591919" cy="876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4. 구현 화면: 메인 홈, 검색 및 CSV 추출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6248" y="1114425"/>
            <a:ext cx="489957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 u="none">
                <a:solidFill>
                  <a:srgbClr val="0C3C20"/>
                </a:solidFill>
                <a:latin typeface="Noto Sans KR"/>
              </a:rPr>
              <a:t> 캠핑나침반 </a:t>
            </a:r>
            <a:r>
              <a:rPr sz="900" b="1" i="0" u="none">
                <a:solidFill>
                  <a:srgbClr val="999999"/>
                </a:solidFill>
                <a:latin typeface="Noto Sans KR"/>
              </a:rPr>
              <a:t>camping-scrapper.onrender.com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1333500"/>
            <a:ext cx="5591919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129" y="2884140"/>
            <a:ext cx="5159707" cy="222795"/>
          </a:xfrm>
          <a:prstGeom prst="rect">
            <a:avLst/>
          </a:prstGeom>
          <a:noFill/>
        </p:spPr>
        <p:txBody>
          <a:bodyPr wrap="square" lIns="1334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유기적 뷰 매핑 구성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675" y="1971675"/>
            <a:ext cx="666750" cy="6667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6344" y="2903190"/>
            <a:ext cx="133498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96844" y="3221235"/>
            <a:ext cx="472350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● 메인 화면: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시각적으로 뛰어난 자연 배너 검색창과 원클릭 마트 동선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6844" y="3516510"/>
            <a:ext cx="472350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● 검색 결과 목록: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실제 캠핑지 전경 사진, 기상청 주말 요약 기상 정보, 편의 아이콘 일괄 노출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844" y="4011810"/>
            <a:ext cx="472350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● CSV(엑셀) 다운로드: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현 캠핑 데이터 목록을 로컬 하드디스크에 액셀 파일 형태로 저장 가능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133475"/>
            <a:ext cx="88999" cy="1143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667" y="2228850"/>
            <a:ext cx="118616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90675" y="2005012"/>
            <a:ext cx="1910506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0C3C20"/>
                </a:solidFill>
                <a:latin typeface="Noto Sans KR"/>
              </a:rPr>
              <a:t>⛺ </a:t>
            </a:r>
            <a:r>
              <a:rPr sz="900" b="1" i="0" u="none" dirty="0" err="1">
                <a:solidFill>
                  <a:srgbClr val="0C3C20"/>
                </a:solidFill>
                <a:latin typeface="Noto Sans KR"/>
              </a:rPr>
              <a:t>별빛솔밭</a:t>
            </a:r>
            <a:r>
              <a:rPr sz="900" b="1" i="0" u="none" dirty="0">
                <a:solidFill>
                  <a:srgbClr val="0C3C20"/>
                </a:solidFill>
                <a:latin typeface="Noto Sans KR"/>
              </a:rPr>
              <a:t> </a:t>
            </a:r>
            <a:r>
              <a:rPr sz="900" b="1" i="0" u="none" dirty="0" err="1">
                <a:solidFill>
                  <a:srgbClr val="0C3C20"/>
                </a:solidFill>
                <a:latin typeface="Noto Sans KR"/>
              </a:rPr>
              <a:t>오토캠핑장</a:t>
            </a:r>
            <a:r>
              <a:rPr sz="900" b="1" i="0" u="none" dirty="0">
                <a:solidFill>
                  <a:srgbClr val="0C3C20"/>
                </a:solidFill>
                <a:latin typeface="Noto Sans KR"/>
              </a:rPr>
              <a:t> (</a:t>
            </a:r>
            <a:r>
              <a:rPr sz="900" b="1" i="0" u="none" dirty="0" err="1">
                <a:solidFill>
                  <a:srgbClr val="0C3C20"/>
                </a:solidFill>
                <a:latin typeface="Noto Sans KR"/>
              </a:rPr>
              <a:t>강원</a:t>
            </a:r>
            <a:r>
              <a:rPr sz="900" b="1" i="0" u="none" dirty="0">
                <a:solidFill>
                  <a:srgbClr val="0C3C20"/>
                </a:solidFill>
                <a:latin typeface="Noto Sans KR"/>
              </a:rPr>
              <a:t> </a:t>
            </a:r>
            <a:r>
              <a:rPr sz="900" b="1" i="0" u="none" dirty="0" err="1">
                <a:solidFill>
                  <a:srgbClr val="0C3C20"/>
                </a:solidFill>
                <a:latin typeface="Noto Sans KR"/>
              </a:rPr>
              <a:t>원주</a:t>
            </a:r>
            <a:r>
              <a:rPr sz="900" b="1" i="0" u="none" dirty="0">
                <a:solidFill>
                  <a:srgbClr val="0C3C20"/>
                </a:solidFill>
                <a:latin typeface="Noto Sans KR"/>
              </a:rPr>
              <a:t>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3079" y="2205037"/>
            <a:ext cx="1910506" cy="133350"/>
          </a:xfrm>
          <a:prstGeom prst="rect">
            <a:avLst/>
          </a:prstGeom>
          <a:noFill/>
        </p:spPr>
        <p:txBody>
          <a:bodyPr wrap="square" lIns="74116" tIns="0" rIns="0" bIns="0" anchor="t">
            <a:spAutoFit/>
          </a:bodyPr>
          <a:lstStyle/>
          <a:p>
            <a:pPr algn="l"/>
            <a:r>
              <a:rPr sz="750" b="0" i="0" u="none">
                <a:solidFill>
                  <a:srgbClr val="55665A"/>
                </a:solidFill>
                <a:latin typeface="Noto Sans KR"/>
              </a:rPr>
              <a:t>내 출발지 ➔ 마트 ➔ 캠핑장 (약 52분 소요)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3969" y="3211710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53969" y="350698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3969" y="400228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90675" y="2224087"/>
            <a:ext cx="74116" cy="952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90675" y="2414587"/>
            <a:ext cx="333375" cy="1905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62150" y="2414587"/>
            <a:ext cx="366861" cy="1905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67111" y="2414587"/>
            <a:ext cx="571648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4261312"/>
            <a:ext cx="11049000" cy="86379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58222"/>
            <a:ext cx="5896719" cy="196021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344" y="2158222"/>
            <a:ext cx="4914007" cy="19602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5. 핵심 트러블슈팅: 날씨 API '한도 초과' 에러 분석 및 해결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3215" y="4404187"/>
            <a:ext cx="10466784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>
                <a:solidFill>
                  <a:srgbClr val="E65F2C"/>
                </a:solidFill>
                <a:latin typeface="Noto Sans KR ExtraBold"/>
              </a:rPr>
              <a:t>핵심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4623262"/>
            <a:ext cx="10620375" cy="3589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1" i="0" u="none">
                <a:solidFill>
                  <a:srgbClr val="4A4230"/>
                </a:solidFill>
                <a:latin typeface="Noto Sans KR"/>
              </a:rPr>
              <a:t>'덜 자주 호출하고, 대표 좌표로 간소화하며, 이미 가져온 정보는 3시간 동안 돌려쓴다!'</a:t>
            </a:r>
            <a:r>
              <a:rPr sz="975" b="0" i="0" u="none">
                <a:solidFill>
                  <a:srgbClr val="4A4230"/>
                </a:solidFill>
                <a:latin typeface="Noto Sans KR"/>
              </a:rPr>
              <a:t>는 자원 절약 사상을 이식하여 기상 호출 트래픽량을 </a:t>
            </a:r>
            <a:r>
              <a:rPr sz="975" b="1" i="0" u="none">
                <a:solidFill>
                  <a:srgbClr val="E65F2C"/>
                </a:solidFill>
                <a:latin typeface="Noto Sans KR"/>
              </a:rPr>
              <a:t>95% 이상 획기적으로 낮춰</a:t>
            </a:r>
            <a:r>
              <a:rPr sz="975" b="0" i="0" u="none">
                <a:solidFill>
                  <a:srgbClr val="4A4230"/>
                </a:solidFill>
                <a:latin typeface="Noto Sans KR"/>
              </a:rPr>
              <a:t> 에러 리스크를 원천 진압했습니다.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528" y="2358247"/>
            <a:ext cx="5731497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C62828"/>
                </a:solidFill>
                <a:latin typeface="Noto Sans KR"/>
              </a:rPr>
              <a:t>왜 생겼는가 (원인 파악)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625" y="2632537"/>
            <a:ext cx="5458569" cy="1928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5D2525"/>
                </a:solidFill>
                <a:latin typeface="Noto Sans KR"/>
              </a:rPr>
              <a:t>무료 기상 오픈 소스(Open-Meteo)는 하루 요청 횟수 한도가 철저히 제한되어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2901618"/>
            <a:ext cx="5458569" cy="5976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5D2525"/>
                </a:solidFill>
                <a:latin typeface="Noto Sans KR"/>
              </a:rPr>
              <a:t>최초 개발 시에는 검색할 때마다 수십여 곳 캠핑장의 주소를 하나하나 기상청 서버로 매번 새로 동기 호출해 요청량이 폭주했고 결국 일시 차단되는 현상 발생 "Daily request limit exceeded"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1373" y="2358247"/>
            <a:ext cx="4699649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2E7D32"/>
                </a:solidFill>
                <a:latin typeface="Noto Sans KR"/>
              </a:rPr>
              <a:t>어떻게 극복했는가 (해결 완료)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" y="4427999"/>
            <a:ext cx="96440" cy="1238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" y="2377297"/>
            <a:ext cx="118616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4469" y="2377297"/>
            <a:ext cx="118616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34969" y="2632537"/>
            <a:ext cx="4285357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1" i="0" u="none">
                <a:solidFill>
                  <a:srgbClr val="0C3C20"/>
                </a:solidFill>
                <a:latin typeface="Noto Sans KR"/>
              </a:rPr>
              <a:t>① 인접 좌표 군집화:</a:t>
            </a:r>
            <a:r>
              <a:rPr sz="975" b="0" i="0" u="none">
                <a:solidFill>
                  <a:srgbClr val="2E3B32"/>
                </a:solidFill>
                <a:latin typeface="Noto Sans KR"/>
              </a:rPr>
              <a:t> 소수점 자리 반올림으로 아주 가까운 위치 야영지들은 하나의 묶음 대표 좌표로 전송하여 통신 횟수 대폭 감소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4969" y="3061162"/>
            <a:ext cx="4285357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1" i="0" u="none">
                <a:solidFill>
                  <a:srgbClr val="0C3C20"/>
                </a:solidFill>
                <a:latin typeface="Noto Sans KR"/>
              </a:rPr>
              <a:t>② 3시간 임시 저장 캐시:</a:t>
            </a:r>
            <a:r>
              <a:rPr sz="975" b="0" i="0" u="none">
                <a:solidFill>
                  <a:srgbClr val="2E3B32"/>
                </a:solidFill>
                <a:latin typeface="Noto Sans KR"/>
              </a:rPr>
              <a:t> 한 번 받아온 지역 주말 기상 값은 메모리에 3시간 동안 저장해두고 중복 호출을 차단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4969" y="3489787"/>
            <a:ext cx="4285357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1" i="0" u="none">
                <a:solidFill>
                  <a:srgbClr val="0C3C20"/>
                </a:solidFill>
                <a:latin typeface="Noto Sans KR"/>
              </a:rPr>
              <a:t>③ 날씨 데이터 경량화:</a:t>
            </a:r>
            <a:r>
              <a:rPr sz="975" b="0" i="0" u="none">
                <a:solidFill>
                  <a:srgbClr val="2E3B32"/>
                </a:solidFill>
                <a:latin typeface="Noto Sans KR"/>
              </a:rPr>
              <a:t> 불필요한 10일치 날씨 대신 주말 캠핑용 금/토/일 핵심 3일 전용 데이터 필드만 요청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2094" y="2623012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2094" y="3051637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2094" y="3480262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3108424"/>
            <a:ext cx="4191000" cy="13477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0" y="3108424"/>
            <a:ext cx="4191000" cy="13477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75607" y="1143000"/>
            <a:ext cx="384048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6240"/>
              </a:lnSpc>
            </a:pPr>
            <a:r>
              <a:rPr sz="4800" b="1" i="0" u="none">
                <a:solidFill>
                  <a:srgbClr val="0C3C20"/>
                </a:solidFill>
                <a:latin typeface="Noto Sans KR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96555" y="2487168"/>
            <a:ext cx="539874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55665A"/>
                </a:solidFill>
                <a:latin typeface="Noto Sans KR"/>
              </a:rPr>
              <a:t>전국 캠핑장 종합 정보 안내 서비스, "캠핑나침반" 발표를 마치겠습니다.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1612" y="3260824"/>
            <a:ext cx="4080510" cy="180975"/>
          </a:xfrm>
          <a:prstGeom prst="rect">
            <a:avLst/>
          </a:prstGeom>
          <a:noFill/>
        </p:spPr>
        <p:txBody>
          <a:bodyPr wrap="square" lIns="111174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C3C20"/>
                </a:solidFill>
                <a:latin typeface="Noto Sans KR"/>
              </a:rPr>
              <a:t>깊이 배운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2150" y="3517999"/>
            <a:ext cx="388620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12"/>
              </a:lnSpc>
            </a:pPr>
            <a:r>
              <a:rPr sz="937" b="0" i="0" u="none">
                <a:solidFill>
                  <a:srgbClr val="55665A"/>
                </a:solidFill>
                <a:latin typeface="Noto Sans KR"/>
              </a:rPr>
              <a:t>캠핑 데이터, 네이버 지상 경로, 카카오 주변 마트 검색 등 이종 API를 하나로 아우르는 고도화된 매시업 아키텍처 실무 역량을 확보했습니다.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111" y="3260824"/>
            <a:ext cx="4080510" cy="180975"/>
          </a:xfrm>
          <a:prstGeom prst="rect">
            <a:avLst/>
          </a:prstGeom>
          <a:noFill/>
        </p:spPr>
        <p:txBody>
          <a:bodyPr wrap="square" lIns="111174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C3C20"/>
                </a:solidFill>
                <a:latin typeface="Noto Sans KR"/>
              </a:rPr>
              <a:t>향후 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3650" y="3517999"/>
            <a:ext cx="3886200" cy="500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12"/>
              </a:lnSpc>
            </a:pPr>
            <a:r>
              <a:rPr sz="937" b="0" i="0" u="none">
                <a:solidFill>
                  <a:srgbClr val="55665A"/>
                </a:solidFill>
                <a:latin typeface="Noto Sans KR"/>
              </a:rPr>
              <a:t>실시간 잔여 데크 빈자리 확인과 통합 결제 연동 모듈을 구비하고, 누적 유저 평점을 기상에 따라 매칭해 제안해주는 AI 비서를 탑재할 예정입니다.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2150" y="3279874"/>
            <a:ext cx="111174" cy="1428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650" y="3279874"/>
            <a:ext cx="111174" cy="142875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535527" y="4709160"/>
            <a:ext cx="5120640" cy="475488"/>
          </a:xfrm>
          <a:prstGeom prst="roundRect">
            <a:avLst>
              <a:gd name="adj" fmla="val 50000"/>
            </a:avLst>
          </a:prstGeom>
          <a:solidFill>
            <a:srgbClr val="F0EFEA"/>
          </a:solidFill>
          <a:ln w="9525">
            <a:solidFill>
              <a:srgbClr val="DD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200" b="1">
                <a:solidFill>
                  <a:srgbClr val="1E3932"/>
                </a:solidFill>
                <a:latin typeface="Malgun Gothic"/>
              </a:rPr>
              <a:t>서비스 주소   </a:t>
            </a:r>
            <a:r>
              <a:rPr sz="1200">
                <a:solidFill>
                  <a:srgbClr val="3C5A50"/>
                </a:solidFill>
                <a:latin typeface="Malgun Gothic"/>
              </a:rPr>
              <a:t>camping-scrapper.onrender.com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1802</Words>
  <Application>Microsoft Office PowerPoint</Application>
  <PresentationFormat>와이드스크린</PresentationFormat>
  <Paragraphs>174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Noto Sans KR</vt:lpstr>
      <vt:lpstr>Noto Sans KR Black</vt:lpstr>
      <vt:lpstr>Noto Sans KR ExtraBold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JUNGWOO LEE</dc:creator>
  <cp:keywords/>
  <dc:description>generated using python-pptx</dc:description>
  <cp:lastModifiedBy>JUNGWOO LEE</cp:lastModifiedBy>
  <cp:revision>10</cp:revision>
  <dcterms:created xsi:type="dcterms:W3CDTF">2013-01-27T09:14:16Z</dcterms:created>
  <dcterms:modified xsi:type="dcterms:W3CDTF">2026-07-19T01:26:25Z</dcterms:modified>
  <cp:category/>
</cp:coreProperties>
</file>