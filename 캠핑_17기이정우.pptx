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9" d="100"/>
          <a:sy n="79" d="100"/>
        </p:scale>
        <p:origin x="567" y="5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image" Target="../media/image28.png"/><Relationship Id="rId7" Type="http://schemas.openxmlformats.org/officeDocument/2006/relationships/image" Target="../media/image32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7" Type="http://schemas.openxmlformats.org/officeDocument/2006/relationships/image" Target="../media/image39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8.png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7" Type="http://schemas.openxmlformats.org/officeDocument/2006/relationships/image" Target="../media/image45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4.png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7" Type="http://schemas.openxmlformats.org/officeDocument/2006/relationships/image" Target="../media/image50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8.png"/><Relationship Id="rId5" Type="http://schemas.openxmlformats.org/officeDocument/2006/relationships/image" Target="../media/image49.png"/><Relationship Id="rId4" Type="http://schemas.openxmlformats.org/officeDocument/2006/relationships/image" Target="../media/image4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7" Type="http://schemas.openxmlformats.org/officeDocument/2006/relationships/image" Target="../media/image50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8.png"/><Relationship Id="rId5" Type="http://schemas.openxmlformats.org/officeDocument/2006/relationships/image" Target="../media/image49.png"/><Relationship Id="rId4" Type="http://schemas.openxmlformats.org/officeDocument/2006/relationships/image" Target="../media/image5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7" Type="http://schemas.openxmlformats.org/officeDocument/2006/relationships/image" Target="../media/image59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8.png"/><Relationship Id="rId5" Type="http://schemas.openxmlformats.org/officeDocument/2006/relationships/image" Target="../media/image57.png"/><Relationship Id="rId4" Type="http://schemas.openxmlformats.org/officeDocument/2006/relationships/image" Target="../media/image5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7" Type="http://schemas.openxmlformats.org/officeDocument/2006/relationships/image" Target="../media/image67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6.png"/><Relationship Id="rId5" Type="http://schemas.openxmlformats.org/officeDocument/2006/relationships/image" Target="../media/image65.png"/><Relationship Id="rId4" Type="http://schemas.openxmlformats.org/officeDocument/2006/relationships/image" Target="../media/image6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E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000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2962275"/>
            <a:ext cx="12192000" cy="76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820840" y="2335559"/>
            <a:ext cx="2550318" cy="6438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5070"/>
              </a:lnSpc>
            </a:pPr>
            <a:r>
              <a:rPr sz="3900" b="0" i="0" u="none">
                <a:solidFill>
                  <a:srgbClr val="FFFFFF"/>
                </a:solidFill>
                <a:latin typeface="Noto Sans KR Black"/>
              </a:rPr>
              <a:t>캠핑나침반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96865" y="3122265"/>
            <a:ext cx="5198119" cy="2714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137"/>
              </a:lnSpc>
            </a:pPr>
            <a:r>
              <a:rPr sz="1425" b="0" i="0" u="none" dirty="0" err="1">
                <a:solidFill>
                  <a:srgbClr val="A3D9B7"/>
                </a:solidFill>
                <a:latin typeface="Noto Sans KR"/>
              </a:rPr>
              <a:t>전국</a:t>
            </a:r>
            <a:r>
              <a:rPr sz="1425" b="0" i="0" u="none" dirty="0">
                <a:solidFill>
                  <a:srgbClr val="A3D9B7"/>
                </a:solidFill>
                <a:latin typeface="Noto Sans KR"/>
              </a:rPr>
              <a:t> </a:t>
            </a:r>
            <a:r>
              <a:rPr sz="1425" b="0" i="0" u="none" dirty="0" err="1">
                <a:solidFill>
                  <a:srgbClr val="A3D9B7"/>
                </a:solidFill>
                <a:latin typeface="Noto Sans KR"/>
              </a:rPr>
              <a:t>캠핑장을</a:t>
            </a:r>
            <a:r>
              <a:rPr sz="1425" b="0" i="0" u="none" dirty="0">
                <a:solidFill>
                  <a:srgbClr val="A3D9B7"/>
                </a:solidFill>
                <a:latin typeface="Noto Sans KR"/>
              </a:rPr>
              <a:t> </a:t>
            </a:r>
            <a:r>
              <a:rPr sz="1425" b="0" i="0" u="none" dirty="0" err="1">
                <a:solidFill>
                  <a:srgbClr val="A3D9B7"/>
                </a:solidFill>
                <a:latin typeface="Noto Sans KR"/>
              </a:rPr>
              <a:t>지역</a:t>
            </a:r>
            <a:r>
              <a:rPr sz="1425" b="0" i="0" u="none" dirty="0">
                <a:solidFill>
                  <a:srgbClr val="A3D9B7"/>
                </a:solidFill>
                <a:latin typeface="Noto Sans KR"/>
              </a:rPr>
              <a:t> · </a:t>
            </a:r>
            <a:r>
              <a:rPr sz="1425" b="0" i="0" u="none" dirty="0" err="1">
                <a:solidFill>
                  <a:srgbClr val="A3D9B7"/>
                </a:solidFill>
                <a:latin typeface="Noto Sans KR"/>
              </a:rPr>
              <a:t>시설</a:t>
            </a:r>
            <a:r>
              <a:rPr sz="1425" b="0" i="0" u="none" dirty="0">
                <a:solidFill>
                  <a:srgbClr val="A3D9B7"/>
                </a:solidFill>
                <a:latin typeface="Noto Sans KR"/>
              </a:rPr>
              <a:t> · </a:t>
            </a:r>
            <a:r>
              <a:rPr sz="1425" b="0" i="0" u="none" dirty="0" err="1">
                <a:solidFill>
                  <a:srgbClr val="A3D9B7"/>
                </a:solidFill>
                <a:latin typeface="Noto Sans KR"/>
              </a:rPr>
              <a:t>날씨까지</a:t>
            </a:r>
            <a:r>
              <a:rPr sz="1425" b="0" i="0" u="none" dirty="0">
                <a:solidFill>
                  <a:srgbClr val="A3D9B7"/>
                </a:solidFill>
                <a:latin typeface="Noto Sans KR"/>
              </a:rPr>
              <a:t> 한 </a:t>
            </a:r>
            <a:r>
              <a:rPr sz="1425" b="0" i="0" u="none" dirty="0" err="1">
                <a:solidFill>
                  <a:srgbClr val="A3D9B7"/>
                </a:solidFill>
                <a:latin typeface="Noto Sans KR"/>
              </a:rPr>
              <a:t>번에</a:t>
            </a:r>
            <a:r>
              <a:rPr sz="1425" b="0" i="0" u="none" dirty="0">
                <a:solidFill>
                  <a:srgbClr val="A3D9B7"/>
                </a:solidFill>
                <a:latin typeface="Noto Sans KR"/>
              </a:rPr>
              <a:t> </a:t>
            </a:r>
            <a:r>
              <a:rPr sz="1425" b="0" i="0" u="none" dirty="0" err="1">
                <a:solidFill>
                  <a:srgbClr val="A3D9B7"/>
                </a:solidFill>
                <a:latin typeface="Noto Sans KR"/>
              </a:rPr>
              <a:t>찾는</a:t>
            </a:r>
            <a:r>
              <a:rPr sz="1425" b="0" i="0" u="none" dirty="0">
                <a:solidFill>
                  <a:srgbClr val="A3D9B7"/>
                </a:solidFill>
                <a:latin typeface="Noto Sans KR"/>
              </a:rPr>
              <a:t> </a:t>
            </a:r>
            <a:r>
              <a:rPr sz="1425" b="0" i="0" u="none" dirty="0" err="1">
                <a:solidFill>
                  <a:srgbClr val="A3D9B7"/>
                </a:solidFill>
                <a:latin typeface="Noto Sans KR"/>
              </a:rPr>
              <a:t>검색</a:t>
            </a:r>
            <a:r>
              <a:rPr sz="1425" b="0" i="0" u="none" dirty="0">
                <a:solidFill>
                  <a:srgbClr val="A3D9B7"/>
                </a:solidFill>
                <a:latin typeface="Noto Sans KR"/>
              </a:rPr>
              <a:t> </a:t>
            </a:r>
            <a:r>
              <a:rPr sz="1425" b="0" i="0" u="none" dirty="0" err="1">
                <a:solidFill>
                  <a:srgbClr val="A3D9B7"/>
                </a:solidFill>
                <a:latin typeface="Noto Sans KR"/>
              </a:rPr>
              <a:t>웹사이트</a:t>
            </a:r>
            <a:endParaRPr sz="1425" b="0" i="0" u="none" dirty="0">
              <a:solidFill>
                <a:srgbClr val="A3D9B7"/>
              </a:solidFill>
              <a:latin typeface="Noto Sans KR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635400" y="3584227"/>
            <a:ext cx="2921198" cy="2143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687"/>
              </a:lnSpc>
            </a:pPr>
            <a:r>
              <a:rPr sz="1125" b="0" i="0" u="none">
                <a:solidFill>
                  <a:srgbClr val="FFFFFF"/>
                </a:solidFill>
                <a:latin typeface="Noto Sans KR"/>
              </a:rPr>
              <a:t>어디로 캠핑 갈까요? 지역 · 업종 · 시설로 검색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13716" y="3941415"/>
            <a:ext cx="2208460" cy="200025"/>
          </a:xfrm>
          <a:prstGeom prst="rect">
            <a:avLst/>
          </a:prstGeom>
          <a:noFill/>
        </p:spPr>
        <p:txBody>
          <a:bodyPr wrap="square" lIns="103733" tIns="0" rIns="0" bIns="0" anchor="t">
            <a:spAutoFit/>
          </a:bodyPr>
          <a:lstStyle/>
          <a:p>
            <a:pPr algn="ctr">
              <a:lnSpc>
                <a:spcPts val="1575"/>
              </a:lnSpc>
            </a:pPr>
            <a:r>
              <a:rPr sz="1050" b="1" i="0" u="none" dirty="0">
                <a:solidFill>
                  <a:srgbClr val="FFB703"/>
                </a:solidFill>
                <a:latin typeface="Noto Sans KR"/>
              </a:rPr>
              <a:t>camping-scrapper.onrender.com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1366" y="1859309"/>
            <a:ext cx="1926580" cy="28575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46" y="1859309"/>
            <a:ext cx="1733996" cy="285750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91695" y="3979515"/>
            <a:ext cx="103733" cy="13335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E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ounded Rectangle 25"/>
          <p:cNvSpPr/>
          <p:nvPr/>
        </p:nvSpPr>
        <p:spPr>
          <a:xfrm>
            <a:off x="571500" y="2102313"/>
            <a:ext cx="5405437" cy="2756064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BE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6215062" y="2102313"/>
            <a:ext cx="5405437" cy="2756064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BE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14375" y="428625"/>
            <a:ext cx="11451431" cy="342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700"/>
              </a:lnSpc>
            </a:pPr>
            <a:r>
              <a:rPr sz="2250" b="0" i="0" u="none">
                <a:solidFill>
                  <a:srgbClr val="0C3C20"/>
                </a:solidFill>
                <a:latin typeface="Noto Sans KR ExtraBold"/>
              </a:rPr>
              <a:t>1. 프로젝트 소개: 왜 만들었고 무엇을 해결하려 했는가</a:t>
            </a:r>
          </a:p>
        </p:txBody>
      </p:sp>
      <p:sp>
        <p:nvSpPr>
          <p:cNvPr id="5" name="Rectangle 4"/>
          <p:cNvSpPr/>
          <p:nvPr/>
        </p:nvSpPr>
        <p:spPr>
          <a:xfrm>
            <a:off x="571500" y="428625"/>
            <a:ext cx="57150" cy="342900"/>
          </a:xfrm>
          <a:prstGeom prst="rect">
            <a:avLst/>
          </a:prstGeom>
          <a:solidFill>
            <a:srgbClr val="E65F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42361" y="2321389"/>
            <a:ext cx="5215651" cy="241845"/>
          </a:xfrm>
          <a:prstGeom prst="rect">
            <a:avLst/>
          </a:prstGeom>
          <a:noFill/>
        </p:spPr>
        <p:txBody>
          <a:bodyPr wrap="square" lIns="209698" tIns="0" rIns="0" bIns="0" anchor="t">
            <a:spAutoFit/>
          </a:bodyPr>
          <a:lstStyle/>
          <a:p>
            <a:pPr algn="l">
              <a:lnSpc>
                <a:spcPts val="1754"/>
              </a:lnSpc>
            </a:pPr>
            <a:r>
              <a:rPr sz="1350" b="1" i="0" u="none" dirty="0" err="1">
                <a:solidFill>
                  <a:srgbClr val="0C3C20"/>
                </a:solidFill>
                <a:latin typeface="Noto Sans KR"/>
              </a:rPr>
              <a:t>선택한</a:t>
            </a:r>
            <a:r>
              <a:rPr sz="1350" b="1" i="0" u="none" dirty="0">
                <a:solidFill>
                  <a:srgbClr val="0C3C20"/>
                </a:solidFill>
                <a:latin typeface="Noto Sans KR"/>
              </a:rPr>
              <a:t> </a:t>
            </a:r>
            <a:r>
              <a:rPr sz="1350" b="1" i="0" u="none" dirty="0" err="1">
                <a:solidFill>
                  <a:srgbClr val="0C3C20"/>
                </a:solidFill>
                <a:latin typeface="Noto Sans KR"/>
              </a:rPr>
              <a:t>이유</a:t>
            </a:r>
            <a:r>
              <a:rPr sz="1350" b="1" i="0" u="none" dirty="0">
                <a:solidFill>
                  <a:srgbClr val="0C3C20"/>
                </a:solidFill>
                <a:latin typeface="Noto Sans KR"/>
              </a:rPr>
              <a:t> (왜 </a:t>
            </a:r>
            <a:r>
              <a:rPr sz="1350" b="1" i="0" u="none" dirty="0" err="1">
                <a:solidFill>
                  <a:srgbClr val="0C3C20"/>
                </a:solidFill>
                <a:latin typeface="Noto Sans KR"/>
              </a:rPr>
              <a:t>만들었는가</a:t>
            </a:r>
            <a:r>
              <a:rPr sz="1350" b="1" i="0" u="none" dirty="0">
                <a:solidFill>
                  <a:srgbClr val="0C3C20"/>
                </a:solidFill>
                <a:latin typeface="Noto Sans KR"/>
              </a:rPr>
              <a:t>?)</a:t>
            </a:r>
          </a:p>
        </p:txBody>
      </p:sp>
      <p:sp>
        <p:nvSpPr>
          <p:cNvPr id="7" name="Rectangle 6"/>
          <p:cNvSpPr/>
          <p:nvPr/>
        </p:nvSpPr>
        <p:spPr>
          <a:xfrm>
            <a:off x="790575" y="2601334"/>
            <a:ext cx="4967287" cy="19050"/>
          </a:xfrm>
          <a:prstGeom prst="rect">
            <a:avLst/>
          </a:prstGeom>
          <a:solidFill>
            <a:srgbClr val="EE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585923" y="2321389"/>
            <a:ext cx="5215651" cy="241845"/>
          </a:xfrm>
          <a:prstGeom prst="rect">
            <a:avLst/>
          </a:prstGeom>
          <a:noFill/>
        </p:spPr>
        <p:txBody>
          <a:bodyPr wrap="square" lIns="209698" tIns="0" rIns="0" bIns="0" anchor="t">
            <a:spAutoFit/>
          </a:bodyPr>
          <a:lstStyle/>
          <a:p>
            <a:pPr algn="l">
              <a:lnSpc>
                <a:spcPts val="1754"/>
              </a:lnSpc>
            </a:pPr>
            <a:r>
              <a:rPr sz="1350" b="1" i="0" u="none">
                <a:solidFill>
                  <a:srgbClr val="0C3C20"/>
                </a:solidFill>
                <a:latin typeface="Noto Sans KR"/>
              </a:rPr>
              <a:t>핵심 목적 (달성하려는 과제)</a:t>
            </a:r>
          </a:p>
        </p:txBody>
      </p:sp>
      <p:sp>
        <p:nvSpPr>
          <p:cNvPr id="9" name="Rectangle 8"/>
          <p:cNvSpPr/>
          <p:nvPr/>
        </p:nvSpPr>
        <p:spPr>
          <a:xfrm>
            <a:off x="6434137" y="2601334"/>
            <a:ext cx="4967287" cy="19050"/>
          </a:xfrm>
          <a:prstGeom prst="rect">
            <a:avLst/>
          </a:prstGeom>
          <a:solidFill>
            <a:srgbClr val="EE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575" y="2340439"/>
            <a:ext cx="133498" cy="17145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1075" y="2734684"/>
            <a:ext cx="4776787" cy="400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050" b="1" i="0" u="none" dirty="0">
                <a:solidFill>
                  <a:srgbClr val="E65F2C"/>
                </a:solidFill>
                <a:latin typeface="Noto Sans KR"/>
              </a:rPr>
              <a:t>① SNS </a:t>
            </a:r>
            <a:r>
              <a:rPr sz="1050" b="1" i="0" u="none" dirty="0" err="1">
                <a:solidFill>
                  <a:srgbClr val="E65F2C"/>
                </a:solidFill>
                <a:latin typeface="Noto Sans KR"/>
              </a:rPr>
              <a:t>광고</a:t>
            </a:r>
            <a:r>
              <a:rPr sz="1050" b="1" i="0" u="none" dirty="0">
                <a:solidFill>
                  <a:srgbClr val="E65F2C"/>
                </a:solidFill>
                <a:latin typeface="Noto Sans KR"/>
              </a:rPr>
              <a:t> </a:t>
            </a:r>
            <a:r>
              <a:rPr sz="1050" b="1" i="0" u="none" dirty="0" err="1">
                <a:solidFill>
                  <a:srgbClr val="E65F2C"/>
                </a:solidFill>
                <a:latin typeface="Noto Sans KR"/>
              </a:rPr>
              <a:t>피해</a:t>
            </a:r>
            <a:r>
              <a:rPr sz="1050" b="1" i="0" u="none" dirty="0">
                <a:solidFill>
                  <a:srgbClr val="E65F2C"/>
                </a:solidFill>
                <a:latin typeface="Noto Sans KR"/>
              </a:rPr>
              <a:t> </a:t>
            </a:r>
            <a:r>
              <a:rPr sz="1050" b="1" i="0" u="none" dirty="0" err="1">
                <a:solidFill>
                  <a:srgbClr val="E65F2C"/>
                </a:solidFill>
                <a:latin typeface="Noto Sans KR"/>
              </a:rPr>
              <a:t>검색</a:t>
            </a:r>
            <a:r>
              <a:rPr sz="1050" b="1" i="0" u="none" dirty="0">
                <a:solidFill>
                  <a:srgbClr val="E65F2C"/>
                </a:solidFill>
                <a:latin typeface="Noto Sans KR"/>
              </a:rPr>
              <a:t> </a:t>
            </a:r>
            <a:r>
              <a:rPr sz="1050" b="1" i="0" u="none" dirty="0" err="1">
                <a:solidFill>
                  <a:srgbClr val="E65F2C"/>
                </a:solidFill>
                <a:latin typeface="Noto Sans KR"/>
              </a:rPr>
              <a:t>효율화</a:t>
            </a:r>
            <a:r>
              <a:rPr sz="1050" b="1" i="0" u="none" dirty="0">
                <a:solidFill>
                  <a:srgbClr val="E65F2C"/>
                </a:solidFill>
                <a:latin typeface="Noto Sans KR"/>
              </a:rPr>
              <a:t>:</a:t>
            </a:r>
            <a:r>
              <a:rPr sz="1050" b="0" i="0" u="none" dirty="0">
                <a:solidFill>
                  <a:srgbClr val="2E3B32"/>
                </a:solidFill>
                <a:latin typeface="Noto Sans KR"/>
              </a:rPr>
              <a:t> </a:t>
            </a:r>
            <a:r>
              <a:rPr sz="1050" b="0" i="0" u="none" dirty="0" err="1">
                <a:solidFill>
                  <a:srgbClr val="2E3B32"/>
                </a:solidFill>
                <a:latin typeface="Noto Sans KR"/>
              </a:rPr>
              <a:t>인스타나</a:t>
            </a:r>
            <a:r>
              <a:rPr sz="1050" b="0" i="0" u="none" dirty="0">
                <a:solidFill>
                  <a:srgbClr val="2E3B32"/>
                </a:solidFill>
                <a:latin typeface="Noto Sans KR"/>
              </a:rPr>
              <a:t> </a:t>
            </a:r>
            <a:r>
              <a:rPr sz="1050" b="0" i="0" u="none" dirty="0" err="1">
                <a:solidFill>
                  <a:srgbClr val="2E3B32"/>
                </a:solidFill>
                <a:latin typeface="Noto Sans KR"/>
              </a:rPr>
              <a:t>광고</a:t>
            </a:r>
            <a:r>
              <a:rPr sz="1050" b="0" i="0" u="none" dirty="0">
                <a:solidFill>
                  <a:srgbClr val="2E3B32"/>
                </a:solidFill>
                <a:latin typeface="Noto Sans KR"/>
              </a:rPr>
              <a:t> </a:t>
            </a:r>
            <a:r>
              <a:rPr sz="1050" b="0" i="0" u="none" dirty="0" err="1">
                <a:solidFill>
                  <a:srgbClr val="2E3B32"/>
                </a:solidFill>
                <a:latin typeface="Noto Sans KR"/>
              </a:rPr>
              <a:t>피드</a:t>
            </a:r>
            <a:r>
              <a:rPr sz="1050" b="0" i="0" u="none" dirty="0">
                <a:solidFill>
                  <a:srgbClr val="2E3B32"/>
                </a:solidFill>
                <a:latin typeface="Noto Sans KR"/>
              </a:rPr>
              <a:t> </a:t>
            </a:r>
            <a:r>
              <a:rPr sz="1050" b="0" i="0" u="none" dirty="0" err="1">
                <a:solidFill>
                  <a:srgbClr val="2E3B32"/>
                </a:solidFill>
                <a:latin typeface="Noto Sans KR"/>
              </a:rPr>
              <a:t>대신</a:t>
            </a:r>
            <a:r>
              <a:rPr sz="1050" b="0" i="0" u="none" dirty="0">
                <a:solidFill>
                  <a:srgbClr val="2E3B32"/>
                </a:solidFill>
                <a:latin typeface="Noto Sans KR"/>
              </a:rPr>
              <a:t>, 이 </a:t>
            </a:r>
            <a:r>
              <a:rPr sz="1050" b="0" i="0" u="none" dirty="0" err="1">
                <a:solidFill>
                  <a:srgbClr val="2E3B32"/>
                </a:solidFill>
                <a:latin typeface="Noto Sans KR"/>
              </a:rPr>
              <a:t>사이트에서</a:t>
            </a:r>
            <a:r>
              <a:rPr sz="1050" b="0" i="0" u="none" dirty="0">
                <a:solidFill>
                  <a:srgbClr val="2E3B32"/>
                </a:solidFill>
                <a:latin typeface="Noto Sans KR"/>
              </a:rPr>
              <a:t> </a:t>
            </a:r>
            <a:r>
              <a:rPr sz="1050" b="0" i="0" u="none" dirty="0" err="1">
                <a:solidFill>
                  <a:srgbClr val="2E3B32"/>
                </a:solidFill>
                <a:latin typeface="Noto Sans KR"/>
              </a:rPr>
              <a:t>바로</a:t>
            </a:r>
            <a:r>
              <a:rPr sz="1050" b="0" i="0" u="none" dirty="0">
                <a:solidFill>
                  <a:srgbClr val="2E3B32"/>
                </a:solidFill>
                <a:latin typeface="Noto Sans KR"/>
              </a:rPr>
              <a:t> </a:t>
            </a:r>
            <a:r>
              <a:rPr sz="1050" b="0" i="0" u="none" dirty="0" err="1">
                <a:solidFill>
                  <a:srgbClr val="2E3B32"/>
                </a:solidFill>
                <a:latin typeface="Noto Sans KR"/>
              </a:rPr>
              <a:t>진짜</a:t>
            </a:r>
            <a:r>
              <a:rPr sz="1050" b="0" i="0" u="none" dirty="0">
                <a:solidFill>
                  <a:srgbClr val="2E3B32"/>
                </a:solidFill>
                <a:latin typeface="Noto Sans KR"/>
              </a:rPr>
              <a:t> </a:t>
            </a:r>
            <a:r>
              <a:rPr sz="1050" b="0" i="0" u="none" dirty="0" err="1">
                <a:solidFill>
                  <a:srgbClr val="2E3B32"/>
                </a:solidFill>
                <a:latin typeface="Noto Sans KR"/>
              </a:rPr>
              <a:t>지역별</a:t>
            </a:r>
            <a:r>
              <a:rPr sz="1050" b="0" i="0" u="none" dirty="0">
                <a:solidFill>
                  <a:srgbClr val="2E3B32"/>
                </a:solidFill>
                <a:latin typeface="Noto Sans KR"/>
              </a:rPr>
              <a:t> </a:t>
            </a:r>
            <a:r>
              <a:rPr sz="1050" b="0" i="0" u="none" dirty="0" err="1">
                <a:solidFill>
                  <a:srgbClr val="2E3B32"/>
                </a:solidFill>
                <a:latin typeface="Noto Sans KR"/>
              </a:rPr>
              <a:t>검색</a:t>
            </a:r>
            <a:r>
              <a:rPr sz="1050" b="0" i="0" u="none" dirty="0">
                <a:solidFill>
                  <a:srgbClr val="2E3B32"/>
                </a:solidFill>
                <a:latin typeface="Noto Sans KR"/>
              </a:rPr>
              <a:t> 및 </a:t>
            </a:r>
            <a:r>
              <a:rPr sz="1050" b="0" i="0" u="none" dirty="0" err="1">
                <a:solidFill>
                  <a:srgbClr val="2E3B32"/>
                </a:solidFill>
                <a:latin typeface="Noto Sans KR"/>
              </a:rPr>
              <a:t>즉각적인</a:t>
            </a:r>
            <a:r>
              <a:rPr sz="1050" b="0" i="0" u="none" dirty="0">
                <a:solidFill>
                  <a:srgbClr val="2E3B32"/>
                </a:solidFill>
                <a:latin typeface="Noto Sans KR"/>
              </a:rPr>
              <a:t> </a:t>
            </a:r>
            <a:r>
              <a:rPr sz="1050" b="0" i="0" u="none" dirty="0" err="1">
                <a:solidFill>
                  <a:srgbClr val="2E3B32"/>
                </a:solidFill>
                <a:latin typeface="Noto Sans KR"/>
              </a:rPr>
              <a:t>비교</a:t>
            </a:r>
            <a:r>
              <a:rPr sz="1050" b="0" i="0" u="none" dirty="0">
                <a:solidFill>
                  <a:srgbClr val="2E3B32"/>
                </a:solidFill>
                <a:latin typeface="Noto Sans KR"/>
              </a:rPr>
              <a:t> </a:t>
            </a:r>
            <a:r>
              <a:rPr sz="1050" b="0" i="0" u="none" dirty="0" err="1">
                <a:solidFill>
                  <a:srgbClr val="2E3B32"/>
                </a:solidFill>
                <a:latin typeface="Noto Sans KR"/>
              </a:rPr>
              <a:t>가능</a:t>
            </a:r>
            <a:endParaRPr sz="1050" b="0" i="0" u="none" dirty="0">
              <a:solidFill>
                <a:srgbClr val="2E3B32"/>
              </a:solidFill>
              <a:latin typeface="Noto Sans KR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981075" y="3229984"/>
            <a:ext cx="4776787" cy="400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050" b="1" i="0" u="none">
                <a:solidFill>
                  <a:srgbClr val="E65F2C"/>
                </a:solidFill>
                <a:latin typeface="Noto Sans KR"/>
              </a:rPr>
              <a:t>② 시설 정보 사전 확인:</a:t>
            </a:r>
            <a:r>
              <a:rPr sz="1050" b="0" i="0" u="none">
                <a:solidFill>
                  <a:srgbClr val="2E3B32"/>
                </a:solidFill>
                <a:latin typeface="Noto Sans KR"/>
              </a:rPr>
              <a:t> 캠핑장별로 전기, 온수, 샤워시설 등 어떤 필수 유틸리티를 쓸 수 있는지 투명하게 체크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1075" y="3725284"/>
            <a:ext cx="4776787" cy="400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050" b="1" i="0" u="none">
                <a:solidFill>
                  <a:srgbClr val="E65F2C"/>
                </a:solidFill>
                <a:latin typeface="Noto Sans KR"/>
              </a:rPr>
              <a:t>③ 전 연령 무료 간편 이용:</a:t>
            </a:r>
            <a:r>
              <a:rPr sz="1050" b="0" i="0" u="none">
                <a:solidFill>
                  <a:srgbClr val="2E3B32"/>
                </a:solidFill>
                <a:latin typeface="Noto Sans KR"/>
              </a:rPr>
              <a:t> 아이 동반 부부, 부모님 세대까지 누구나 가입이나 결제 비용 부담 없이 손쉬운 서칭 지원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1075" y="4220584"/>
            <a:ext cx="4776787" cy="400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050" b="1" i="0" u="none">
                <a:solidFill>
                  <a:srgbClr val="E65F2C"/>
                </a:solidFill>
                <a:latin typeface="Noto Sans KR"/>
              </a:rPr>
              <a:t>④ 효율적인 여행 동선 구축:</a:t>
            </a:r>
            <a:r>
              <a:rPr sz="1050" b="0" i="0" u="none">
                <a:solidFill>
                  <a:srgbClr val="2E3B32"/>
                </a:solidFill>
                <a:latin typeface="Noto Sans KR"/>
              </a:rPr>
              <a:t> 시간이 부족한 바쁜 직장인들도 이동 소요 시간을 직관적으로 확인해 일정 설계 용이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4137" y="2340439"/>
            <a:ext cx="133498" cy="17145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624637" y="2734684"/>
            <a:ext cx="4776787" cy="400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050" b="1" i="0" u="none">
                <a:solidFill>
                  <a:srgbClr val="0C3C20"/>
                </a:solidFill>
                <a:latin typeface="Noto Sans KR"/>
              </a:rPr>
              <a:t>● 전국 야영지 정보 단일창구 가시화:</a:t>
            </a:r>
            <a:r>
              <a:rPr sz="1050" b="0" i="0" u="none">
                <a:solidFill>
                  <a:srgbClr val="2E3B32"/>
                </a:solidFill>
                <a:latin typeface="Noto Sans KR"/>
              </a:rPr>
              <a:t> 전국에 분산된 3,800여 개 야영장 위치와 실시간 운영시설 현황을 한곳에서 일목요연하게 파악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4637" y="3229984"/>
            <a:ext cx="4776787" cy="400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050" b="1" i="0" u="none">
                <a:solidFill>
                  <a:srgbClr val="0C3C20"/>
                </a:solidFill>
                <a:latin typeface="Noto Sans KR"/>
              </a:rPr>
              <a:t>● 경유지 결합 맞춤 소요시간 제공:</a:t>
            </a:r>
            <a:r>
              <a:rPr sz="1050" b="0" i="0" u="none">
                <a:solidFill>
                  <a:srgbClr val="2E3B32"/>
                </a:solidFill>
                <a:latin typeface="Noto Sans KR"/>
              </a:rPr>
              <a:t> 장보기 마트 등 중간 경유지까지 포함하여 실제로 차량이 가는데 걸리는 시간을 실시간 연동 산정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24637" y="3725284"/>
            <a:ext cx="4776787" cy="400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050" b="1" i="0" u="none">
                <a:solidFill>
                  <a:srgbClr val="0C3C20"/>
                </a:solidFill>
                <a:latin typeface="Noto Sans KR"/>
              </a:rPr>
              <a:t>● 인프라 매칭 예약 최적화:</a:t>
            </a:r>
            <a:r>
              <a:rPr sz="1050" b="0" i="0" u="none">
                <a:solidFill>
                  <a:srgbClr val="2E3B32"/>
                </a:solidFill>
                <a:latin typeface="Noto Sans KR"/>
              </a:rPr>
              <a:t> 필요한 편의시설(글램핑, 카라반, 화장실 등) 위주로 골라 안전하고 정확한 예약 링크로 즉시 연결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200" y="2725159"/>
            <a:ext cx="5715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1" i="0" u="none">
                <a:solidFill>
                  <a:srgbClr val="E65F2C"/>
                </a:solidFill>
                <a:latin typeface="Noto Sans KR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8200" y="3220459"/>
            <a:ext cx="5715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1" i="0" u="none">
                <a:solidFill>
                  <a:srgbClr val="E65F2C"/>
                </a:solidFill>
                <a:latin typeface="Noto Sans KR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8200" y="3715759"/>
            <a:ext cx="5715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1" i="0" u="none">
                <a:solidFill>
                  <a:srgbClr val="E65F2C"/>
                </a:solidFill>
                <a:latin typeface="Noto Sans KR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8200" y="4211059"/>
            <a:ext cx="5715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1" i="0" u="none">
                <a:solidFill>
                  <a:srgbClr val="E65F2C"/>
                </a:solidFill>
                <a:latin typeface="Noto Sans KR"/>
              </a:rPr>
              <a:t>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81762" y="2725159"/>
            <a:ext cx="5715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1" i="0" u="none">
                <a:solidFill>
                  <a:srgbClr val="E65F2C"/>
                </a:solidFill>
                <a:latin typeface="Noto Sans KR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81762" y="3220459"/>
            <a:ext cx="5715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1" i="0" u="none">
                <a:solidFill>
                  <a:srgbClr val="E65F2C"/>
                </a:solidFill>
                <a:latin typeface="Noto Sans KR"/>
              </a:rPr>
              <a:t>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81762" y="3715759"/>
            <a:ext cx="5715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1" i="0" u="none">
                <a:solidFill>
                  <a:srgbClr val="E65F2C"/>
                </a:solidFill>
                <a:latin typeface="Noto Sans KR"/>
              </a:rPr>
              <a:t>•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E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ounded Rectangle 28"/>
          <p:cNvSpPr/>
          <p:nvPr/>
        </p:nvSpPr>
        <p:spPr>
          <a:xfrm>
            <a:off x="571500" y="2404020"/>
            <a:ext cx="5405437" cy="2270289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BE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6215062" y="2404020"/>
            <a:ext cx="5405437" cy="2270289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BE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14375" y="428625"/>
            <a:ext cx="11451431" cy="342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700"/>
              </a:lnSpc>
            </a:pPr>
            <a:r>
              <a:rPr sz="2250" b="0" i="0" u="none">
                <a:solidFill>
                  <a:srgbClr val="0C3C20"/>
                </a:solidFill>
                <a:latin typeface="Noto Sans KR ExtraBold"/>
              </a:rPr>
              <a:t>2. 데이터 설계: 수집 데이터 정보 개요</a:t>
            </a:r>
          </a:p>
        </p:txBody>
      </p:sp>
      <p:sp>
        <p:nvSpPr>
          <p:cNvPr id="5" name="Rectangle 4"/>
          <p:cNvSpPr/>
          <p:nvPr/>
        </p:nvSpPr>
        <p:spPr>
          <a:xfrm>
            <a:off x="571500" y="428625"/>
            <a:ext cx="57150" cy="342900"/>
          </a:xfrm>
          <a:prstGeom prst="rect">
            <a:avLst/>
          </a:prstGeom>
          <a:solidFill>
            <a:srgbClr val="E65F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42361" y="2623096"/>
            <a:ext cx="5215651" cy="241845"/>
          </a:xfrm>
          <a:prstGeom prst="rect">
            <a:avLst/>
          </a:prstGeom>
          <a:noFill/>
        </p:spPr>
        <p:txBody>
          <a:bodyPr wrap="square" lIns="209698" tIns="0" rIns="0" bIns="0" anchor="t">
            <a:spAutoFit/>
          </a:bodyPr>
          <a:lstStyle/>
          <a:p>
            <a:pPr algn="l">
              <a:lnSpc>
                <a:spcPts val="1754"/>
              </a:lnSpc>
            </a:pPr>
            <a:r>
              <a:rPr sz="1350" b="1" i="0" u="none">
                <a:solidFill>
                  <a:srgbClr val="0C3C20"/>
                </a:solidFill>
                <a:latin typeface="Noto Sans KR"/>
              </a:rPr>
              <a:t>어떤 데이터를 수집했는가?</a:t>
            </a:r>
          </a:p>
        </p:txBody>
      </p:sp>
      <p:sp>
        <p:nvSpPr>
          <p:cNvPr id="7" name="Rectangle 6"/>
          <p:cNvSpPr/>
          <p:nvPr/>
        </p:nvSpPr>
        <p:spPr>
          <a:xfrm>
            <a:off x="790575" y="2903041"/>
            <a:ext cx="4967287" cy="19050"/>
          </a:xfrm>
          <a:prstGeom prst="rect">
            <a:avLst/>
          </a:prstGeom>
          <a:solidFill>
            <a:srgbClr val="EE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90575" y="3036391"/>
            <a:ext cx="4967287" cy="2143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125" b="1" i="0" u="none">
                <a:solidFill>
                  <a:srgbClr val="0C3C20"/>
                </a:solidFill>
                <a:latin typeface="Noto Sans KR"/>
              </a:rPr>
              <a:t>🏕 전국 야영장(캠핑장) 상세 정보 데이터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5923" y="2623096"/>
            <a:ext cx="5215651" cy="241845"/>
          </a:xfrm>
          <a:prstGeom prst="rect">
            <a:avLst/>
          </a:prstGeom>
          <a:noFill/>
        </p:spPr>
        <p:txBody>
          <a:bodyPr wrap="square" lIns="209698" tIns="0" rIns="0" bIns="0" anchor="t">
            <a:spAutoFit/>
          </a:bodyPr>
          <a:lstStyle/>
          <a:p>
            <a:pPr algn="l">
              <a:lnSpc>
                <a:spcPts val="1754"/>
              </a:lnSpc>
            </a:pPr>
            <a:r>
              <a:rPr sz="1350" b="1" i="0" u="none">
                <a:solidFill>
                  <a:srgbClr val="0C3C20"/>
                </a:solidFill>
                <a:latin typeface="Noto Sans KR"/>
              </a:rPr>
              <a:t>수집한 주요 데이터 필드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34137" y="2903041"/>
            <a:ext cx="4967287" cy="19050"/>
          </a:xfrm>
          <a:prstGeom prst="rect">
            <a:avLst/>
          </a:prstGeom>
          <a:solidFill>
            <a:srgbClr val="EE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575" y="2642146"/>
            <a:ext cx="133498" cy="17145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1075" y="3345954"/>
            <a:ext cx="4776787" cy="2000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050" b="1" i="0" u="none">
                <a:solidFill>
                  <a:srgbClr val="E65F2C"/>
                </a:solidFill>
                <a:latin typeface="Noto Sans KR"/>
              </a:rPr>
              <a:t>데이터 출처:</a:t>
            </a:r>
            <a:r>
              <a:rPr sz="1050" b="0" i="0" u="none">
                <a:solidFill>
                  <a:srgbClr val="2E3B32"/>
                </a:solidFill>
                <a:latin typeface="Noto Sans KR"/>
              </a:rPr>
              <a:t> 공공데이터포털 (data.go.kr) 공식 수집 창구 일원화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1075" y="3641229"/>
            <a:ext cx="4776787" cy="2000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050" b="1" i="0" u="none">
                <a:solidFill>
                  <a:srgbClr val="E65F2C"/>
                </a:solidFill>
                <a:latin typeface="Noto Sans KR"/>
              </a:rPr>
              <a:t>수집처 기관:</a:t>
            </a:r>
            <a:r>
              <a:rPr sz="1050" b="0" i="0" u="none">
                <a:solidFill>
                  <a:srgbClr val="2E3B32"/>
                </a:solidFill>
                <a:latin typeface="Noto Sans KR"/>
              </a:rPr>
              <a:t> 한국관광공사 '고캠핑(GoCamping)' 정식 Open API 승인 연동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1075" y="3936504"/>
            <a:ext cx="4776787" cy="2000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050" b="1" i="0" u="none">
                <a:solidFill>
                  <a:srgbClr val="E65F2C"/>
                </a:solidFill>
                <a:latin typeface="Noto Sans KR"/>
              </a:rPr>
              <a:t>수집 규모:</a:t>
            </a:r>
            <a:r>
              <a:rPr sz="1050" b="0" i="0" u="none">
                <a:solidFill>
                  <a:srgbClr val="2E3B32"/>
                </a:solidFill>
                <a:latin typeface="Noto Sans KR"/>
              </a:rPr>
              <a:t> 전국 등록 야영장 약 </a:t>
            </a:r>
            <a:r>
              <a:rPr sz="1050" b="1" i="0" u="none">
                <a:solidFill>
                  <a:srgbClr val="E65F2C"/>
                </a:solidFill>
                <a:latin typeface="Noto Sans KR"/>
              </a:rPr>
              <a:t>3,800여 곳</a:t>
            </a:r>
            <a:r>
              <a:rPr sz="1050" b="0" i="0" u="none">
                <a:solidFill>
                  <a:srgbClr val="2E3B32"/>
                </a:solidFill>
                <a:latin typeface="Noto Sans KR"/>
              </a:rPr>
              <a:t>의 실시간 데이터베이스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4137" y="2642146"/>
            <a:ext cx="133498" cy="17145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624637" y="3036391"/>
            <a:ext cx="4776787" cy="2000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050" b="1" i="0" u="none">
                <a:solidFill>
                  <a:srgbClr val="2E3B32"/>
                </a:solidFill>
                <a:latin typeface="Noto Sans KR"/>
              </a:rPr>
              <a:t>캠핑장 핵심 메타:</a:t>
            </a:r>
            <a:r>
              <a:rPr sz="1050" b="0" i="0" u="none">
                <a:solidFill>
                  <a:srgbClr val="2E3B32"/>
                </a:solidFill>
                <a:latin typeface="Noto Sans KR"/>
              </a:rPr>
              <a:t> 캠핑장명, 도로명 주소, 위도/경도 지도 매핑 데이터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4637" y="3331666"/>
            <a:ext cx="4776787" cy="2000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050" b="1" i="0" u="none" dirty="0" err="1">
                <a:solidFill>
                  <a:srgbClr val="2E3B32"/>
                </a:solidFill>
                <a:latin typeface="Noto Sans KR"/>
              </a:rPr>
              <a:t>시설</a:t>
            </a:r>
            <a:r>
              <a:rPr sz="1050" b="1" i="0" u="none" dirty="0">
                <a:solidFill>
                  <a:srgbClr val="2E3B32"/>
                </a:solidFill>
                <a:latin typeface="Noto Sans KR"/>
              </a:rPr>
              <a:t> </a:t>
            </a:r>
            <a:r>
              <a:rPr sz="1050" b="1" i="0" u="none" dirty="0" err="1">
                <a:solidFill>
                  <a:srgbClr val="2E3B32"/>
                </a:solidFill>
                <a:latin typeface="Noto Sans KR"/>
              </a:rPr>
              <a:t>형태</a:t>
            </a:r>
            <a:r>
              <a:rPr sz="1050" b="1" i="0" u="none" dirty="0">
                <a:solidFill>
                  <a:srgbClr val="2E3B32"/>
                </a:solidFill>
                <a:latin typeface="Noto Sans KR"/>
              </a:rPr>
              <a:t> </a:t>
            </a:r>
            <a:r>
              <a:rPr sz="1050" b="1" i="0" u="none" dirty="0" err="1">
                <a:solidFill>
                  <a:srgbClr val="2E3B32"/>
                </a:solidFill>
                <a:latin typeface="Noto Sans KR"/>
              </a:rPr>
              <a:t>분석</a:t>
            </a:r>
            <a:r>
              <a:rPr sz="1050" b="1" i="0" u="none" dirty="0">
                <a:solidFill>
                  <a:srgbClr val="2E3B32"/>
                </a:solidFill>
                <a:latin typeface="Noto Sans KR"/>
              </a:rPr>
              <a:t>:</a:t>
            </a:r>
            <a:r>
              <a:rPr sz="1050" b="0" i="0" u="none" dirty="0">
                <a:solidFill>
                  <a:srgbClr val="2E3B32"/>
                </a:solidFill>
                <a:latin typeface="Noto Sans KR"/>
              </a:rPr>
              <a:t> </a:t>
            </a:r>
            <a:r>
              <a:rPr sz="1050" b="0" i="0" u="none" dirty="0" err="1">
                <a:solidFill>
                  <a:srgbClr val="2E3B32"/>
                </a:solidFill>
                <a:latin typeface="Noto Sans KR"/>
              </a:rPr>
              <a:t>일반야영장</a:t>
            </a:r>
            <a:r>
              <a:rPr sz="1050" b="0" i="0" u="none" dirty="0">
                <a:solidFill>
                  <a:srgbClr val="2E3B32"/>
                </a:solidFill>
                <a:latin typeface="Noto Sans KR"/>
              </a:rPr>
              <a:t>, </a:t>
            </a:r>
            <a:r>
              <a:rPr sz="1050" b="0" i="0" u="none" dirty="0" err="1">
                <a:solidFill>
                  <a:srgbClr val="2E3B32"/>
                </a:solidFill>
                <a:latin typeface="Noto Sans KR"/>
              </a:rPr>
              <a:t>글램핑</a:t>
            </a:r>
            <a:r>
              <a:rPr sz="1050" b="0" i="0" u="none" dirty="0">
                <a:solidFill>
                  <a:srgbClr val="2E3B32"/>
                </a:solidFill>
                <a:latin typeface="Noto Sans KR"/>
              </a:rPr>
              <a:t>, </a:t>
            </a:r>
            <a:r>
              <a:rPr sz="1050" b="0" i="0" u="none" dirty="0" err="1">
                <a:solidFill>
                  <a:srgbClr val="2E3B32"/>
                </a:solidFill>
                <a:latin typeface="Noto Sans KR"/>
              </a:rPr>
              <a:t>카라반</a:t>
            </a:r>
            <a:r>
              <a:rPr sz="1050" b="0" i="0" u="none" dirty="0">
                <a:solidFill>
                  <a:srgbClr val="2E3B32"/>
                </a:solidFill>
                <a:latin typeface="Noto Sans KR"/>
              </a:rPr>
              <a:t>, </a:t>
            </a:r>
            <a:r>
              <a:rPr sz="1050" b="0" i="0" u="none" dirty="0" err="1">
                <a:solidFill>
                  <a:srgbClr val="2E3B32"/>
                </a:solidFill>
                <a:latin typeface="Noto Sans KR"/>
              </a:rPr>
              <a:t>자동차</a:t>
            </a:r>
            <a:r>
              <a:rPr sz="1050" b="0" i="0" u="none" dirty="0">
                <a:solidFill>
                  <a:srgbClr val="2E3B32"/>
                </a:solidFill>
                <a:latin typeface="Noto Sans KR"/>
              </a:rPr>
              <a:t> </a:t>
            </a:r>
            <a:r>
              <a:rPr sz="1050" b="0" i="0" u="none" dirty="0" err="1">
                <a:solidFill>
                  <a:srgbClr val="2E3B32"/>
                </a:solidFill>
                <a:latin typeface="Noto Sans KR"/>
              </a:rPr>
              <a:t>야영장</a:t>
            </a:r>
            <a:r>
              <a:rPr sz="1050" b="0" i="0" u="none" dirty="0">
                <a:solidFill>
                  <a:srgbClr val="2E3B32"/>
                </a:solidFill>
                <a:latin typeface="Noto Sans KR"/>
              </a:rPr>
              <a:t> 등 </a:t>
            </a:r>
            <a:r>
              <a:rPr sz="1050" b="0" i="0" u="none" dirty="0" err="1">
                <a:solidFill>
                  <a:srgbClr val="2E3B32"/>
                </a:solidFill>
                <a:latin typeface="Noto Sans KR"/>
              </a:rPr>
              <a:t>세부</a:t>
            </a:r>
            <a:r>
              <a:rPr sz="1050" b="0" i="0" u="none" dirty="0">
                <a:solidFill>
                  <a:srgbClr val="2E3B32"/>
                </a:solidFill>
                <a:latin typeface="Noto Sans KR"/>
              </a:rPr>
              <a:t> </a:t>
            </a:r>
            <a:r>
              <a:rPr sz="1050" b="0" i="0" u="none" dirty="0" err="1">
                <a:solidFill>
                  <a:srgbClr val="2E3B32"/>
                </a:solidFill>
                <a:latin typeface="Noto Sans KR"/>
              </a:rPr>
              <a:t>업종</a:t>
            </a:r>
            <a:r>
              <a:rPr sz="1050" b="0" i="0" u="none" dirty="0">
                <a:solidFill>
                  <a:srgbClr val="2E3B32"/>
                </a:solidFill>
                <a:latin typeface="Noto Sans KR"/>
              </a:rPr>
              <a:t> </a:t>
            </a:r>
            <a:r>
              <a:rPr sz="1050" b="0" i="0" u="none" dirty="0" err="1">
                <a:solidFill>
                  <a:srgbClr val="2E3B32"/>
                </a:solidFill>
                <a:latin typeface="Noto Sans KR"/>
              </a:rPr>
              <a:t>구분</a:t>
            </a:r>
            <a:endParaRPr sz="1050" b="0" i="0" u="none" dirty="0">
              <a:solidFill>
                <a:srgbClr val="2E3B32"/>
              </a:solidFill>
              <a:latin typeface="Noto Sans KR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6624637" y="3626941"/>
            <a:ext cx="4776787" cy="18601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050" b="1" i="0" u="none" dirty="0" err="1">
                <a:solidFill>
                  <a:srgbClr val="2E3B32"/>
                </a:solidFill>
                <a:latin typeface="Noto Sans KR"/>
              </a:rPr>
              <a:t>보유</a:t>
            </a:r>
            <a:r>
              <a:rPr sz="1050" b="1" i="0" u="none" dirty="0">
                <a:solidFill>
                  <a:srgbClr val="2E3B32"/>
                </a:solidFill>
                <a:latin typeface="Noto Sans KR"/>
              </a:rPr>
              <a:t> </a:t>
            </a:r>
            <a:r>
              <a:rPr sz="1050" b="1" i="0" u="none" dirty="0" err="1">
                <a:solidFill>
                  <a:srgbClr val="2E3B32"/>
                </a:solidFill>
                <a:latin typeface="Noto Sans KR"/>
              </a:rPr>
              <a:t>인프라</a:t>
            </a:r>
            <a:r>
              <a:rPr sz="1050" b="1" i="0" u="none" dirty="0">
                <a:solidFill>
                  <a:srgbClr val="2E3B32"/>
                </a:solidFill>
                <a:latin typeface="Noto Sans KR"/>
              </a:rPr>
              <a:t> </a:t>
            </a:r>
            <a:r>
              <a:rPr sz="1050" b="1" i="0" u="none" dirty="0" err="1">
                <a:solidFill>
                  <a:srgbClr val="2E3B32"/>
                </a:solidFill>
                <a:latin typeface="Noto Sans KR"/>
              </a:rPr>
              <a:t>정보</a:t>
            </a:r>
            <a:r>
              <a:rPr sz="1050" b="1" i="0" u="none" dirty="0">
                <a:solidFill>
                  <a:srgbClr val="2E3B32"/>
                </a:solidFill>
                <a:latin typeface="Noto Sans KR"/>
              </a:rPr>
              <a:t>:</a:t>
            </a:r>
            <a:r>
              <a:rPr sz="1050" b="0" i="0" u="none" dirty="0">
                <a:solidFill>
                  <a:srgbClr val="2E3B32"/>
                </a:solidFill>
                <a:latin typeface="Noto Sans KR"/>
              </a:rPr>
              <a:t> </a:t>
            </a:r>
            <a:r>
              <a:rPr sz="1050" b="0" i="0" u="none" dirty="0" err="1">
                <a:solidFill>
                  <a:srgbClr val="2E3B32"/>
                </a:solidFill>
                <a:latin typeface="Noto Sans KR"/>
              </a:rPr>
              <a:t>전기</a:t>
            </a:r>
            <a:r>
              <a:rPr sz="1050" b="0" i="0" u="none" dirty="0">
                <a:solidFill>
                  <a:srgbClr val="2E3B32"/>
                </a:solidFill>
                <a:latin typeface="Noto Sans KR"/>
              </a:rPr>
              <a:t>, </a:t>
            </a:r>
            <a:r>
              <a:rPr sz="1050" b="0" i="0" u="none" dirty="0" err="1">
                <a:solidFill>
                  <a:srgbClr val="2E3B32"/>
                </a:solidFill>
                <a:latin typeface="Noto Sans KR"/>
              </a:rPr>
              <a:t>온수</a:t>
            </a:r>
            <a:r>
              <a:rPr sz="1050" b="0" i="0" u="none" dirty="0">
                <a:solidFill>
                  <a:srgbClr val="2E3B32"/>
                </a:solidFill>
                <a:latin typeface="Noto Sans KR"/>
              </a:rPr>
              <a:t>, </a:t>
            </a:r>
            <a:r>
              <a:rPr sz="1050" b="0" i="0" u="none" dirty="0" err="1">
                <a:solidFill>
                  <a:srgbClr val="2E3B32"/>
                </a:solidFill>
                <a:latin typeface="Noto Sans KR"/>
              </a:rPr>
              <a:t>샤워실</a:t>
            </a:r>
            <a:r>
              <a:rPr sz="1050" b="0" i="0" u="none" dirty="0">
                <a:solidFill>
                  <a:srgbClr val="2E3B32"/>
                </a:solidFill>
                <a:latin typeface="Noto Sans KR"/>
              </a:rPr>
              <a:t>, </a:t>
            </a:r>
            <a:r>
              <a:rPr sz="1050" b="0" i="0" u="none" dirty="0" err="1">
                <a:solidFill>
                  <a:srgbClr val="2E3B32"/>
                </a:solidFill>
                <a:latin typeface="Noto Sans KR"/>
              </a:rPr>
              <a:t>화장실</a:t>
            </a:r>
            <a:r>
              <a:rPr sz="1050" b="0" i="0" u="none" dirty="0">
                <a:solidFill>
                  <a:srgbClr val="2E3B32"/>
                </a:solidFill>
                <a:latin typeface="Noto Sans KR"/>
              </a:rPr>
              <a:t> </a:t>
            </a:r>
            <a:r>
              <a:rPr sz="1050" b="0" i="0" u="none" dirty="0" err="1">
                <a:solidFill>
                  <a:srgbClr val="2E3B32"/>
                </a:solidFill>
                <a:latin typeface="Noto Sans KR"/>
              </a:rPr>
              <a:t>완비</a:t>
            </a:r>
            <a:r>
              <a:rPr sz="1050" b="0" i="0" u="none" dirty="0">
                <a:solidFill>
                  <a:srgbClr val="2E3B32"/>
                </a:solidFill>
                <a:latin typeface="Noto Sans KR"/>
              </a:rPr>
              <a:t> </a:t>
            </a:r>
            <a:r>
              <a:rPr sz="1050" b="0" i="0" u="none" dirty="0" err="1">
                <a:solidFill>
                  <a:srgbClr val="2E3B32"/>
                </a:solidFill>
                <a:latin typeface="Noto Sans KR"/>
              </a:rPr>
              <a:t>여부</a:t>
            </a:r>
            <a:r>
              <a:rPr sz="1050" b="0" i="0" u="none" dirty="0">
                <a:solidFill>
                  <a:srgbClr val="2E3B32"/>
                </a:solidFill>
                <a:latin typeface="Noto Sans KR"/>
              </a:rPr>
              <a:t> </a:t>
            </a:r>
            <a:r>
              <a:rPr sz="1050" b="0" i="0" u="none" dirty="0" err="1">
                <a:solidFill>
                  <a:srgbClr val="2E3B32"/>
                </a:solidFill>
                <a:latin typeface="Noto Sans KR"/>
              </a:rPr>
              <a:t>환경</a:t>
            </a:r>
            <a:r>
              <a:rPr sz="1050" b="0" i="0" u="none" dirty="0">
                <a:solidFill>
                  <a:srgbClr val="2E3B32"/>
                </a:solidFill>
                <a:latin typeface="Noto Sans KR"/>
              </a:rPr>
              <a:t> 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4637" y="3922216"/>
            <a:ext cx="4776787" cy="18601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050" b="1" i="0" u="none" dirty="0" err="1">
                <a:solidFill>
                  <a:srgbClr val="2E3B32"/>
                </a:solidFill>
                <a:latin typeface="Noto Sans KR"/>
              </a:rPr>
              <a:t>영업</a:t>
            </a:r>
            <a:r>
              <a:rPr sz="1050" b="1" i="0" u="none" dirty="0">
                <a:solidFill>
                  <a:srgbClr val="2E3B32"/>
                </a:solidFill>
                <a:latin typeface="Noto Sans KR"/>
              </a:rPr>
              <a:t> </a:t>
            </a:r>
            <a:r>
              <a:rPr sz="1050" b="1" i="0" u="none" dirty="0" err="1">
                <a:solidFill>
                  <a:srgbClr val="2E3B32"/>
                </a:solidFill>
                <a:latin typeface="Noto Sans KR"/>
              </a:rPr>
              <a:t>시설</a:t>
            </a:r>
            <a:r>
              <a:rPr sz="1050" b="1" i="0" u="none" dirty="0">
                <a:solidFill>
                  <a:srgbClr val="2E3B32"/>
                </a:solidFill>
                <a:latin typeface="Noto Sans KR"/>
              </a:rPr>
              <a:t> </a:t>
            </a:r>
            <a:r>
              <a:rPr sz="1050" b="1" i="0" u="none" dirty="0" err="1">
                <a:solidFill>
                  <a:srgbClr val="2E3B32"/>
                </a:solidFill>
                <a:latin typeface="Noto Sans KR"/>
              </a:rPr>
              <a:t>규모</a:t>
            </a:r>
            <a:r>
              <a:rPr sz="1050" b="1" i="0" u="none" dirty="0">
                <a:solidFill>
                  <a:srgbClr val="2E3B32"/>
                </a:solidFill>
                <a:latin typeface="Noto Sans KR"/>
              </a:rPr>
              <a:t>:</a:t>
            </a:r>
            <a:r>
              <a:rPr sz="1050" b="0" i="0" u="none" dirty="0">
                <a:solidFill>
                  <a:srgbClr val="2E3B32"/>
                </a:solidFill>
                <a:latin typeface="Noto Sans KR"/>
              </a:rPr>
              <a:t> </a:t>
            </a:r>
            <a:r>
              <a:rPr sz="1050" b="0" i="0" u="none" dirty="0" err="1">
                <a:solidFill>
                  <a:srgbClr val="2E3B32"/>
                </a:solidFill>
                <a:latin typeface="Noto Sans KR"/>
              </a:rPr>
              <a:t>데크</a:t>
            </a:r>
            <a:r>
              <a:rPr sz="1050" b="0" i="0" u="none" dirty="0">
                <a:solidFill>
                  <a:srgbClr val="2E3B32"/>
                </a:solidFill>
                <a:latin typeface="Noto Sans KR"/>
              </a:rPr>
              <a:t> , </a:t>
            </a:r>
            <a:r>
              <a:rPr sz="1050" b="0" i="0" u="none" dirty="0" err="1">
                <a:solidFill>
                  <a:srgbClr val="2E3B32"/>
                </a:solidFill>
                <a:latin typeface="Noto Sans KR"/>
              </a:rPr>
              <a:t>파쇄석</a:t>
            </a:r>
            <a:r>
              <a:rPr sz="1050" b="0" i="0" u="none" dirty="0">
                <a:solidFill>
                  <a:srgbClr val="2E3B32"/>
                </a:solidFill>
                <a:latin typeface="Noto Sans KR"/>
              </a:rPr>
              <a:t> , </a:t>
            </a:r>
            <a:r>
              <a:rPr sz="1050" b="0" i="0" u="none" dirty="0" err="1">
                <a:solidFill>
                  <a:srgbClr val="2E3B32"/>
                </a:solidFill>
                <a:latin typeface="Noto Sans KR"/>
              </a:rPr>
              <a:t>카라반</a:t>
            </a:r>
            <a:r>
              <a:rPr sz="1050" b="0" i="0" u="none" dirty="0">
                <a:solidFill>
                  <a:srgbClr val="2E3B32"/>
                </a:solidFill>
                <a:latin typeface="Noto Sans KR"/>
              </a:rPr>
              <a:t> </a:t>
            </a:r>
            <a:r>
              <a:rPr sz="1050" b="0" i="0" u="none" dirty="0" err="1">
                <a:solidFill>
                  <a:srgbClr val="2E3B32"/>
                </a:solidFill>
                <a:latin typeface="Noto Sans KR"/>
              </a:rPr>
              <a:t>사이트</a:t>
            </a:r>
            <a:r>
              <a:rPr sz="1050" b="0" i="0" u="none" dirty="0">
                <a:solidFill>
                  <a:srgbClr val="2E3B32"/>
                </a:solidFill>
                <a:latin typeface="Noto Sans KR"/>
              </a:rPr>
              <a:t> 총 </a:t>
            </a:r>
            <a:r>
              <a:rPr sz="1050" b="0" i="0" u="none" dirty="0" err="1">
                <a:solidFill>
                  <a:srgbClr val="2E3B32"/>
                </a:solidFill>
                <a:latin typeface="Noto Sans KR"/>
              </a:rPr>
              <a:t>공급</a:t>
            </a:r>
            <a:r>
              <a:rPr sz="1050" b="0" i="0" u="none" dirty="0">
                <a:solidFill>
                  <a:srgbClr val="2E3B32"/>
                </a:solidFill>
                <a:latin typeface="Noto Sans KR"/>
              </a:rPr>
              <a:t> </a:t>
            </a:r>
            <a:r>
              <a:rPr sz="1050" b="0" i="0" u="none" dirty="0" err="1">
                <a:solidFill>
                  <a:srgbClr val="2E3B32"/>
                </a:solidFill>
                <a:latin typeface="Noto Sans KR"/>
              </a:rPr>
              <a:t>수량</a:t>
            </a:r>
            <a:endParaRPr sz="1050" b="0" i="0" u="none" dirty="0">
              <a:solidFill>
                <a:srgbClr val="2E3B32"/>
              </a:solidFill>
              <a:latin typeface="Noto Sans KR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624637" y="4217491"/>
            <a:ext cx="4776787" cy="2000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050" b="1" i="0" u="none">
                <a:solidFill>
                  <a:srgbClr val="2E3B32"/>
                </a:solidFill>
                <a:latin typeface="Noto Sans KR"/>
              </a:rPr>
              <a:t>예약 연계 필드:</a:t>
            </a:r>
            <a:r>
              <a:rPr sz="1050" b="0" i="0" u="none">
                <a:solidFill>
                  <a:srgbClr val="2E3B32"/>
                </a:solidFill>
                <a:latin typeface="Noto Sans KR"/>
              </a:rPr>
              <a:t> 캠핑장 공식 대표사진 및 외부 직접 예약 사이트 이동 URL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8200" y="3336429"/>
            <a:ext cx="5715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1" i="0" u="none">
                <a:solidFill>
                  <a:srgbClr val="E65F2C"/>
                </a:solidFill>
                <a:latin typeface="Noto Sans KR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8200" y="3631704"/>
            <a:ext cx="5715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1" i="0" u="none">
                <a:solidFill>
                  <a:srgbClr val="E65F2C"/>
                </a:solidFill>
                <a:latin typeface="Noto Sans KR"/>
              </a:rPr>
              <a:t>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8200" y="3926979"/>
            <a:ext cx="5715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1" i="0" u="none">
                <a:solidFill>
                  <a:srgbClr val="E65F2C"/>
                </a:solidFill>
                <a:latin typeface="Noto Sans KR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81762" y="3026866"/>
            <a:ext cx="5715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1" i="0" u="none">
                <a:solidFill>
                  <a:srgbClr val="E65F2C"/>
                </a:solidFill>
                <a:latin typeface="Noto Sans KR"/>
              </a:rPr>
              <a:t>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81762" y="3322141"/>
            <a:ext cx="5715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1" i="0" u="none">
                <a:solidFill>
                  <a:srgbClr val="E65F2C"/>
                </a:solidFill>
                <a:latin typeface="Noto Sans KR"/>
              </a:rPr>
              <a:t>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81762" y="3617416"/>
            <a:ext cx="5715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1" i="0" u="none">
                <a:solidFill>
                  <a:srgbClr val="E65F2C"/>
                </a:solidFill>
                <a:latin typeface="Noto Sans KR"/>
              </a:rPr>
              <a:t>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81762" y="3912691"/>
            <a:ext cx="5715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1" i="0" u="none">
                <a:solidFill>
                  <a:srgbClr val="E65F2C"/>
                </a:solidFill>
                <a:latin typeface="Noto Sans KR"/>
              </a:rPr>
              <a:t>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81762" y="4207966"/>
            <a:ext cx="5715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1" i="0" u="none">
                <a:solidFill>
                  <a:srgbClr val="E65F2C"/>
                </a:solidFill>
                <a:latin typeface="Noto Sans KR"/>
              </a:rPr>
              <a:t>•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E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4540448"/>
            <a:ext cx="11049000" cy="104328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4375" y="428625"/>
            <a:ext cx="11451431" cy="342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700"/>
              </a:lnSpc>
            </a:pPr>
            <a:r>
              <a:rPr sz="2250" b="0" i="0" u="none">
                <a:solidFill>
                  <a:srgbClr val="0C3C20"/>
                </a:solidFill>
                <a:latin typeface="Noto Sans KR ExtraBold"/>
              </a:rPr>
              <a:t>2. 데이터 설계: 데이터 및 외부 연계 API 상세 출처</a:t>
            </a:r>
          </a:p>
        </p:txBody>
      </p:sp>
      <p:sp>
        <p:nvSpPr>
          <p:cNvPr id="4" name="Rectangle 3"/>
          <p:cNvSpPr/>
          <p:nvPr/>
        </p:nvSpPr>
        <p:spPr>
          <a:xfrm>
            <a:off x="571500" y="428625"/>
            <a:ext cx="57150" cy="342900"/>
          </a:xfrm>
          <a:prstGeom prst="rect">
            <a:avLst/>
          </a:prstGeom>
          <a:solidFill>
            <a:srgbClr val="E65F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71500" y="1825823"/>
            <a:ext cx="11049000" cy="2571750"/>
          </a:xfrm>
          <a:prstGeom prst="roundRect">
            <a:avLst>
              <a:gd name="adj" fmla="val 0"/>
            </a:avLst>
          </a:prstGeom>
          <a:solidFill>
            <a:srgbClr val="FFFF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25203216"/>
              </p:ext>
            </p:extLst>
          </p:nvPr>
        </p:nvGraphicFramePr>
        <p:xfrm>
          <a:off x="571500" y="1825823"/>
          <a:ext cx="11039473" cy="25717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2857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6372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870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6016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050" b="1" i="0" u="none">
                          <a:solidFill>
                            <a:srgbClr val="FFFFFF"/>
                          </a:solidFill>
                          <a:latin typeface="Noto Sans KR"/>
                        </a:rPr>
                        <a:t>연동 데이터 종류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C3C2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 i="0" u="none">
                          <a:solidFill>
                            <a:srgbClr val="FFFFFF"/>
                          </a:solidFill>
                          <a:latin typeface="Noto Sans KR"/>
                        </a:rPr>
                        <a:t>제공 기관 및 구체적 기술 출처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C3C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 u="none">
                          <a:solidFill>
                            <a:srgbClr val="FFFFFF"/>
                          </a:solidFill>
                          <a:latin typeface="Noto Sans KR"/>
                        </a:rPr>
                        <a:t>수신 형식 (수신방식)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C3C2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 i="0" u="none">
                          <a:solidFill>
                            <a:srgbClr val="FFFFFF"/>
                          </a:solidFill>
                          <a:latin typeface="Noto Sans KR"/>
                        </a:rPr>
                        <a:t>핵심 활용 방식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C3C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012" b="1" i="0" u="none">
                          <a:solidFill>
                            <a:srgbClr val="2E3B32"/>
                          </a:solidFill>
                          <a:latin typeface="Noto Sans KR"/>
                        </a:rPr>
                        <a:t>🏕 캠핑장 전국 데이터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12" b="0" i="0" u="none">
                          <a:solidFill>
                            <a:srgbClr val="2E3B32"/>
                          </a:solidFill>
                          <a:latin typeface="Noto Sans KR"/>
                        </a:rPr>
                        <a:t>공공데이터포털 (data.go.kr) / 한국관광공사 '고캠핑' API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012" b="0" i="0" u="none" dirty="0">
                        <a:solidFill>
                          <a:srgbClr val="2E3B32"/>
                        </a:solidFill>
                        <a:latin typeface="Noto Sans KR"/>
                      </a:endParaRP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12" b="0" i="0" u="none" dirty="0" err="1">
                          <a:solidFill>
                            <a:srgbClr val="2E3B32"/>
                          </a:solidFill>
                          <a:latin typeface="Noto Sans KR"/>
                        </a:rPr>
                        <a:t>전국</a:t>
                      </a:r>
                      <a:r>
                        <a:rPr sz="1012" b="0" i="0" u="none" dirty="0">
                          <a:solidFill>
                            <a:srgbClr val="2E3B32"/>
                          </a:solidFill>
                          <a:latin typeface="Noto Sans KR"/>
                        </a:rPr>
                        <a:t> 3,800개 </a:t>
                      </a:r>
                      <a:r>
                        <a:rPr sz="1012" b="0" i="0" u="none" dirty="0" err="1">
                          <a:solidFill>
                            <a:srgbClr val="2E3B32"/>
                          </a:solidFill>
                          <a:latin typeface="Noto Sans KR"/>
                        </a:rPr>
                        <a:t>캠핑장</a:t>
                      </a:r>
                      <a:r>
                        <a:rPr sz="1012" b="0" i="0" u="none" dirty="0">
                          <a:solidFill>
                            <a:srgbClr val="2E3B32"/>
                          </a:solidFill>
                          <a:latin typeface="Noto Sans KR"/>
                        </a:rPr>
                        <a:t> </a:t>
                      </a:r>
                      <a:r>
                        <a:rPr sz="1012" b="0" i="0" u="none" dirty="0" err="1">
                          <a:solidFill>
                            <a:srgbClr val="2E3B32"/>
                          </a:solidFill>
                          <a:latin typeface="Noto Sans KR"/>
                        </a:rPr>
                        <a:t>기본</a:t>
                      </a:r>
                      <a:r>
                        <a:rPr sz="1012" b="0" i="0" u="none" dirty="0">
                          <a:solidFill>
                            <a:srgbClr val="2E3B32"/>
                          </a:solidFill>
                          <a:latin typeface="Noto Sans KR"/>
                        </a:rPr>
                        <a:t> </a:t>
                      </a:r>
                      <a:r>
                        <a:rPr sz="1012" b="0" i="0" u="none" dirty="0" err="1">
                          <a:solidFill>
                            <a:srgbClr val="2E3B32"/>
                          </a:solidFill>
                          <a:latin typeface="Noto Sans KR"/>
                        </a:rPr>
                        <a:t>프로필</a:t>
                      </a:r>
                      <a:r>
                        <a:rPr sz="1012" b="0" i="0" u="none" dirty="0">
                          <a:solidFill>
                            <a:srgbClr val="2E3B32"/>
                          </a:solidFill>
                          <a:latin typeface="Noto Sans KR"/>
                        </a:rPr>
                        <a:t> </a:t>
                      </a:r>
                      <a:r>
                        <a:rPr sz="1012" b="0" i="0" u="none" dirty="0" err="1">
                          <a:solidFill>
                            <a:srgbClr val="2E3B32"/>
                          </a:solidFill>
                          <a:latin typeface="Noto Sans KR"/>
                        </a:rPr>
                        <a:t>수집</a:t>
                      </a:r>
                      <a:endParaRPr sz="1012" b="0" i="0" u="none" dirty="0">
                        <a:solidFill>
                          <a:srgbClr val="2E3B32"/>
                        </a:solidFill>
                        <a:latin typeface="Noto Sans KR"/>
                      </a:endParaRP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012" b="1" i="0" u="none">
                          <a:solidFill>
                            <a:srgbClr val="2E3B32"/>
                          </a:solidFill>
                          <a:latin typeface="Noto Sans KR"/>
                        </a:rPr>
                        <a:t>🚗 소요시간 및 최적 경로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12" b="0" i="0" u="none">
                          <a:solidFill>
                            <a:srgbClr val="2E3B32"/>
                          </a:solidFill>
                          <a:latin typeface="Noto Sans KR"/>
                        </a:rPr>
                        <a:t>네이버 클라우드 플랫폼 (Maps Directions API)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12" b="0" i="0" u="none" dirty="0">
                          <a:solidFill>
                            <a:srgbClr val="2E3B32"/>
                          </a:solidFill>
                          <a:latin typeface="Noto Sans KR"/>
                        </a:rPr>
                        <a:t>JSON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12" b="0" i="0" u="none" dirty="0" err="1">
                          <a:solidFill>
                            <a:srgbClr val="2E3B32"/>
                          </a:solidFill>
                          <a:latin typeface="Noto Sans KR"/>
                        </a:rPr>
                        <a:t>출발지</a:t>
                      </a:r>
                      <a:r>
                        <a:rPr sz="1012" b="0" i="0" u="none" dirty="0">
                          <a:solidFill>
                            <a:srgbClr val="2E3B32"/>
                          </a:solidFill>
                          <a:latin typeface="Noto Sans KR"/>
                        </a:rPr>
                        <a:t> ➔ </a:t>
                      </a:r>
                      <a:r>
                        <a:rPr sz="1012" b="0" i="0" u="none" dirty="0" err="1">
                          <a:solidFill>
                            <a:srgbClr val="2E3B32"/>
                          </a:solidFill>
                          <a:latin typeface="Noto Sans KR"/>
                        </a:rPr>
                        <a:t>경유</a:t>
                      </a:r>
                      <a:r>
                        <a:rPr sz="1012" b="0" i="0" u="none" dirty="0">
                          <a:solidFill>
                            <a:srgbClr val="2E3B32"/>
                          </a:solidFill>
                          <a:latin typeface="Noto Sans KR"/>
                        </a:rPr>
                        <a:t> </a:t>
                      </a:r>
                      <a:r>
                        <a:rPr sz="1012" b="0" i="0" u="none" dirty="0" err="1">
                          <a:solidFill>
                            <a:srgbClr val="2E3B32"/>
                          </a:solidFill>
                          <a:latin typeface="Noto Sans KR"/>
                        </a:rPr>
                        <a:t>마트</a:t>
                      </a:r>
                      <a:r>
                        <a:rPr sz="1012" b="0" i="0" u="none" dirty="0">
                          <a:solidFill>
                            <a:srgbClr val="2E3B32"/>
                          </a:solidFill>
                          <a:latin typeface="Noto Sans KR"/>
                        </a:rPr>
                        <a:t> ➔ </a:t>
                      </a:r>
                      <a:r>
                        <a:rPr sz="1012" b="0" i="0" u="none" dirty="0" err="1">
                          <a:solidFill>
                            <a:srgbClr val="2E3B32"/>
                          </a:solidFill>
                          <a:latin typeface="Noto Sans KR"/>
                        </a:rPr>
                        <a:t>캠핑장</a:t>
                      </a:r>
                      <a:r>
                        <a:rPr sz="1012" b="0" i="0" u="none" dirty="0">
                          <a:solidFill>
                            <a:srgbClr val="2E3B32"/>
                          </a:solidFill>
                          <a:latin typeface="Noto Sans KR"/>
                        </a:rPr>
                        <a:t> </a:t>
                      </a:r>
                      <a:r>
                        <a:rPr sz="1012" b="0" i="0" u="none" dirty="0" err="1">
                          <a:solidFill>
                            <a:srgbClr val="2E3B32"/>
                          </a:solidFill>
                          <a:latin typeface="Noto Sans KR"/>
                        </a:rPr>
                        <a:t>실시간</a:t>
                      </a:r>
                      <a:r>
                        <a:rPr sz="1012" b="0" i="0" u="none" dirty="0">
                          <a:solidFill>
                            <a:srgbClr val="2E3B32"/>
                          </a:solidFill>
                          <a:latin typeface="Noto Sans KR"/>
                        </a:rPr>
                        <a:t> </a:t>
                      </a:r>
                      <a:r>
                        <a:rPr sz="1012" b="0" i="0" u="none" dirty="0" err="1">
                          <a:solidFill>
                            <a:srgbClr val="2E3B32"/>
                          </a:solidFill>
                          <a:latin typeface="Noto Sans KR"/>
                        </a:rPr>
                        <a:t>시간</a:t>
                      </a:r>
                      <a:r>
                        <a:rPr sz="1012" b="0" i="0" u="none" dirty="0">
                          <a:solidFill>
                            <a:srgbClr val="2E3B32"/>
                          </a:solidFill>
                          <a:latin typeface="Noto Sans KR"/>
                        </a:rPr>
                        <a:t> </a:t>
                      </a:r>
                      <a:r>
                        <a:rPr sz="1012" b="0" i="0" u="none" dirty="0" err="1">
                          <a:solidFill>
                            <a:srgbClr val="2E3B32"/>
                          </a:solidFill>
                          <a:latin typeface="Noto Sans KR"/>
                        </a:rPr>
                        <a:t>계산</a:t>
                      </a:r>
                      <a:endParaRPr sz="1012" b="0" i="0" u="none" dirty="0">
                        <a:solidFill>
                          <a:srgbClr val="2E3B32"/>
                        </a:solidFill>
                        <a:latin typeface="Noto Sans KR"/>
                      </a:endParaRP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012" b="1" i="0" u="none">
                          <a:solidFill>
                            <a:srgbClr val="2E3B32"/>
                          </a:solidFill>
                          <a:latin typeface="Noto Sans KR"/>
                        </a:rPr>
                        <a:t>🛒 중간 장보기 경유지 검색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12" b="0" i="0" u="none">
                          <a:solidFill>
                            <a:srgbClr val="2E3B32"/>
                          </a:solidFill>
                          <a:latin typeface="Noto Sans KR"/>
                        </a:rPr>
                        <a:t>카카오 디벨로퍼스 (Kakao Local Search API)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12" b="0" i="0" u="none">
                          <a:solidFill>
                            <a:srgbClr val="2E3B32"/>
                          </a:solidFill>
                          <a:latin typeface="Noto Sans KR"/>
                        </a:rPr>
                        <a:t>REST API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12" b="0" i="0" u="none">
                          <a:solidFill>
                            <a:srgbClr val="2E3B32"/>
                          </a:solidFill>
                          <a:latin typeface="Noto Sans KR"/>
                        </a:rPr>
                        <a:t>내 주변 대형마트 좌표 자동 추출 및 경로 이식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012" b="1" i="0" u="none">
                          <a:solidFill>
                            <a:srgbClr val="2E3B32"/>
                          </a:solidFill>
                          <a:latin typeface="Noto Sans KR"/>
                        </a:rPr>
                        <a:t>🌤 실시간 주말 날씨 정보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12" b="0" i="0" u="none">
                          <a:solidFill>
                            <a:srgbClr val="2E3B32"/>
                          </a:solidFill>
                          <a:latin typeface="Noto Sans KR"/>
                        </a:rPr>
                        <a:t>Open-Meteo Weather Forecast (무료 기상 정보 서비스)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12" b="0" i="0" u="none">
                          <a:solidFill>
                            <a:srgbClr val="2E3B32"/>
                          </a:solidFill>
                          <a:latin typeface="Noto Sans KR"/>
                        </a:rPr>
                        <a:t>Weather API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12" b="0" i="0" u="none" dirty="0" err="1">
                          <a:solidFill>
                            <a:srgbClr val="2E3B32"/>
                          </a:solidFill>
                          <a:latin typeface="Noto Sans KR"/>
                        </a:rPr>
                        <a:t>해당</a:t>
                      </a:r>
                      <a:r>
                        <a:rPr sz="1012" b="0" i="0" u="none" dirty="0">
                          <a:solidFill>
                            <a:srgbClr val="2E3B32"/>
                          </a:solidFill>
                          <a:latin typeface="Noto Sans KR"/>
                        </a:rPr>
                        <a:t> </a:t>
                      </a:r>
                      <a:r>
                        <a:rPr sz="1012" b="0" i="0" u="none" dirty="0" err="1">
                          <a:solidFill>
                            <a:srgbClr val="2E3B32"/>
                          </a:solidFill>
                          <a:latin typeface="Noto Sans KR"/>
                        </a:rPr>
                        <a:t>캠핑장</a:t>
                      </a:r>
                      <a:r>
                        <a:rPr sz="1012" b="0" i="0" u="none" dirty="0">
                          <a:solidFill>
                            <a:srgbClr val="2E3B32"/>
                          </a:solidFill>
                          <a:latin typeface="Noto Sans KR"/>
                        </a:rPr>
                        <a:t> </a:t>
                      </a:r>
                      <a:r>
                        <a:rPr sz="1012" b="0" i="0" u="none" dirty="0" err="1">
                          <a:solidFill>
                            <a:srgbClr val="2E3B32"/>
                          </a:solidFill>
                          <a:latin typeface="Noto Sans KR"/>
                        </a:rPr>
                        <a:t>위치의</a:t>
                      </a:r>
                      <a:r>
                        <a:rPr sz="1012" b="0" i="0" u="none" dirty="0">
                          <a:solidFill>
                            <a:srgbClr val="2E3B32"/>
                          </a:solidFill>
                          <a:latin typeface="Noto Sans KR"/>
                        </a:rPr>
                        <a:t> 금/토/일 </a:t>
                      </a:r>
                      <a:r>
                        <a:rPr sz="1012" b="0" i="0" u="none" dirty="0" err="1">
                          <a:solidFill>
                            <a:srgbClr val="2E3B32"/>
                          </a:solidFill>
                          <a:latin typeface="Noto Sans KR"/>
                        </a:rPr>
                        <a:t>예보</a:t>
                      </a:r>
                      <a:r>
                        <a:rPr sz="1012" b="0" i="0" u="none" dirty="0">
                          <a:solidFill>
                            <a:srgbClr val="2E3B32"/>
                          </a:solidFill>
                          <a:latin typeface="Noto Sans KR"/>
                        </a:rPr>
                        <a:t> </a:t>
                      </a:r>
                      <a:r>
                        <a:rPr sz="1012" b="0" i="0" u="none" dirty="0" err="1">
                          <a:solidFill>
                            <a:srgbClr val="2E3B32"/>
                          </a:solidFill>
                          <a:latin typeface="Noto Sans KR"/>
                        </a:rPr>
                        <a:t>병합</a:t>
                      </a:r>
                      <a:r>
                        <a:rPr sz="1012" b="0" i="0" u="none" dirty="0">
                          <a:solidFill>
                            <a:srgbClr val="2E3B32"/>
                          </a:solidFill>
                          <a:latin typeface="Noto Sans KR"/>
                        </a:rPr>
                        <a:t> </a:t>
                      </a:r>
                      <a:r>
                        <a:rPr sz="1012" b="0" i="0" u="none" dirty="0" err="1">
                          <a:solidFill>
                            <a:srgbClr val="2E3B32"/>
                          </a:solidFill>
                          <a:latin typeface="Noto Sans KR"/>
                        </a:rPr>
                        <a:t>표출</a:t>
                      </a:r>
                      <a:endParaRPr sz="1012" b="0" i="0" u="none" dirty="0">
                        <a:solidFill>
                          <a:srgbClr val="2E3B32"/>
                        </a:solidFill>
                        <a:latin typeface="Noto Sans KR"/>
                      </a:endParaRP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76262" y="2640210"/>
            <a:ext cx="2428577" cy="9525"/>
          </a:xfrm>
          <a:prstGeom prst="rect">
            <a:avLst/>
          </a:prstGeom>
          <a:solidFill>
            <a:srgbClr val="EE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004839" y="2640210"/>
            <a:ext cx="3863726" cy="9525"/>
          </a:xfrm>
          <a:prstGeom prst="rect">
            <a:avLst/>
          </a:prstGeom>
          <a:solidFill>
            <a:srgbClr val="EE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868566" y="2640210"/>
            <a:ext cx="1987004" cy="9525"/>
          </a:xfrm>
          <a:prstGeom prst="rect">
            <a:avLst/>
          </a:prstGeom>
          <a:solidFill>
            <a:srgbClr val="EE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855571" y="2640210"/>
            <a:ext cx="2760166" cy="9525"/>
          </a:xfrm>
          <a:prstGeom prst="rect">
            <a:avLst/>
          </a:prstGeom>
          <a:solidFill>
            <a:srgbClr val="EE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76262" y="3221235"/>
            <a:ext cx="2428577" cy="9525"/>
          </a:xfrm>
          <a:prstGeom prst="rect">
            <a:avLst/>
          </a:prstGeom>
          <a:solidFill>
            <a:srgbClr val="EE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004839" y="3221235"/>
            <a:ext cx="3863726" cy="9525"/>
          </a:xfrm>
          <a:prstGeom prst="rect">
            <a:avLst/>
          </a:prstGeom>
          <a:solidFill>
            <a:srgbClr val="EE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868566" y="3221235"/>
            <a:ext cx="1987004" cy="9525"/>
          </a:xfrm>
          <a:prstGeom prst="rect">
            <a:avLst/>
          </a:prstGeom>
          <a:solidFill>
            <a:srgbClr val="EE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855571" y="3221235"/>
            <a:ext cx="2760166" cy="9525"/>
          </a:xfrm>
          <a:prstGeom prst="rect">
            <a:avLst/>
          </a:prstGeom>
          <a:solidFill>
            <a:srgbClr val="EE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76262" y="3802260"/>
            <a:ext cx="2428577" cy="9525"/>
          </a:xfrm>
          <a:prstGeom prst="rect">
            <a:avLst/>
          </a:prstGeom>
          <a:solidFill>
            <a:srgbClr val="EE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004839" y="3802260"/>
            <a:ext cx="3863726" cy="9525"/>
          </a:xfrm>
          <a:prstGeom prst="rect">
            <a:avLst/>
          </a:prstGeom>
          <a:solidFill>
            <a:srgbClr val="EE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868566" y="3802260"/>
            <a:ext cx="1987004" cy="9525"/>
          </a:xfrm>
          <a:prstGeom prst="rect">
            <a:avLst/>
          </a:prstGeom>
          <a:solidFill>
            <a:srgbClr val="EE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855571" y="3802260"/>
            <a:ext cx="2760166" cy="9525"/>
          </a:xfrm>
          <a:prstGeom prst="rect">
            <a:avLst/>
          </a:prstGeom>
          <a:solidFill>
            <a:srgbClr val="EE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76262" y="4383285"/>
            <a:ext cx="2428577" cy="9525"/>
          </a:xfrm>
          <a:prstGeom prst="rect">
            <a:avLst/>
          </a:prstGeom>
          <a:solidFill>
            <a:srgbClr val="EE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3004839" y="4383285"/>
            <a:ext cx="3863726" cy="9525"/>
          </a:xfrm>
          <a:prstGeom prst="rect">
            <a:avLst/>
          </a:prstGeom>
          <a:solidFill>
            <a:srgbClr val="EE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868566" y="4383285"/>
            <a:ext cx="1987004" cy="9525"/>
          </a:xfrm>
          <a:prstGeom prst="rect">
            <a:avLst/>
          </a:prstGeom>
          <a:solidFill>
            <a:srgbClr val="EE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8855571" y="4383285"/>
            <a:ext cx="2760166" cy="9525"/>
          </a:xfrm>
          <a:prstGeom prst="rect">
            <a:avLst/>
          </a:prstGeom>
          <a:solidFill>
            <a:srgbClr val="EE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63215" y="4683323"/>
            <a:ext cx="5061346" cy="1714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75" b="0" i="0" u="none">
                <a:solidFill>
                  <a:srgbClr val="E65F2C"/>
                </a:solidFill>
                <a:latin typeface="Noto Sans KR ExtraBold"/>
              </a:rPr>
              <a:t>수집 특징 및 비용 조건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9625" y="4902398"/>
            <a:ext cx="5214937" cy="5384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413"/>
              </a:lnSpc>
            </a:pPr>
            <a:r>
              <a:rPr sz="975" b="0" i="0" u="none" dirty="0" err="1">
                <a:solidFill>
                  <a:srgbClr val="4A4230"/>
                </a:solidFill>
                <a:latin typeface="Noto Sans KR"/>
              </a:rPr>
              <a:t>네이버</a:t>
            </a:r>
            <a:r>
              <a:rPr sz="975" b="0" i="0" u="none" dirty="0">
                <a:solidFill>
                  <a:srgbClr val="4A4230"/>
                </a:solidFill>
                <a:latin typeface="Noto Sans KR"/>
              </a:rPr>
              <a:t> </a:t>
            </a:r>
            <a:r>
              <a:rPr sz="975" b="0" i="0" u="none" dirty="0" err="1">
                <a:solidFill>
                  <a:srgbClr val="4A4230"/>
                </a:solidFill>
                <a:latin typeface="Noto Sans KR"/>
              </a:rPr>
              <a:t>클라우드는</a:t>
            </a:r>
            <a:r>
              <a:rPr sz="975" b="0" i="0" u="none" dirty="0">
                <a:solidFill>
                  <a:srgbClr val="4A4230"/>
                </a:solidFill>
                <a:latin typeface="Noto Sans KR"/>
              </a:rPr>
              <a:t> API </a:t>
            </a:r>
            <a:r>
              <a:rPr sz="975" b="0" i="0" u="none" dirty="0" err="1">
                <a:solidFill>
                  <a:srgbClr val="4A4230"/>
                </a:solidFill>
                <a:latin typeface="Noto Sans KR"/>
              </a:rPr>
              <a:t>신청</a:t>
            </a:r>
            <a:r>
              <a:rPr sz="975" b="0" i="0" u="none" dirty="0">
                <a:solidFill>
                  <a:srgbClr val="4A4230"/>
                </a:solidFill>
                <a:latin typeface="Noto Sans KR"/>
              </a:rPr>
              <a:t> 후 </a:t>
            </a:r>
            <a:r>
              <a:rPr sz="975" b="0" i="0" u="none" dirty="0" err="1">
                <a:solidFill>
                  <a:srgbClr val="4A4230"/>
                </a:solidFill>
                <a:latin typeface="Noto Sans KR"/>
              </a:rPr>
              <a:t>클라이언트</a:t>
            </a:r>
            <a:r>
              <a:rPr sz="975" b="0" i="0" u="none" dirty="0">
                <a:solidFill>
                  <a:srgbClr val="4A4230"/>
                </a:solidFill>
                <a:latin typeface="Noto Sans KR"/>
              </a:rPr>
              <a:t> ID 및 Secret </a:t>
            </a:r>
            <a:r>
              <a:rPr sz="975" b="0" i="0" u="none" dirty="0" err="1">
                <a:solidFill>
                  <a:srgbClr val="4A4230"/>
                </a:solidFill>
                <a:latin typeface="Noto Sans KR"/>
              </a:rPr>
              <a:t>발급을</a:t>
            </a:r>
            <a:r>
              <a:rPr sz="975" b="0" i="0" u="none" dirty="0">
                <a:solidFill>
                  <a:srgbClr val="4A4230"/>
                </a:solidFill>
                <a:latin typeface="Noto Sans KR"/>
              </a:rPr>
              <a:t> </a:t>
            </a:r>
            <a:r>
              <a:rPr sz="975" b="0" i="0" u="none" dirty="0" err="1">
                <a:solidFill>
                  <a:srgbClr val="4A4230"/>
                </a:solidFill>
                <a:latin typeface="Noto Sans KR"/>
              </a:rPr>
              <a:t>통해</a:t>
            </a:r>
            <a:r>
              <a:rPr sz="975" b="0" i="0" u="none" dirty="0">
                <a:solidFill>
                  <a:srgbClr val="4A4230"/>
                </a:solidFill>
                <a:latin typeface="Noto Sans KR"/>
              </a:rPr>
              <a:t> </a:t>
            </a:r>
            <a:r>
              <a:rPr sz="975" b="0" i="0" u="none" dirty="0" err="1">
                <a:solidFill>
                  <a:srgbClr val="4A4230"/>
                </a:solidFill>
                <a:latin typeface="Noto Sans KR"/>
              </a:rPr>
              <a:t>상호</a:t>
            </a:r>
            <a:r>
              <a:rPr sz="975" b="0" i="0" u="none" dirty="0">
                <a:solidFill>
                  <a:srgbClr val="4A4230"/>
                </a:solidFill>
                <a:latin typeface="Noto Sans KR"/>
              </a:rPr>
              <a:t> </a:t>
            </a:r>
            <a:r>
              <a:rPr sz="975" b="0" i="0" u="none" dirty="0" err="1">
                <a:solidFill>
                  <a:srgbClr val="4A4230"/>
                </a:solidFill>
                <a:latin typeface="Noto Sans KR"/>
              </a:rPr>
              <a:t>유기적</a:t>
            </a:r>
            <a:r>
              <a:rPr sz="975" b="0" i="0" u="none" dirty="0">
                <a:solidFill>
                  <a:srgbClr val="4A4230"/>
                </a:solidFill>
                <a:latin typeface="Noto Sans KR"/>
              </a:rPr>
              <a:t> </a:t>
            </a:r>
            <a:r>
              <a:rPr sz="975" b="0" i="0" u="none" dirty="0" err="1">
                <a:solidFill>
                  <a:srgbClr val="4A4230"/>
                </a:solidFill>
                <a:latin typeface="Noto Sans KR"/>
              </a:rPr>
              <a:t>암호화</a:t>
            </a:r>
            <a:r>
              <a:rPr sz="975" b="0" i="0" u="none" dirty="0">
                <a:solidFill>
                  <a:srgbClr val="4A4230"/>
                </a:solidFill>
                <a:latin typeface="Noto Sans KR"/>
              </a:rPr>
              <a:t> </a:t>
            </a:r>
            <a:r>
              <a:rPr sz="975" b="0" i="0" u="none" dirty="0" err="1">
                <a:solidFill>
                  <a:srgbClr val="4A4230"/>
                </a:solidFill>
                <a:latin typeface="Noto Sans KR"/>
              </a:rPr>
              <a:t>전송을</a:t>
            </a:r>
            <a:r>
              <a:rPr sz="975" b="0" i="0" u="none" dirty="0">
                <a:solidFill>
                  <a:srgbClr val="4A4230"/>
                </a:solidFill>
                <a:latin typeface="Noto Sans KR"/>
              </a:rPr>
              <a:t> </a:t>
            </a:r>
            <a:r>
              <a:rPr sz="975" b="0" i="0" u="none" dirty="0" err="1">
                <a:solidFill>
                  <a:srgbClr val="4A4230"/>
                </a:solidFill>
                <a:latin typeface="Noto Sans KR"/>
              </a:rPr>
              <a:t>유지하며</a:t>
            </a:r>
            <a:r>
              <a:rPr sz="975" b="0" i="0" u="none" dirty="0">
                <a:solidFill>
                  <a:srgbClr val="4A4230"/>
                </a:solidFill>
                <a:latin typeface="Noto Sans KR"/>
              </a:rPr>
              <a:t>, Open-</a:t>
            </a:r>
            <a:r>
              <a:rPr sz="975" b="0" i="0" u="none" dirty="0" err="1">
                <a:solidFill>
                  <a:srgbClr val="4A4230"/>
                </a:solidFill>
                <a:latin typeface="Noto Sans KR"/>
              </a:rPr>
              <a:t>Meteo는</a:t>
            </a:r>
            <a:r>
              <a:rPr sz="975" b="0" i="0" u="none" dirty="0">
                <a:solidFill>
                  <a:srgbClr val="4A4230"/>
                </a:solidFill>
                <a:latin typeface="Noto Sans KR"/>
              </a:rPr>
              <a:t> </a:t>
            </a:r>
            <a:r>
              <a:rPr sz="975" b="0" i="0" u="none" dirty="0" err="1">
                <a:solidFill>
                  <a:srgbClr val="4A4230"/>
                </a:solidFill>
                <a:latin typeface="Noto Sans KR"/>
              </a:rPr>
              <a:t>별도</a:t>
            </a:r>
            <a:r>
              <a:rPr sz="975" b="0" i="0" u="none" dirty="0">
                <a:solidFill>
                  <a:srgbClr val="4A4230"/>
                </a:solidFill>
                <a:latin typeface="Noto Sans KR"/>
              </a:rPr>
              <a:t> </a:t>
            </a:r>
            <a:r>
              <a:rPr sz="975" b="0" i="0" u="none" dirty="0" err="1">
                <a:solidFill>
                  <a:srgbClr val="4A4230"/>
                </a:solidFill>
                <a:latin typeface="Noto Sans KR"/>
              </a:rPr>
              <a:t>키가</a:t>
            </a:r>
            <a:r>
              <a:rPr sz="975" b="0" i="0" u="none" dirty="0">
                <a:solidFill>
                  <a:srgbClr val="4A4230"/>
                </a:solidFill>
                <a:latin typeface="Noto Sans KR"/>
              </a:rPr>
              <a:t> </a:t>
            </a:r>
            <a:r>
              <a:rPr sz="975" b="0" i="0" u="none" dirty="0" err="1">
                <a:solidFill>
                  <a:srgbClr val="4A4230"/>
                </a:solidFill>
                <a:latin typeface="Noto Sans KR"/>
              </a:rPr>
              <a:t>필요</a:t>
            </a:r>
            <a:r>
              <a:rPr sz="975" b="0" i="0" u="none" dirty="0">
                <a:solidFill>
                  <a:srgbClr val="4A4230"/>
                </a:solidFill>
                <a:latin typeface="Noto Sans KR"/>
              </a:rPr>
              <a:t> </a:t>
            </a:r>
            <a:r>
              <a:rPr sz="975" b="0" i="0" u="none" dirty="0" err="1">
                <a:solidFill>
                  <a:srgbClr val="4A4230"/>
                </a:solidFill>
                <a:latin typeface="Noto Sans KR"/>
              </a:rPr>
              <a:t>없는</a:t>
            </a:r>
            <a:r>
              <a:rPr sz="975" b="0" i="0" u="none" dirty="0">
                <a:solidFill>
                  <a:srgbClr val="4A4230"/>
                </a:solidFill>
                <a:latin typeface="Noto Sans KR"/>
              </a:rPr>
              <a:t> </a:t>
            </a:r>
            <a:r>
              <a:rPr sz="975" b="0" i="0" u="none" dirty="0" err="1">
                <a:solidFill>
                  <a:srgbClr val="4A4230"/>
                </a:solidFill>
                <a:latin typeface="Noto Sans KR"/>
              </a:rPr>
              <a:t>완전</a:t>
            </a:r>
            <a:r>
              <a:rPr sz="975" b="0" i="0" u="none" dirty="0">
                <a:solidFill>
                  <a:srgbClr val="4A4230"/>
                </a:solidFill>
                <a:latin typeface="Noto Sans KR"/>
              </a:rPr>
              <a:t> </a:t>
            </a:r>
            <a:r>
              <a:rPr sz="975" b="0" i="0" u="none" dirty="0" err="1">
                <a:solidFill>
                  <a:srgbClr val="4A4230"/>
                </a:solidFill>
                <a:latin typeface="Noto Sans KR"/>
              </a:rPr>
              <a:t>개방형</a:t>
            </a:r>
            <a:r>
              <a:rPr sz="975" b="0" i="0" u="none" dirty="0">
                <a:solidFill>
                  <a:srgbClr val="4A4230"/>
                </a:solidFill>
                <a:latin typeface="Noto Sans KR"/>
              </a:rPr>
              <a:t> </a:t>
            </a:r>
            <a:r>
              <a:rPr sz="975" b="0" i="0" u="none" dirty="0" err="1">
                <a:solidFill>
                  <a:srgbClr val="4A4230"/>
                </a:solidFill>
                <a:latin typeface="Noto Sans KR"/>
              </a:rPr>
              <a:t>API로</a:t>
            </a:r>
            <a:r>
              <a:rPr sz="975" b="0" i="0" u="none" dirty="0">
                <a:solidFill>
                  <a:srgbClr val="4A4230"/>
                </a:solidFill>
                <a:latin typeface="Noto Sans KR"/>
              </a:rPr>
              <a:t> </a:t>
            </a:r>
            <a:r>
              <a:rPr sz="975" b="0" i="0" u="none" dirty="0" err="1">
                <a:solidFill>
                  <a:srgbClr val="4A4230"/>
                </a:solidFill>
                <a:latin typeface="Noto Sans KR"/>
              </a:rPr>
              <a:t>트래픽</a:t>
            </a:r>
            <a:r>
              <a:rPr sz="975" b="0" i="0" u="none" dirty="0">
                <a:solidFill>
                  <a:srgbClr val="4A4230"/>
                </a:solidFill>
                <a:latin typeface="Noto Sans KR"/>
              </a:rPr>
              <a:t> </a:t>
            </a:r>
            <a:r>
              <a:rPr sz="975" b="0" i="0" u="none" dirty="0" err="1">
                <a:solidFill>
                  <a:srgbClr val="4A4230"/>
                </a:solidFill>
                <a:latin typeface="Noto Sans KR"/>
              </a:rPr>
              <a:t>유연성을</a:t>
            </a:r>
            <a:r>
              <a:rPr sz="975" b="0" i="0" u="none" dirty="0">
                <a:solidFill>
                  <a:srgbClr val="4A4230"/>
                </a:solidFill>
                <a:latin typeface="Noto Sans KR"/>
              </a:rPr>
              <a:t> </a:t>
            </a:r>
            <a:r>
              <a:rPr sz="975" b="0" i="0" u="none" dirty="0" err="1">
                <a:solidFill>
                  <a:srgbClr val="4A4230"/>
                </a:solidFill>
                <a:latin typeface="Noto Sans KR"/>
              </a:rPr>
              <a:t>부여했습니다</a:t>
            </a:r>
            <a:r>
              <a:rPr sz="975" b="0" i="0" u="none" dirty="0">
                <a:solidFill>
                  <a:srgbClr val="4A4230"/>
                </a:solidFill>
                <a:latin typeface="Noto Sans KR"/>
              </a:rPr>
              <a:t>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8653" y="4683323"/>
            <a:ext cx="5061346" cy="1714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75" b="0" i="0" u="none">
                <a:solidFill>
                  <a:srgbClr val="E65F2C"/>
                </a:solidFill>
                <a:latin typeface="Noto Sans KR ExtraBold"/>
              </a:rPr>
              <a:t>비용 리스크 사전 관리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15062" y="4902398"/>
            <a:ext cx="5214937" cy="1640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413"/>
              </a:lnSpc>
            </a:pPr>
            <a:r>
              <a:rPr sz="975" b="0" i="0" u="none" dirty="0" err="1">
                <a:solidFill>
                  <a:srgbClr val="4A4230"/>
                </a:solidFill>
                <a:latin typeface="Noto Sans KR"/>
              </a:rPr>
              <a:t>제시된</a:t>
            </a:r>
            <a:r>
              <a:rPr sz="975" b="0" i="0" u="none" dirty="0">
                <a:solidFill>
                  <a:srgbClr val="4A4230"/>
                </a:solidFill>
                <a:latin typeface="Noto Sans KR"/>
              </a:rPr>
              <a:t> </a:t>
            </a:r>
            <a:r>
              <a:rPr sz="975" b="0" i="0" u="none" dirty="0" err="1">
                <a:solidFill>
                  <a:srgbClr val="4A4230"/>
                </a:solidFill>
                <a:latin typeface="Noto Sans KR"/>
              </a:rPr>
              <a:t>모든</a:t>
            </a:r>
            <a:r>
              <a:rPr sz="975" b="0" i="0" u="none" dirty="0">
                <a:solidFill>
                  <a:srgbClr val="4A4230"/>
                </a:solidFill>
                <a:latin typeface="Noto Sans KR"/>
              </a:rPr>
              <a:t> </a:t>
            </a:r>
            <a:r>
              <a:rPr sz="975" b="0" i="0" u="none" dirty="0" err="1">
                <a:solidFill>
                  <a:srgbClr val="4A4230"/>
                </a:solidFill>
                <a:latin typeface="Noto Sans KR"/>
              </a:rPr>
              <a:t>데이터</a:t>
            </a:r>
            <a:r>
              <a:rPr lang="ko-KR" altLang="en-US" sz="975" dirty="0">
                <a:solidFill>
                  <a:srgbClr val="4A4230"/>
                </a:solidFill>
                <a:latin typeface="Noto Sans KR"/>
              </a:rPr>
              <a:t>는</a:t>
            </a:r>
            <a:r>
              <a:rPr sz="975" b="0" i="0" u="none" dirty="0">
                <a:solidFill>
                  <a:srgbClr val="4A4230"/>
                </a:solidFill>
                <a:latin typeface="Noto Sans KR"/>
              </a:rPr>
              <a:t> </a:t>
            </a:r>
            <a:r>
              <a:rPr sz="975" b="1" i="0" u="none" dirty="0">
                <a:solidFill>
                  <a:srgbClr val="4A4230"/>
                </a:solidFill>
                <a:latin typeface="Noto Sans KR"/>
              </a:rPr>
              <a:t>100% </a:t>
            </a:r>
            <a:r>
              <a:rPr sz="975" b="1" i="0" u="none" dirty="0" err="1">
                <a:solidFill>
                  <a:srgbClr val="4A4230"/>
                </a:solidFill>
                <a:latin typeface="Noto Sans KR"/>
              </a:rPr>
              <a:t>무료</a:t>
            </a:r>
            <a:r>
              <a:rPr sz="975" b="1" i="0" u="none" dirty="0">
                <a:solidFill>
                  <a:srgbClr val="4A4230"/>
                </a:solidFill>
                <a:latin typeface="Noto Sans KR"/>
              </a:rPr>
              <a:t> </a:t>
            </a:r>
            <a:r>
              <a:rPr lang="ko-KR" altLang="en-US" sz="975" b="1" dirty="0">
                <a:solidFill>
                  <a:srgbClr val="4A4230"/>
                </a:solidFill>
                <a:latin typeface="Noto Sans KR"/>
              </a:rPr>
              <a:t>한도</a:t>
            </a:r>
            <a:r>
              <a:rPr sz="975" b="0" i="0" u="none" dirty="0">
                <a:solidFill>
                  <a:srgbClr val="4A4230"/>
                </a:solidFill>
                <a:latin typeface="Noto Sans KR"/>
              </a:rPr>
              <a:t> </a:t>
            </a:r>
            <a:r>
              <a:rPr sz="975" b="0" i="0" u="none" dirty="0" err="1">
                <a:solidFill>
                  <a:srgbClr val="4A4230"/>
                </a:solidFill>
                <a:latin typeface="Noto Sans KR"/>
              </a:rPr>
              <a:t>범위</a:t>
            </a:r>
            <a:r>
              <a:rPr sz="975" b="0" i="0" u="none" dirty="0">
                <a:solidFill>
                  <a:srgbClr val="4A4230"/>
                </a:solidFill>
                <a:latin typeface="Noto Sans KR"/>
              </a:rPr>
              <a:t> </a:t>
            </a:r>
            <a:r>
              <a:rPr sz="975" b="0" i="0" u="none" dirty="0" err="1">
                <a:solidFill>
                  <a:srgbClr val="4A4230"/>
                </a:solidFill>
                <a:latin typeface="Noto Sans KR"/>
              </a:rPr>
              <a:t>내에서</a:t>
            </a:r>
            <a:r>
              <a:rPr sz="975" b="0" i="0" u="none" dirty="0">
                <a:solidFill>
                  <a:srgbClr val="4A4230"/>
                </a:solidFill>
                <a:latin typeface="Noto Sans KR"/>
              </a:rPr>
              <a:t> </a:t>
            </a:r>
            <a:r>
              <a:rPr sz="975" b="0" i="0" u="none" dirty="0" err="1">
                <a:solidFill>
                  <a:srgbClr val="4A4230"/>
                </a:solidFill>
                <a:latin typeface="Noto Sans KR"/>
              </a:rPr>
              <a:t>완벽하게</a:t>
            </a:r>
            <a:r>
              <a:rPr sz="975" b="0" i="0" u="none" dirty="0">
                <a:solidFill>
                  <a:srgbClr val="4A4230"/>
                </a:solidFill>
                <a:latin typeface="Noto Sans KR"/>
              </a:rPr>
              <a:t> </a:t>
            </a:r>
            <a:r>
              <a:rPr sz="975" b="0" i="0" u="none" dirty="0" err="1">
                <a:solidFill>
                  <a:srgbClr val="4A4230"/>
                </a:solidFill>
                <a:latin typeface="Noto Sans KR"/>
              </a:rPr>
              <a:t>구동할</a:t>
            </a:r>
            <a:r>
              <a:rPr sz="975" b="0" i="0" u="none" dirty="0">
                <a:solidFill>
                  <a:srgbClr val="4A4230"/>
                </a:solidFill>
                <a:latin typeface="Noto Sans KR"/>
              </a:rPr>
              <a:t> 수 </a:t>
            </a:r>
            <a:r>
              <a:rPr sz="975" b="0" i="0" u="none" dirty="0" err="1">
                <a:solidFill>
                  <a:srgbClr val="4A4230"/>
                </a:solidFill>
                <a:latin typeface="Noto Sans KR"/>
              </a:rPr>
              <a:t>있도록</a:t>
            </a:r>
            <a:r>
              <a:rPr lang="ko-KR" altLang="en-US" sz="975" b="0" i="0" u="none" dirty="0">
                <a:solidFill>
                  <a:srgbClr val="4A4230"/>
                </a:solidFill>
                <a:latin typeface="Noto Sans KR"/>
              </a:rPr>
              <a:t> 설</a:t>
            </a:r>
            <a:r>
              <a:rPr sz="975" b="0" i="0" u="none" dirty="0" err="1">
                <a:solidFill>
                  <a:srgbClr val="4A4230"/>
                </a:solidFill>
                <a:latin typeface="Noto Sans KR"/>
              </a:rPr>
              <a:t>계되었</a:t>
            </a:r>
            <a:r>
              <a:rPr lang="ko-KR" altLang="en-US" sz="975" b="0" i="0" u="none" dirty="0">
                <a:solidFill>
                  <a:srgbClr val="4A4230"/>
                </a:solidFill>
                <a:latin typeface="Noto Sans KR"/>
              </a:rPr>
              <a:t>습니다</a:t>
            </a:r>
            <a:r>
              <a:rPr lang="en-US" altLang="ko-KR" sz="975" b="0" i="0" u="none" dirty="0">
                <a:solidFill>
                  <a:srgbClr val="4A4230"/>
                </a:solidFill>
                <a:latin typeface="Noto Sans KR"/>
              </a:rPr>
              <a:t>.</a:t>
            </a:r>
            <a:endParaRPr sz="975" b="0" i="0" u="none" dirty="0">
              <a:solidFill>
                <a:srgbClr val="4A4230"/>
              </a:solidFill>
              <a:latin typeface="Noto Sans KR"/>
            </a:endParaRPr>
          </a:p>
        </p:txBody>
      </p:sp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5205" y="2343447"/>
            <a:ext cx="1143000" cy="257175"/>
          </a:xfrm>
          <a:prstGeom prst="rect">
            <a:avLst/>
          </a:prstGeom>
        </p:spPr>
      </p:pic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45205" y="2914947"/>
            <a:ext cx="1149613" cy="258663"/>
          </a:xfrm>
          <a:prstGeom prst="rect">
            <a:avLst/>
          </a:prstGeom>
        </p:spPr>
      </p:pic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45206" y="3426022"/>
            <a:ext cx="1142999" cy="257175"/>
          </a:xfrm>
          <a:prstGeom prst="rect">
            <a:avLst/>
          </a:prstGeom>
        </p:spPr>
      </p:pic>
      <p:pic>
        <p:nvPicPr>
          <p:cNvPr id="30" name="Picture 29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45205" y="3954659"/>
            <a:ext cx="1158283" cy="247651"/>
          </a:xfrm>
          <a:prstGeom prst="rect">
            <a:avLst/>
          </a:prstGeom>
        </p:spPr>
      </p:pic>
      <p:pic>
        <p:nvPicPr>
          <p:cNvPr id="31" name="Picture 3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9625" y="4707135"/>
            <a:ext cx="96440" cy="123825"/>
          </a:xfrm>
          <a:prstGeom prst="rect">
            <a:avLst/>
          </a:prstGeom>
        </p:spPr>
      </p:pic>
      <p:pic>
        <p:nvPicPr>
          <p:cNvPr id="32" name="Picture 31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15062" y="4707135"/>
            <a:ext cx="96440" cy="12382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E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5565576"/>
            <a:ext cx="11049000" cy="863798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571500" y="2038369"/>
            <a:ext cx="5405437" cy="2260764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BE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6215062" y="2038369"/>
            <a:ext cx="5405437" cy="2260764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BE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14375" y="428625"/>
            <a:ext cx="11451431" cy="342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700"/>
              </a:lnSpc>
            </a:pPr>
            <a:r>
              <a:rPr sz="2250" b="0" i="0" u="none">
                <a:solidFill>
                  <a:srgbClr val="0C3C20"/>
                </a:solidFill>
                <a:latin typeface="Noto Sans KR ExtraBold"/>
              </a:rPr>
              <a:t>2. 데이터 수집: 웹 크롤링 vs 공식 API 활용 비교</a:t>
            </a:r>
          </a:p>
        </p:txBody>
      </p:sp>
      <p:sp>
        <p:nvSpPr>
          <p:cNvPr id="6" name="Rectangle 5"/>
          <p:cNvSpPr/>
          <p:nvPr/>
        </p:nvSpPr>
        <p:spPr>
          <a:xfrm>
            <a:off x="571500" y="428625"/>
            <a:ext cx="57150" cy="342900"/>
          </a:xfrm>
          <a:prstGeom prst="rect">
            <a:avLst/>
          </a:prstGeom>
          <a:solidFill>
            <a:srgbClr val="E65F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63215" y="5708451"/>
            <a:ext cx="10466784" cy="1714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75" b="0" i="0" u="none">
                <a:solidFill>
                  <a:srgbClr val="2E7D32"/>
                </a:solidFill>
                <a:latin typeface="Noto Sans KR ExtraBold"/>
              </a:rPr>
              <a:t>본 프로젝트의 선언 (100% API 활용 보장)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9625" y="5927526"/>
            <a:ext cx="10620375" cy="3440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413"/>
              </a:lnSpc>
            </a:pPr>
            <a:r>
              <a:rPr sz="975" b="0" i="0" u="none" dirty="0">
                <a:solidFill>
                  <a:srgbClr val="4A4230"/>
                </a:solidFill>
                <a:latin typeface="Noto Sans KR"/>
              </a:rPr>
              <a:t>본 </a:t>
            </a:r>
            <a:r>
              <a:rPr sz="975" b="0" i="0" u="none" dirty="0" err="1">
                <a:solidFill>
                  <a:srgbClr val="4A4230"/>
                </a:solidFill>
                <a:latin typeface="Noto Sans KR"/>
              </a:rPr>
              <a:t>캠핑나침반</a:t>
            </a:r>
            <a:r>
              <a:rPr sz="975" b="0" i="0" u="none" dirty="0">
                <a:solidFill>
                  <a:srgbClr val="4A4230"/>
                </a:solidFill>
                <a:latin typeface="Noto Sans KR"/>
              </a:rPr>
              <a:t> </a:t>
            </a:r>
            <a:r>
              <a:rPr sz="975" b="0" i="0" u="none" dirty="0" err="1">
                <a:solidFill>
                  <a:srgbClr val="4A4230"/>
                </a:solidFill>
                <a:latin typeface="Noto Sans KR"/>
              </a:rPr>
              <a:t>프로젝트는</a:t>
            </a:r>
            <a:r>
              <a:rPr sz="975" b="0" i="0" u="none" dirty="0">
                <a:solidFill>
                  <a:srgbClr val="4A4230"/>
                </a:solidFill>
                <a:latin typeface="Noto Sans KR"/>
              </a:rPr>
              <a:t> </a:t>
            </a:r>
            <a:r>
              <a:rPr sz="975" b="1" i="0" u="none" dirty="0">
                <a:solidFill>
                  <a:srgbClr val="4A4230"/>
                </a:solidFill>
                <a:latin typeface="Noto Sans KR"/>
              </a:rPr>
              <a:t>100% </a:t>
            </a:r>
            <a:r>
              <a:rPr sz="975" b="1" i="0" u="none" dirty="0" err="1">
                <a:solidFill>
                  <a:srgbClr val="4A4230"/>
                </a:solidFill>
                <a:latin typeface="Noto Sans KR"/>
              </a:rPr>
              <a:t>검증된</a:t>
            </a:r>
            <a:r>
              <a:rPr sz="975" b="1" i="0" u="none" dirty="0">
                <a:solidFill>
                  <a:srgbClr val="4A4230"/>
                </a:solidFill>
                <a:latin typeface="Noto Sans KR"/>
              </a:rPr>
              <a:t> API </a:t>
            </a:r>
            <a:r>
              <a:rPr sz="975" b="1" i="0" u="none" dirty="0" err="1">
                <a:solidFill>
                  <a:srgbClr val="4A4230"/>
                </a:solidFill>
                <a:latin typeface="Noto Sans KR"/>
              </a:rPr>
              <a:t>통신</a:t>
            </a:r>
            <a:r>
              <a:rPr sz="975" b="0" i="0" u="none" dirty="0" err="1">
                <a:solidFill>
                  <a:srgbClr val="4A4230"/>
                </a:solidFill>
                <a:latin typeface="Noto Sans KR"/>
              </a:rPr>
              <a:t>만을</a:t>
            </a:r>
            <a:r>
              <a:rPr sz="975" b="0" i="0" u="none" dirty="0">
                <a:solidFill>
                  <a:srgbClr val="4A4230"/>
                </a:solidFill>
                <a:latin typeface="Noto Sans KR"/>
              </a:rPr>
              <a:t> </a:t>
            </a:r>
            <a:r>
              <a:rPr sz="975" b="0" i="0" u="none" dirty="0" err="1">
                <a:solidFill>
                  <a:srgbClr val="4A4230"/>
                </a:solidFill>
                <a:latin typeface="Noto Sans KR"/>
              </a:rPr>
              <a:t>이용합니다</a:t>
            </a:r>
            <a:r>
              <a:rPr sz="975" b="0" i="0" u="none" dirty="0">
                <a:solidFill>
                  <a:srgbClr val="4A4230"/>
                </a:solidFill>
                <a:latin typeface="Noto Sans KR"/>
              </a:rPr>
              <a:t>. </a:t>
            </a:r>
            <a:r>
              <a:rPr sz="975" b="0" i="0" u="none" dirty="0" err="1">
                <a:solidFill>
                  <a:srgbClr val="4A4230"/>
                </a:solidFill>
                <a:latin typeface="Noto Sans KR"/>
              </a:rPr>
              <a:t>공공데이터포털</a:t>
            </a:r>
            <a:r>
              <a:rPr sz="975" b="0" i="0" u="none" dirty="0">
                <a:solidFill>
                  <a:srgbClr val="4A4230"/>
                </a:solidFill>
                <a:latin typeface="Noto Sans KR"/>
              </a:rPr>
              <a:t> </a:t>
            </a:r>
            <a:r>
              <a:rPr sz="975" b="0" i="0" u="none" dirty="0" err="1">
                <a:solidFill>
                  <a:srgbClr val="4A4230"/>
                </a:solidFill>
                <a:latin typeface="Noto Sans KR"/>
              </a:rPr>
              <a:t>정식</a:t>
            </a:r>
            <a:r>
              <a:rPr sz="975" b="0" i="0" u="none" dirty="0">
                <a:solidFill>
                  <a:srgbClr val="4A4230"/>
                </a:solidFill>
                <a:latin typeface="Noto Sans KR"/>
              </a:rPr>
              <a:t> </a:t>
            </a:r>
            <a:r>
              <a:rPr sz="975" b="0" i="0" u="none" dirty="0" err="1">
                <a:solidFill>
                  <a:srgbClr val="4A4230"/>
                </a:solidFill>
                <a:latin typeface="Noto Sans KR"/>
              </a:rPr>
              <a:t>파이프라인을</a:t>
            </a:r>
            <a:r>
              <a:rPr sz="975" b="0" i="0" u="none" dirty="0">
                <a:solidFill>
                  <a:srgbClr val="4A4230"/>
                </a:solidFill>
                <a:latin typeface="Noto Sans KR"/>
              </a:rPr>
              <a:t> </a:t>
            </a:r>
            <a:r>
              <a:rPr sz="975" b="0" i="0" u="none" dirty="0" err="1">
                <a:solidFill>
                  <a:srgbClr val="4A4230"/>
                </a:solidFill>
                <a:latin typeface="Noto Sans KR"/>
              </a:rPr>
              <a:t>구축하여</a:t>
            </a:r>
            <a:r>
              <a:rPr sz="975" b="0" i="0" u="none" dirty="0">
                <a:solidFill>
                  <a:srgbClr val="4A4230"/>
                </a:solidFill>
                <a:latin typeface="Noto Sans KR"/>
              </a:rPr>
              <a:t> </a:t>
            </a:r>
            <a:r>
              <a:rPr sz="975" b="0" i="0" u="none" dirty="0" err="1">
                <a:solidFill>
                  <a:srgbClr val="4A4230"/>
                </a:solidFill>
                <a:latin typeface="Noto Sans KR"/>
              </a:rPr>
              <a:t>실시간</a:t>
            </a:r>
            <a:r>
              <a:rPr sz="975" b="0" i="0" u="none" dirty="0">
                <a:solidFill>
                  <a:srgbClr val="4A4230"/>
                </a:solidFill>
                <a:latin typeface="Noto Sans KR"/>
              </a:rPr>
              <a:t> JSON </a:t>
            </a:r>
            <a:r>
              <a:rPr sz="975" b="0" i="0" u="none" dirty="0" err="1">
                <a:solidFill>
                  <a:srgbClr val="4A4230"/>
                </a:solidFill>
                <a:latin typeface="Noto Sans KR"/>
              </a:rPr>
              <a:t>형식으로</a:t>
            </a:r>
            <a:r>
              <a:rPr sz="975" b="0" i="0" u="none" dirty="0">
                <a:solidFill>
                  <a:srgbClr val="4A4230"/>
                </a:solidFill>
                <a:latin typeface="Noto Sans KR"/>
              </a:rPr>
              <a:t> </a:t>
            </a:r>
            <a:r>
              <a:rPr sz="975" b="0" i="0" u="none" dirty="0" err="1">
                <a:solidFill>
                  <a:srgbClr val="4A4230"/>
                </a:solidFill>
                <a:latin typeface="Noto Sans KR"/>
              </a:rPr>
              <a:t>캠핑장</a:t>
            </a:r>
            <a:r>
              <a:rPr sz="975" b="0" i="0" u="none" dirty="0">
                <a:solidFill>
                  <a:srgbClr val="4A4230"/>
                </a:solidFill>
                <a:latin typeface="Noto Sans KR"/>
              </a:rPr>
              <a:t> </a:t>
            </a:r>
            <a:r>
              <a:rPr sz="975" b="0" i="0" u="none" dirty="0" err="1">
                <a:solidFill>
                  <a:srgbClr val="4A4230"/>
                </a:solidFill>
                <a:latin typeface="Noto Sans KR"/>
              </a:rPr>
              <a:t>정보를</a:t>
            </a:r>
            <a:r>
              <a:rPr sz="975" b="0" i="0" u="none" dirty="0">
                <a:solidFill>
                  <a:srgbClr val="4A4230"/>
                </a:solidFill>
                <a:latin typeface="Noto Sans KR"/>
              </a:rPr>
              <a:t> </a:t>
            </a:r>
            <a:r>
              <a:rPr sz="975" b="0" i="0" u="none" dirty="0" err="1">
                <a:solidFill>
                  <a:srgbClr val="4A4230"/>
                </a:solidFill>
                <a:latin typeface="Noto Sans KR"/>
              </a:rPr>
              <a:t>수수하므로</a:t>
            </a:r>
            <a:r>
              <a:rPr sz="975" b="0" i="0" u="none" dirty="0">
                <a:solidFill>
                  <a:srgbClr val="4A4230"/>
                </a:solidFill>
                <a:latin typeface="Noto Sans KR"/>
              </a:rPr>
              <a:t>, </a:t>
            </a:r>
            <a:r>
              <a:rPr sz="975" b="0" i="0" u="none" dirty="0" err="1">
                <a:solidFill>
                  <a:srgbClr val="4A4230"/>
                </a:solidFill>
                <a:latin typeface="Noto Sans KR"/>
              </a:rPr>
              <a:t>임시</a:t>
            </a:r>
            <a:r>
              <a:rPr sz="975" b="0" i="0" u="none" dirty="0">
                <a:solidFill>
                  <a:srgbClr val="4A4230"/>
                </a:solidFill>
                <a:latin typeface="Noto Sans KR"/>
              </a:rPr>
              <a:t> </a:t>
            </a:r>
            <a:r>
              <a:rPr sz="975" b="0" i="0" u="none" dirty="0" err="1">
                <a:solidFill>
                  <a:srgbClr val="4A4230"/>
                </a:solidFill>
                <a:latin typeface="Noto Sans KR"/>
              </a:rPr>
              <a:t>웹페이지</a:t>
            </a:r>
            <a:r>
              <a:rPr sz="975" b="0" i="0" u="none" dirty="0">
                <a:solidFill>
                  <a:srgbClr val="4A4230"/>
                </a:solidFill>
                <a:latin typeface="Noto Sans KR"/>
              </a:rPr>
              <a:t> </a:t>
            </a:r>
            <a:r>
              <a:rPr sz="975" b="0" i="0" u="none" dirty="0" err="1">
                <a:solidFill>
                  <a:srgbClr val="4A4230"/>
                </a:solidFill>
                <a:latin typeface="Noto Sans KR"/>
              </a:rPr>
              <a:t>HTML을</a:t>
            </a:r>
            <a:r>
              <a:rPr sz="975" b="0" i="0" u="none" dirty="0">
                <a:solidFill>
                  <a:srgbClr val="4A4230"/>
                </a:solidFill>
                <a:latin typeface="Noto Sans KR"/>
              </a:rPr>
              <a:t>  </a:t>
            </a:r>
            <a:r>
              <a:rPr sz="975" b="0" i="0" u="none" dirty="0" err="1">
                <a:solidFill>
                  <a:srgbClr val="4A4230"/>
                </a:solidFill>
                <a:latin typeface="Noto Sans KR"/>
              </a:rPr>
              <a:t>긁어서</a:t>
            </a:r>
            <a:r>
              <a:rPr sz="975" b="0" i="0" u="none" dirty="0">
                <a:solidFill>
                  <a:srgbClr val="4A4230"/>
                </a:solidFill>
                <a:latin typeface="Noto Sans KR"/>
              </a:rPr>
              <a:t> </a:t>
            </a:r>
            <a:r>
              <a:rPr sz="975" b="0" i="0" u="none" dirty="0" err="1">
                <a:solidFill>
                  <a:srgbClr val="4A4230"/>
                </a:solidFill>
                <a:latin typeface="Noto Sans KR"/>
              </a:rPr>
              <a:t>연동</a:t>
            </a:r>
            <a:r>
              <a:rPr sz="975" b="0" i="0" u="none" dirty="0">
                <a:solidFill>
                  <a:srgbClr val="4A4230"/>
                </a:solidFill>
                <a:latin typeface="Noto Sans KR"/>
              </a:rPr>
              <a:t> </a:t>
            </a:r>
            <a:r>
              <a:rPr sz="975" b="0" i="0" u="none" dirty="0" err="1">
                <a:solidFill>
                  <a:srgbClr val="4A4230"/>
                </a:solidFill>
                <a:latin typeface="Noto Sans KR"/>
              </a:rPr>
              <a:t>오류를</a:t>
            </a:r>
            <a:r>
              <a:rPr sz="975" b="0" i="0" u="none" dirty="0">
                <a:solidFill>
                  <a:srgbClr val="4A4230"/>
                </a:solidFill>
                <a:latin typeface="Noto Sans KR"/>
              </a:rPr>
              <a:t> </a:t>
            </a:r>
            <a:r>
              <a:rPr lang="ko-KR" altLang="en-US" sz="975" dirty="0" err="1">
                <a:solidFill>
                  <a:srgbClr val="4A4230"/>
                </a:solidFill>
                <a:latin typeface="Noto Sans KR"/>
              </a:rPr>
              <a:t>발생시킬수</a:t>
            </a:r>
            <a:r>
              <a:rPr lang="ko-KR" altLang="en-US" sz="975" dirty="0">
                <a:solidFill>
                  <a:srgbClr val="4A4230"/>
                </a:solidFill>
                <a:latin typeface="Noto Sans KR"/>
              </a:rPr>
              <a:t> 있는</a:t>
            </a:r>
            <a:r>
              <a:rPr sz="975" b="0" i="0" u="none" dirty="0">
                <a:solidFill>
                  <a:srgbClr val="4A4230"/>
                </a:solidFill>
                <a:latin typeface="Noto Sans KR"/>
              </a:rPr>
              <a:t> '</a:t>
            </a:r>
            <a:r>
              <a:rPr sz="975" b="0" i="0" u="none" dirty="0" err="1">
                <a:solidFill>
                  <a:srgbClr val="4A4230"/>
                </a:solidFill>
                <a:latin typeface="Noto Sans KR"/>
              </a:rPr>
              <a:t>크롤링'은</a:t>
            </a:r>
            <a:r>
              <a:rPr sz="975" b="0" i="0" u="none" dirty="0">
                <a:solidFill>
                  <a:srgbClr val="4A4230"/>
                </a:solidFill>
                <a:latin typeface="Noto Sans KR"/>
              </a:rPr>
              <a:t> </a:t>
            </a:r>
            <a:r>
              <a:rPr sz="975" b="0" i="0" u="none" dirty="0" err="1">
                <a:solidFill>
                  <a:srgbClr val="4A4230"/>
                </a:solidFill>
                <a:latin typeface="Noto Sans KR"/>
              </a:rPr>
              <a:t>철저히</a:t>
            </a:r>
            <a:r>
              <a:rPr sz="975" b="0" i="0" u="none" dirty="0">
                <a:solidFill>
                  <a:srgbClr val="4A4230"/>
                </a:solidFill>
                <a:latin typeface="Noto Sans KR"/>
              </a:rPr>
              <a:t> </a:t>
            </a:r>
            <a:r>
              <a:rPr sz="975" b="0" i="0" u="none" dirty="0" err="1">
                <a:solidFill>
                  <a:srgbClr val="4A4230"/>
                </a:solidFill>
                <a:latin typeface="Noto Sans KR"/>
              </a:rPr>
              <a:t>배제했습니다</a:t>
            </a:r>
            <a:r>
              <a:rPr sz="975" b="0" i="0" u="none" dirty="0">
                <a:solidFill>
                  <a:srgbClr val="4A4230"/>
                </a:solidFill>
                <a:latin typeface="Noto Sans KR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2361" y="2257445"/>
            <a:ext cx="5215651" cy="241845"/>
          </a:xfrm>
          <a:prstGeom prst="rect">
            <a:avLst/>
          </a:prstGeom>
          <a:noFill/>
        </p:spPr>
        <p:txBody>
          <a:bodyPr wrap="square" lIns="209698" tIns="0" rIns="0" bIns="0" anchor="t">
            <a:spAutoFit/>
          </a:bodyPr>
          <a:lstStyle/>
          <a:p>
            <a:pPr algn="l">
              <a:lnSpc>
                <a:spcPts val="1754"/>
              </a:lnSpc>
            </a:pPr>
            <a:r>
              <a:rPr sz="1350" b="1" i="0" u="none">
                <a:solidFill>
                  <a:srgbClr val="0C3C20"/>
                </a:solidFill>
                <a:latin typeface="Noto Sans KR"/>
              </a:rPr>
              <a:t>기존 방식: 일반적인 웹 크롤링 (Crawling)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0575" y="2537390"/>
            <a:ext cx="4967287" cy="19050"/>
          </a:xfrm>
          <a:prstGeom prst="rect">
            <a:avLst/>
          </a:prstGeom>
          <a:solidFill>
            <a:srgbClr val="EE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585923" y="2257445"/>
            <a:ext cx="5215651" cy="241845"/>
          </a:xfrm>
          <a:prstGeom prst="rect">
            <a:avLst/>
          </a:prstGeom>
          <a:noFill/>
        </p:spPr>
        <p:txBody>
          <a:bodyPr wrap="square" lIns="209698" tIns="0" rIns="0" bIns="0" anchor="t">
            <a:spAutoFit/>
          </a:bodyPr>
          <a:lstStyle/>
          <a:p>
            <a:pPr algn="l">
              <a:lnSpc>
                <a:spcPts val="1754"/>
              </a:lnSpc>
            </a:pPr>
            <a:r>
              <a:rPr sz="1350" b="1" i="0" u="none">
                <a:solidFill>
                  <a:srgbClr val="0C3C20"/>
                </a:solidFill>
                <a:latin typeface="Noto Sans KR"/>
              </a:rPr>
              <a:t>정석 설계: 공식 Open API 사용 (본 서비스 적용)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34137" y="2537390"/>
            <a:ext cx="4967287" cy="19050"/>
          </a:xfrm>
          <a:prstGeom prst="rect">
            <a:avLst/>
          </a:prstGeom>
          <a:solidFill>
            <a:srgbClr val="EE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625" y="5732264"/>
            <a:ext cx="96440" cy="123825"/>
          </a:xfrm>
          <a:prstGeom prst="rect">
            <a:avLst/>
          </a:prstGeom>
        </p:spPr>
      </p:pic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0575" y="2276495"/>
            <a:ext cx="133498" cy="17145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81075" y="2670740"/>
            <a:ext cx="4776787" cy="400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050" b="1" i="0" u="none">
                <a:solidFill>
                  <a:srgbClr val="E65F2C"/>
                </a:solidFill>
                <a:latin typeface="Noto Sans KR"/>
              </a:rPr>
              <a:t>작동 구조:</a:t>
            </a:r>
            <a:r>
              <a:rPr sz="1050" b="0" i="0" u="none">
                <a:solidFill>
                  <a:srgbClr val="2E3B32"/>
                </a:solidFill>
                <a:latin typeface="Noto Sans KR"/>
              </a:rPr>
              <a:t> 브라우저 상의 HTML 코드 원본을 통째 복사해와 특정 태그를 파싱해 원하는 필드 수동 추출 (requests + BeautifulSoup 활용)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1075" y="3166040"/>
            <a:ext cx="4776787" cy="400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050" b="1" i="0" u="none">
                <a:solidFill>
                  <a:srgbClr val="E65F2C"/>
                </a:solidFill>
                <a:latin typeface="Noto Sans KR"/>
              </a:rPr>
              <a:t>구조적 결함:</a:t>
            </a:r>
            <a:r>
              <a:rPr sz="1050" b="0" i="0" u="none">
                <a:solidFill>
                  <a:srgbClr val="2E3B32"/>
                </a:solidFill>
                <a:latin typeface="Noto Sans KR"/>
              </a:rPr>
              <a:t> 대상 사이트의 화면 디자인 레이아웃이나 태그 이름이 아주 미세하게 바뀌기만 해도 데이터를 전혀 파싱하지 못해 크래시 발생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1075" y="3661340"/>
            <a:ext cx="4776787" cy="400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050" b="1" i="0" u="none" dirty="0" err="1">
                <a:solidFill>
                  <a:srgbClr val="E65F2C"/>
                </a:solidFill>
                <a:latin typeface="Noto Sans KR"/>
              </a:rPr>
              <a:t>법적</a:t>
            </a:r>
            <a:r>
              <a:rPr sz="1050" b="1" i="0" u="none" dirty="0">
                <a:solidFill>
                  <a:srgbClr val="E65F2C"/>
                </a:solidFill>
                <a:latin typeface="Noto Sans KR"/>
              </a:rPr>
              <a:t>/</a:t>
            </a:r>
            <a:r>
              <a:rPr sz="1050" b="1" i="0" u="none" dirty="0" err="1">
                <a:solidFill>
                  <a:srgbClr val="E65F2C"/>
                </a:solidFill>
                <a:latin typeface="Noto Sans KR"/>
              </a:rPr>
              <a:t>운영</a:t>
            </a:r>
            <a:r>
              <a:rPr sz="1050" b="1" i="0" u="none" dirty="0">
                <a:solidFill>
                  <a:srgbClr val="E65F2C"/>
                </a:solidFill>
                <a:latin typeface="Noto Sans KR"/>
              </a:rPr>
              <a:t> </a:t>
            </a:r>
            <a:r>
              <a:rPr sz="1050" b="1" i="0" u="none" dirty="0" err="1">
                <a:solidFill>
                  <a:srgbClr val="E65F2C"/>
                </a:solidFill>
                <a:latin typeface="Noto Sans KR"/>
              </a:rPr>
              <a:t>위험</a:t>
            </a:r>
            <a:r>
              <a:rPr sz="1050" b="1" i="0" u="none" dirty="0">
                <a:solidFill>
                  <a:srgbClr val="E65F2C"/>
                </a:solidFill>
                <a:latin typeface="Noto Sans KR"/>
              </a:rPr>
              <a:t>:</a:t>
            </a:r>
            <a:r>
              <a:rPr sz="1050" b="0" i="0" u="none" dirty="0">
                <a:solidFill>
                  <a:srgbClr val="2E3B32"/>
                </a:solidFill>
                <a:latin typeface="Noto Sans KR"/>
              </a:rPr>
              <a:t> </a:t>
            </a:r>
            <a:r>
              <a:rPr sz="1050" b="0" i="0" u="none" dirty="0" err="1">
                <a:solidFill>
                  <a:srgbClr val="2E3B32"/>
                </a:solidFill>
                <a:latin typeface="Noto Sans KR"/>
              </a:rPr>
              <a:t>일시적으로</a:t>
            </a:r>
            <a:r>
              <a:rPr sz="1050" b="0" i="0" u="none" dirty="0">
                <a:solidFill>
                  <a:srgbClr val="2E3B32"/>
                </a:solidFill>
                <a:latin typeface="Noto Sans KR"/>
              </a:rPr>
              <a:t> </a:t>
            </a:r>
            <a:r>
              <a:rPr sz="1050" b="0" i="0" u="none" dirty="0" err="1">
                <a:solidFill>
                  <a:srgbClr val="2E3B32"/>
                </a:solidFill>
                <a:latin typeface="Noto Sans KR"/>
              </a:rPr>
              <a:t>수많은</a:t>
            </a:r>
            <a:r>
              <a:rPr sz="1050" b="0" i="0" u="none" dirty="0">
                <a:solidFill>
                  <a:srgbClr val="2E3B32"/>
                </a:solidFill>
                <a:latin typeface="Noto Sans KR"/>
              </a:rPr>
              <a:t> </a:t>
            </a:r>
            <a:r>
              <a:rPr sz="1050" b="0" i="0" u="none" dirty="0" err="1">
                <a:solidFill>
                  <a:srgbClr val="2E3B32"/>
                </a:solidFill>
                <a:latin typeface="Noto Sans KR"/>
              </a:rPr>
              <a:t>트래픽을</a:t>
            </a:r>
            <a:r>
              <a:rPr sz="1050" b="0" i="0" u="none" dirty="0">
                <a:solidFill>
                  <a:srgbClr val="2E3B32"/>
                </a:solidFill>
                <a:latin typeface="Noto Sans KR"/>
              </a:rPr>
              <a:t> </a:t>
            </a:r>
            <a:r>
              <a:rPr sz="1050" b="0" i="0" u="none" dirty="0" err="1">
                <a:solidFill>
                  <a:srgbClr val="2E3B32"/>
                </a:solidFill>
                <a:latin typeface="Noto Sans KR"/>
              </a:rPr>
              <a:t>단숨에</a:t>
            </a:r>
            <a:r>
              <a:rPr sz="1050" b="0" i="0" u="none" dirty="0">
                <a:solidFill>
                  <a:srgbClr val="2E3B32"/>
                </a:solidFill>
                <a:latin typeface="Noto Sans KR"/>
              </a:rPr>
              <a:t> </a:t>
            </a:r>
            <a:r>
              <a:rPr sz="1050" b="0" i="0" u="none" dirty="0" err="1">
                <a:solidFill>
                  <a:srgbClr val="2E3B32"/>
                </a:solidFill>
                <a:latin typeface="Noto Sans KR"/>
              </a:rPr>
              <a:t>끌어올려</a:t>
            </a:r>
            <a:r>
              <a:rPr sz="1050" b="0" i="0" u="none" dirty="0">
                <a:solidFill>
                  <a:srgbClr val="2E3B32"/>
                </a:solidFill>
                <a:latin typeface="Noto Sans KR"/>
              </a:rPr>
              <a:t> </a:t>
            </a:r>
            <a:r>
              <a:rPr sz="1050" b="0" i="0" u="none" dirty="0" err="1">
                <a:solidFill>
                  <a:srgbClr val="2E3B32"/>
                </a:solidFill>
                <a:latin typeface="Noto Sans KR"/>
              </a:rPr>
              <a:t>차단을</a:t>
            </a:r>
            <a:r>
              <a:rPr sz="1050" b="0" i="0" u="none" dirty="0">
                <a:solidFill>
                  <a:srgbClr val="2E3B32"/>
                </a:solidFill>
                <a:latin typeface="Noto Sans KR"/>
              </a:rPr>
              <a:t> </a:t>
            </a:r>
            <a:r>
              <a:rPr sz="1050" b="0" i="0" u="none" dirty="0" err="1">
                <a:solidFill>
                  <a:srgbClr val="2E3B32"/>
                </a:solidFill>
                <a:latin typeface="Noto Sans KR"/>
              </a:rPr>
              <a:t>당하거나</a:t>
            </a:r>
            <a:r>
              <a:rPr sz="1050" b="0" i="0" u="none" dirty="0">
                <a:solidFill>
                  <a:srgbClr val="2E3B32"/>
                </a:solidFill>
                <a:latin typeface="Noto Sans KR"/>
              </a:rPr>
              <a:t> </a:t>
            </a:r>
            <a:r>
              <a:rPr sz="1050" b="0" i="0" u="none" dirty="0" err="1">
                <a:solidFill>
                  <a:srgbClr val="2E3B32"/>
                </a:solidFill>
                <a:latin typeface="Noto Sans KR"/>
              </a:rPr>
              <a:t>사이트</a:t>
            </a:r>
            <a:r>
              <a:rPr sz="1050" b="0" i="0" u="none" dirty="0">
                <a:solidFill>
                  <a:srgbClr val="2E3B32"/>
                </a:solidFill>
                <a:latin typeface="Noto Sans KR"/>
              </a:rPr>
              <a:t> </a:t>
            </a:r>
            <a:r>
              <a:rPr sz="1050" b="0" i="0" u="none" dirty="0" err="1">
                <a:solidFill>
                  <a:srgbClr val="2E3B32"/>
                </a:solidFill>
                <a:latin typeface="Noto Sans KR"/>
              </a:rPr>
              <a:t>소유자로부터</a:t>
            </a:r>
            <a:r>
              <a:rPr sz="1050" b="0" i="0" u="none" dirty="0">
                <a:solidFill>
                  <a:srgbClr val="2E3B32"/>
                </a:solidFill>
                <a:latin typeface="Noto Sans KR"/>
              </a:rPr>
              <a:t> </a:t>
            </a:r>
            <a:r>
              <a:rPr sz="1050" b="0" i="0" u="none" dirty="0" err="1">
                <a:solidFill>
                  <a:srgbClr val="2E3B32"/>
                </a:solidFill>
                <a:latin typeface="Noto Sans KR"/>
              </a:rPr>
              <a:t>차단</a:t>
            </a:r>
            <a:r>
              <a:rPr sz="1050" b="0" i="0" u="none" dirty="0">
                <a:solidFill>
                  <a:srgbClr val="2E3B32"/>
                </a:solidFill>
                <a:latin typeface="Noto Sans KR"/>
              </a:rPr>
              <a:t>(IP Block) 등 </a:t>
            </a:r>
            <a:r>
              <a:rPr sz="1050" b="0" i="0" u="none" dirty="0" err="1">
                <a:solidFill>
                  <a:srgbClr val="2E3B32"/>
                </a:solidFill>
                <a:latin typeface="Noto Sans KR"/>
              </a:rPr>
              <a:t>법적</a:t>
            </a:r>
            <a:r>
              <a:rPr sz="1050" b="0" i="0" u="none" dirty="0">
                <a:solidFill>
                  <a:srgbClr val="2E3B32"/>
                </a:solidFill>
                <a:latin typeface="Noto Sans KR"/>
              </a:rPr>
              <a:t> </a:t>
            </a:r>
            <a:r>
              <a:rPr sz="1050" b="0" i="0" u="none" dirty="0" err="1">
                <a:solidFill>
                  <a:srgbClr val="2E3B32"/>
                </a:solidFill>
                <a:latin typeface="Noto Sans KR"/>
              </a:rPr>
              <a:t>제재</a:t>
            </a:r>
            <a:r>
              <a:rPr sz="1050" b="0" i="0" u="none" dirty="0">
                <a:solidFill>
                  <a:srgbClr val="2E3B32"/>
                </a:solidFill>
                <a:latin typeface="Noto Sans KR"/>
              </a:rPr>
              <a:t> </a:t>
            </a:r>
            <a:r>
              <a:rPr sz="1050" b="0" i="0" u="none" dirty="0" err="1">
                <a:solidFill>
                  <a:srgbClr val="2E3B32"/>
                </a:solidFill>
                <a:latin typeface="Noto Sans KR"/>
              </a:rPr>
              <a:t>우려</a:t>
            </a:r>
            <a:endParaRPr sz="1050" b="0" i="0" u="none" dirty="0">
              <a:solidFill>
                <a:srgbClr val="2E3B32"/>
              </a:solidFill>
              <a:latin typeface="Noto Sans KR"/>
            </a:endParaRPr>
          </a:p>
        </p:txBody>
      </p:sp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34137" y="2276495"/>
            <a:ext cx="133498" cy="17145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624637" y="2670740"/>
            <a:ext cx="4776787" cy="400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050" b="1" i="0" u="none" dirty="0" err="1">
                <a:solidFill>
                  <a:srgbClr val="0C3C20"/>
                </a:solidFill>
                <a:latin typeface="Noto Sans KR"/>
              </a:rPr>
              <a:t>작동</a:t>
            </a:r>
            <a:r>
              <a:rPr sz="1050" b="1" i="0" u="none" dirty="0">
                <a:solidFill>
                  <a:srgbClr val="0C3C20"/>
                </a:solidFill>
                <a:latin typeface="Noto Sans KR"/>
              </a:rPr>
              <a:t> </a:t>
            </a:r>
            <a:r>
              <a:rPr sz="1050" b="1" i="0" u="none" dirty="0" err="1">
                <a:solidFill>
                  <a:srgbClr val="0C3C20"/>
                </a:solidFill>
                <a:latin typeface="Noto Sans KR"/>
              </a:rPr>
              <a:t>구조</a:t>
            </a:r>
            <a:r>
              <a:rPr sz="1050" b="1" i="0" u="none" dirty="0">
                <a:solidFill>
                  <a:srgbClr val="0C3C20"/>
                </a:solidFill>
                <a:latin typeface="Noto Sans KR"/>
              </a:rPr>
              <a:t>:</a:t>
            </a:r>
            <a:r>
              <a:rPr sz="1050" b="0" i="0" u="none" dirty="0">
                <a:solidFill>
                  <a:srgbClr val="2E3B32"/>
                </a:solidFill>
                <a:latin typeface="Noto Sans KR"/>
              </a:rPr>
              <a:t> </a:t>
            </a:r>
            <a:r>
              <a:rPr sz="1050" b="0" i="0" u="none" dirty="0" err="1">
                <a:solidFill>
                  <a:srgbClr val="2E3B32"/>
                </a:solidFill>
                <a:latin typeface="Noto Sans KR"/>
              </a:rPr>
              <a:t>데이터</a:t>
            </a:r>
            <a:r>
              <a:rPr sz="1050" b="0" i="0" u="none" dirty="0">
                <a:solidFill>
                  <a:srgbClr val="2E3B32"/>
                </a:solidFill>
                <a:latin typeface="Noto Sans KR"/>
              </a:rPr>
              <a:t> </a:t>
            </a:r>
            <a:r>
              <a:rPr sz="1050" b="0" i="0" u="none" dirty="0" err="1">
                <a:solidFill>
                  <a:srgbClr val="2E3B32"/>
                </a:solidFill>
                <a:latin typeface="Noto Sans KR"/>
              </a:rPr>
              <a:t>제공자가</a:t>
            </a:r>
            <a:r>
              <a:rPr sz="1050" b="0" i="0" u="none" dirty="0">
                <a:solidFill>
                  <a:srgbClr val="2E3B32"/>
                </a:solidFill>
                <a:latin typeface="Noto Sans KR"/>
              </a:rPr>
              <a:t> </a:t>
            </a:r>
            <a:r>
              <a:rPr sz="1050" b="0" i="0" u="none" dirty="0" err="1">
                <a:solidFill>
                  <a:srgbClr val="2E3B32"/>
                </a:solidFill>
                <a:latin typeface="Noto Sans KR"/>
              </a:rPr>
              <a:t>외부에</a:t>
            </a:r>
            <a:r>
              <a:rPr sz="1050" b="0" i="0" u="none" dirty="0">
                <a:solidFill>
                  <a:srgbClr val="2E3B32"/>
                </a:solidFill>
                <a:latin typeface="Noto Sans KR"/>
              </a:rPr>
              <a:t> </a:t>
            </a:r>
            <a:r>
              <a:rPr sz="1050" b="0" i="0" u="none" dirty="0" err="1">
                <a:solidFill>
                  <a:srgbClr val="2E3B32"/>
                </a:solidFill>
                <a:latin typeface="Noto Sans KR"/>
              </a:rPr>
              <a:t>정식으로</a:t>
            </a:r>
            <a:r>
              <a:rPr sz="1050" b="0" i="0" u="none" dirty="0">
                <a:solidFill>
                  <a:srgbClr val="2E3B32"/>
                </a:solidFill>
                <a:latin typeface="Noto Sans KR"/>
              </a:rPr>
              <a:t> </a:t>
            </a:r>
            <a:r>
              <a:rPr sz="1050" b="0" i="0" u="none" dirty="0" err="1">
                <a:solidFill>
                  <a:srgbClr val="2E3B32"/>
                </a:solidFill>
                <a:latin typeface="Noto Sans KR"/>
              </a:rPr>
              <a:t>약속해</a:t>
            </a:r>
            <a:r>
              <a:rPr sz="1050" b="0" i="0" u="none" dirty="0">
                <a:solidFill>
                  <a:srgbClr val="2E3B32"/>
                </a:solidFill>
                <a:latin typeface="Noto Sans KR"/>
              </a:rPr>
              <a:t> </a:t>
            </a:r>
            <a:r>
              <a:rPr sz="1050" b="0" i="0" u="none" dirty="0" err="1">
                <a:solidFill>
                  <a:srgbClr val="2E3B32"/>
                </a:solidFill>
                <a:latin typeface="Noto Sans KR"/>
              </a:rPr>
              <a:t>열어둔</a:t>
            </a:r>
            <a:r>
              <a:rPr sz="1050" b="0" i="0" u="none" dirty="0">
                <a:solidFill>
                  <a:srgbClr val="2E3B32"/>
                </a:solidFill>
                <a:latin typeface="Noto Sans KR"/>
              </a:rPr>
              <a:t> </a:t>
            </a:r>
            <a:r>
              <a:rPr sz="1050" b="0" i="0" u="none" dirty="0" err="1">
                <a:solidFill>
                  <a:srgbClr val="2E3B32"/>
                </a:solidFill>
                <a:latin typeface="Noto Sans KR"/>
              </a:rPr>
              <a:t>표준</a:t>
            </a:r>
            <a:r>
              <a:rPr sz="1050" b="0" i="0" u="none" dirty="0">
                <a:solidFill>
                  <a:srgbClr val="2E3B32"/>
                </a:solidFill>
                <a:latin typeface="Noto Sans KR"/>
              </a:rPr>
              <a:t> </a:t>
            </a:r>
            <a:r>
              <a:rPr sz="1050" b="0" i="0" u="none" dirty="0" err="1">
                <a:solidFill>
                  <a:srgbClr val="2E3B32"/>
                </a:solidFill>
                <a:latin typeface="Noto Sans KR"/>
              </a:rPr>
              <a:t>데이터</a:t>
            </a:r>
            <a:r>
              <a:rPr sz="1050" b="0" i="0" u="none" dirty="0">
                <a:solidFill>
                  <a:srgbClr val="2E3B32"/>
                </a:solidFill>
                <a:latin typeface="Noto Sans KR"/>
              </a:rPr>
              <a:t> </a:t>
            </a:r>
            <a:r>
              <a:rPr sz="1050" b="0" i="0" u="none" dirty="0" err="1">
                <a:solidFill>
                  <a:srgbClr val="2E3B32"/>
                </a:solidFill>
                <a:latin typeface="Noto Sans KR"/>
              </a:rPr>
              <a:t>창구</a:t>
            </a:r>
            <a:r>
              <a:rPr sz="1050" b="0" i="0" u="none" dirty="0">
                <a:solidFill>
                  <a:srgbClr val="2E3B32"/>
                </a:solidFill>
                <a:latin typeface="Noto Sans KR"/>
              </a:rPr>
              <a:t>(API)로 </a:t>
            </a:r>
            <a:r>
              <a:rPr sz="1050" b="0" i="0" u="none" dirty="0" err="1">
                <a:solidFill>
                  <a:srgbClr val="2E3B32"/>
                </a:solidFill>
                <a:latin typeface="Noto Sans KR"/>
              </a:rPr>
              <a:t>전송받아</a:t>
            </a:r>
            <a:r>
              <a:rPr sz="1050" b="0" i="0" u="none" dirty="0">
                <a:solidFill>
                  <a:srgbClr val="2E3B32"/>
                </a:solidFill>
                <a:latin typeface="Noto Sans KR"/>
              </a:rPr>
              <a:t> </a:t>
            </a:r>
            <a:r>
              <a:rPr sz="1050" b="0" i="0" u="none" dirty="0" err="1">
                <a:solidFill>
                  <a:srgbClr val="2E3B32"/>
                </a:solidFill>
                <a:latin typeface="Noto Sans KR"/>
              </a:rPr>
              <a:t>깔끔하게</a:t>
            </a:r>
            <a:r>
              <a:rPr sz="1050" b="0" i="0" u="none" dirty="0">
                <a:solidFill>
                  <a:srgbClr val="2E3B32"/>
                </a:solidFill>
                <a:latin typeface="Noto Sans KR"/>
              </a:rPr>
              <a:t> </a:t>
            </a:r>
            <a:r>
              <a:rPr sz="1050" b="0" i="0" u="none" dirty="0" err="1">
                <a:solidFill>
                  <a:srgbClr val="2E3B32"/>
                </a:solidFill>
                <a:latin typeface="Noto Sans KR"/>
              </a:rPr>
              <a:t>검수</a:t>
            </a:r>
            <a:r>
              <a:rPr sz="1050" b="0" i="0" u="none" dirty="0">
                <a:solidFill>
                  <a:srgbClr val="2E3B32"/>
                </a:solidFill>
                <a:latin typeface="Noto Sans KR"/>
              </a:rPr>
              <a:t> </a:t>
            </a:r>
            <a:r>
              <a:rPr sz="1050" b="0" i="0" u="none" dirty="0" err="1">
                <a:solidFill>
                  <a:srgbClr val="2E3B32"/>
                </a:solidFill>
                <a:latin typeface="Noto Sans KR"/>
              </a:rPr>
              <a:t>완료된</a:t>
            </a:r>
            <a:r>
              <a:rPr sz="1050" b="0" i="0" u="none" dirty="0">
                <a:solidFill>
                  <a:srgbClr val="2E3B32"/>
                </a:solidFill>
                <a:latin typeface="Noto Sans KR"/>
              </a:rPr>
              <a:t> JSON </a:t>
            </a:r>
            <a:r>
              <a:rPr sz="1050" b="0" i="0" u="none" dirty="0" err="1">
                <a:solidFill>
                  <a:srgbClr val="2E3B32"/>
                </a:solidFill>
                <a:latin typeface="Noto Sans KR"/>
              </a:rPr>
              <a:t>형태를</a:t>
            </a:r>
            <a:r>
              <a:rPr sz="1050" b="0" i="0" u="none" dirty="0">
                <a:solidFill>
                  <a:srgbClr val="2E3B32"/>
                </a:solidFill>
                <a:latin typeface="Noto Sans KR"/>
              </a:rPr>
              <a:t> </a:t>
            </a:r>
            <a:r>
              <a:rPr sz="1050" b="0" i="0" u="none" dirty="0" err="1">
                <a:solidFill>
                  <a:srgbClr val="2E3B32"/>
                </a:solidFill>
                <a:latin typeface="Noto Sans KR"/>
              </a:rPr>
              <a:t>즉시</a:t>
            </a:r>
            <a:r>
              <a:rPr sz="1050" b="0" i="0" u="none" dirty="0">
                <a:solidFill>
                  <a:srgbClr val="2E3B32"/>
                </a:solidFill>
                <a:latin typeface="Noto Sans KR"/>
              </a:rPr>
              <a:t> </a:t>
            </a:r>
            <a:r>
              <a:rPr sz="1050" b="0" i="0" u="none" dirty="0" err="1">
                <a:solidFill>
                  <a:srgbClr val="2E3B32"/>
                </a:solidFill>
                <a:latin typeface="Noto Sans KR"/>
              </a:rPr>
              <a:t>매핑</a:t>
            </a:r>
            <a:endParaRPr sz="1050" b="0" i="0" u="none" dirty="0">
              <a:solidFill>
                <a:srgbClr val="2E3B32"/>
              </a:solidFill>
              <a:latin typeface="Noto Sans KR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624637" y="3166040"/>
            <a:ext cx="4776787" cy="400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050" b="1" i="0" u="none">
                <a:solidFill>
                  <a:srgbClr val="0C3C20"/>
                </a:solidFill>
                <a:latin typeface="Noto Sans KR"/>
              </a:rPr>
              <a:t>압도적인 안정성:</a:t>
            </a:r>
            <a:r>
              <a:rPr sz="1050" b="0" i="0" u="none">
                <a:solidFill>
                  <a:srgbClr val="2E3B32"/>
                </a:solidFill>
                <a:latin typeface="Noto Sans KR"/>
              </a:rPr>
              <a:t> 웹사이트 프론트엔드 디자인이 어떻게 전면 리뉴얼되더라도 뒤에서 받는 데이터 형태와 핵심 규격은 변함없어 마비 없음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4637" y="3661340"/>
            <a:ext cx="4776787" cy="400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050" b="1" i="0" u="none" dirty="0" err="1">
                <a:solidFill>
                  <a:srgbClr val="0C3C20"/>
                </a:solidFill>
                <a:latin typeface="Noto Sans KR"/>
              </a:rPr>
              <a:t>합법성과</a:t>
            </a:r>
            <a:r>
              <a:rPr sz="1050" b="1" i="0" u="none" dirty="0">
                <a:solidFill>
                  <a:srgbClr val="0C3C20"/>
                </a:solidFill>
                <a:latin typeface="Noto Sans KR"/>
              </a:rPr>
              <a:t> </a:t>
            </a:r>
            <a:r>
              <a:rPr sz="1050" b="1" i="0" u="none" dirty="0" err="1">
                <a:solidFill>
                  <a:srgbClr val="0C3C20"/>
                </a:solidFill>
                <a:latin typeface="Noto Sans KR"/>
              </a:rPr>
              <a:t>영속성</a:t>
            </a:r>
            <a:r>
              <a:rPr sz="1050" b="1" i="0" u="none" dirty="0">
                <a:solidFill>
                  <a:srgbClr val="0C3C20"/>
                </a:solidFill>
                <a:latin typeface="Noto Sans KR"/>
              </a:rPr>
              <a:t>:</a:t>
            </a:r>
            <a:r>
              <a:rPr sz="1050" b="0" i="0" u="none" dirty="0">
                <a:solidFill>
                  <a:srgbClr val="2E3B32"/>
                </a:solidFill>
                <a:latin typeface="Noto Sans KR"/>
              </a:rPr>
              <a:t> </a:t>
            </a:r>
            <a:r>
              <a:rPr sz="1050" b="0" i="0" u="none" dirty="0" err="1">
                <a:solidFill>
                  <a:srgbClr val="2E3B32"/>
                </a:solidFill>
                <a:latin typeface="Noto Sans KR"/>
              </a:rPr>
              <a:t>국가</a:t>
            </a:r>
            <a:r>
              <a:rPr sz="1050" b="0" i="0" u="none" dirty="0">
                <a:solidFill>
                  <a:srgbClr val="2E3B32"/>
                </a:solidFill>
                <a:latin typeface="Noto Sans KR"/>
              </a:rPr>
              <a:t> </a:t>
            </a:r>
            <a:r>
              <a:rPr sz="1050" b="0" i="0" u="none" dirty="0" err="1">
                <a:solidFill>
                  <a:srgbClr val="2E3B32"/>
                </a:solidFill>
                <a:latin typeface="Noto Sans KR"/>
              </a:rPr>
              <a:t>공인</a:t>
            </a:r>
            <a:r>
              <a:rPr sz="1050" b="0" i="0" u="none" dirty="0">
                <a:solidFill>
                  <a:srgbClr val="2E3B32"/>
                </a:solidFill>
                <a:latin typeface="Noto Sans KR"/>
              </a:rPr>
              <a:t> </a:t>
            </a:r>
            <a:r>
              <a:rPr sz="1050" b="0" i="0" u="none" dirty="0" err="1">
                <a:solidFill>
                  <a:srgbClr val="2E3B32"/>
                </a:solidFill>
                <a:latin typeface="Noto Sans KR"/>
              </a:rPr>
              <a:t>데이터를</a:t>
            </a:r>
            <a:r>
              <a:rPr sz="1050" b="0" i="0" u="none" dirty="0">
                <a:solidFill>
                  <a:srgbClr val="2E3B32"/>
                </a:solidFill>
                <a:latin typeface="Noto Sans KR"/>
              </a:rPr>
              <a:t> </a:t>
            </a:r>
            <a:r>
              <a:rPr sz="1050" b="0" i="0" u="none" dirty="0" err="1">
                <a:solidFill>
                  <a:srgbClr val="2E3B32"/>
                </a:solidFill>
                <a:latin typeface="Noto Sans KR"/>
              </a:rPr>
              <a:t>인가</a:t>
            </a:r>
            <a:r>
              <a:rPr sz="1050" b="0" i="0" u="none" dirty="0">
                <a:solidFill>
                  <a:srgbClr val="2E3B32"/>
                </a:solidFill>
                <a:latin typeface="Noto Sans KR"/>
              </a:rPr>
              <a:t> </a:t>
            </a:r>
            <a:r>
              <a:rPr sz="1050" b="0" i="0" u="none" dirty="0" err="1">
                <a:solidFill>
                  <a:srgbClr val="2E3B32"/>
                </a:solidFill>
                <a:latin typeface="Noto Sans KR"/>
              </a:rPr>
              <a:t>하에</a:t>
            </a:r>
            <a:r>
              <a:rPr sz="1050" b="0" i="0" u="none" dirty="0">
                <a:solidFill>
                  <a:srgbClr val="2E3B32"/>
                </a:solidFill>
                <a:latin typeface="Noto Sans KR"/>
              </a:rPr>
              <a:t> </a:t>
            </a:r>
            <a:r>
              <a:rPr sz="1050" b="0" i="0" u="none" dirty="0" err="1">
                <a:solidFill>
                  <a:srgbClr val="2E3B32"/>
                </a:solidFill>
                <a:latin typeface="Noto Sans KR"/>
              </a:rPr>
              <a:t>수수하므로</a:t>
            </a:r>
            <a:r>
              <a:rPr sz="1050" b="0" i="0" u="none" dirty="0">
                <a:solidFill>
                  <a:srgbClr val="2E3B32"/>
                </a:solidFill>
                <a:latin typeface="Noto Sans KR"/>
              </a:rPr>
              <a:t> </a:t>
            </a:r>
            <a:r>
              <a:rPr sz="1050" b="0" i="0" u="none" dirty="0" err="1">
                <a:solidFill>
                  <a:srgbClr val="2E3B32"/>
                </a:solidFill>
                <a:latin typeface="Noto Sans KR"/>
              </a:rPr>
              <a:t>가이드라인</a:t>
            </a:r>
            <a:r>
              <a:rPr sz="1050" b="0" i="0" u="none" dirty="0">
                <a:solidFill>
                  <a:srgbClr val="2E3B32"/>
                </a:solidFill>
                <a:latin typeface="Noto Sans KR"/>
              </a:rPr>
              <a:t> </a:t>
            </a:r>
            <a:r>
              <a:rPr sz="1050" b="0" i="0" u="none" dirty="0" err="1">
                <a:solidFill>
                  <a:srgbClr val="2E3B32"/>
                </a:solidFill>
                <a:latin typeface="Noto Sans KR"/>
              </a:rPr>
              <a:t>준수</a:t>
            </a:r>
            <a:r>
              <a:rPr sz="1050" b="0" i="0" u="none" dirty="0">
                <a:solidFill>
                  <a:srgbClr val="2E3B32"/>
                </a:solidFill>
                <a:latin typeface="Noto Sans KR"/>
              </a:rPr>
              <a:t> 시  </a:t>
            </a:r>
            <a:r>
              <a:rPr sz="1050" b="0" i="0" u="none" dirty="0" err="1">
                <a:solidFill>
                  <a:srgbClr val="2E3B32"/>
                </a:solidFill>
                <a:latin typeface="Noto Sans KR"/>
              </a:rPr>
              <a:t>합법적인</a:t>
            </a:r>
            <a:r>
              <a:rPr sz="1050" b="0" i="0" u="none" dirty="0">
                <a:solidFill>
                  <a:srgbClr val="2E3B32"/>
                </a:solidFill>
                <a:latin typeface="Noto Sans KR"/>
              </a:rPr>
              <a:t> </a:t>
            </a:r>
            <a:r>
              <a:rPr sz="1050" b="0" i="0" u="none" dirty="0" err="1">
                <a:solidFill>
                  <a:srgbClr val="2E3B32"/>
                </a:solidFill>
                <a:latin typeface="Noto Sans KR"/>
              </a:rPr>
              <a:t>배포</a:t>
            </a:r>
            <a:r>
              <a:rPr sz="1050" b="0" i="0" u="none" dirty="0">
                <a:solidFill>
                  <a:srgbClr val="2E3B32"/>
                </a:solidFill>
                <a:latin typeface="Noto Sans KR"/>
              </a:rPr>
              <a:t> </a:t>
            </a:r>
            <a:r>
              <a:rPr sz="1050" b="0" i="0" u="none" dirty="0" err="1">
                <a:solidFill>
                  <a:srgbClr val="2E3B32"/>
                </a:solidFill>
                <a:latin typeface="Noto Sans KR"/>
              </a:rPr>
              <a:t>가능</a:t>
            </a:r>
            <a:endParaRPr sz="1050" b="0" i="0" u="none" dirty="0">
              <a:solidFill>
                <a:srgbClr val="2E3B32"/>
              </a:solidFill>
              <a:latin typeface="Noto Sans KR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838200" y="2661215"/>
            <a:ext cx="5715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1" i="0" u="none">
                <a:solidFill>
                  <a:srgbClr val="E65F2C"/>
                </a:solidFill>
                <a:latin typeface="Noto Sans KR"/>
              </a:rPr>
              <a:t>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8200" y="3156515"/>
            <a:ext cx="5715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1" i="0" u="none">
                <a:solidFill>
                  <a:srgbClr val="E65F2C"/>
                </a:solidFill>
                <a:latin typeface="Noto Sans KR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8200" y="3651815"/>
            <a:ext cx="5715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1" i="0" u="none">
                <a:solidFill>
                  <a:srgbClr val="E65F2C"/>
                </a:solidFill>
                <a:latin typeface="Noto Sans KR"/>
              </a:rPr>
              <a:t>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81762" y="2661215"/>
            <a:ext cx="5715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1" i="0" u="none">
                <a:solidFill>
                  <a:srgbClr val="E65F2C"/>
                </a:solidFill>
                <a:latin typeface="Noto Sans KR"/>
              </a:rPr>
              <a:t>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81762" y="3156515"/>
            <a:ext cx="5715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1" i="0" u="none">
                <a:solidFill>
                  <a:srgbClr val="E65F2C"/>
                </a:solidFill>
                <a:latin typeface="Noto Sans KR"/>
              </a:rPr>
              <a:t>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81762" y="3651815"/>
            <a:ext cx="5715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1" i="0" u="none">
                <a:solidFill>
                  <a:srgbClr val="E65F2C"/>
                </a:solidFill>
                <a:latin typeface="Noto Sans KR"/>
              </a:rPr>
              <a:t>•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E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2215730"/>
            <a:ext cx="2735609" cy="97155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70709" y="2215730"/>
            <a:ext cx="4103340" cy="97155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37798" y="2215730"/>
            <a:ext cx="3282701" cy="971550"/>
          </a:xfrm>
          <a:prstGeom prst="rect">
            <a:avLst/>
          </a:prstGeom>
        </p:spPr>
      </p:pic>
      <p:sp>
        <p:nvSpPr>
          <p:cNvPr id="35" name="Rounded Rectangle 34"/>
          <p:cNvSpPr/>
          <p:nvPr/>
        </p:nvSpPr>
        <p:spPr>
          <a:xfrm>
            <a:off x="571500" y="3377780"/>
            <a:ext cx="5405437" cy="1679739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BE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ounded Rectangle 35"/>
          <p:cNvSpPr/>
          <p:nvPr/>
        </p:nvSpPr>
        <p:spPr>
          <a:xfrm>
            <a:off x="6215062" y="3377780"/>
            <a:ext cx="5405437" cy="1679739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BE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14375" y="428625"/>
            <a:ext cx="11451431" cy="342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700"/>
              </a:lnSpc>
            </a:pPr>
            <a:r>
              <a:rPr sz="2250" b="0" i="0" u="none">
                <a:solidFill>
                  <a:srgbClr val="0C3C20"/>
                </a:solidFill>
                <a:latin typeface="Noto Sans KR ExtraBold"/>
              </a:rPr>
              <a:t>3. 시스템 구성: 데이터와 서버가 유기적으로 도는 구조</a:t>
            </a:r>
          </a:p>
        </p:txBody>
      </p:sp>
      <p:sp>
        <p:nvSpPr>
          <p:cNvPr id="8" name="Rectangle 7"/>
          <p:cNvSpPr/>
          <p:nvPr/>
        </p:nvSpPr>
        <p:spPr>
          <a:xfrm>
            <a:off x="571500" y="428625"/>
            <a:ext cx="57150" cy="342900"/>
          </a:xfrm>
          <a:prstGeom prst="rect">
            <a:avLst/>
          </a:prstGeom>
          <a:solidFill>
            <a:srgbClr val="E65F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93133" y="2396705"/>
            <a:ext cx="2492342" cy="3619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25" b="1" i="0" u="none">
                <a:solidFill>
                  <a:srgbClr val="0C3C20"/>
                </a:solidFill>
                <a:latin typeface="Noto Sans KR"/>
              </a:rPr>
              <a:t>사용자</a:t>
            </a:r>
            <a:r>
              <a:t>
</a:t>
            </a:r>
            <a:r>
              <a:rPr sz="1125" b="1" i="0" u="none">
                <a:solidFill>
                  <a:srgbClr val="0C3C20"/>
                </a:solidFill>
                <a:latin typeface="Noto Sans KR"/>
              </a:rPr>
              <a:t> (웹 브라우저)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2475" y="2834855"/>
            <a:ext cx="2373659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350"/>
              </a:lnSpc>
            </a:pPr>
            <a:r>
              <a:rPr sz="900" b="0" i="0" u="none">
                <a:solidFill>
                  <a:srgbClr val="55665A"/>
                </a:solidFill>
                <a:latin typeface="Noto Sans KR"/>
              </a:rPr>
              <a:t>PC, 스마트폰 화면에서 입력 조건 필터링</a:t>
            </a:r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49984" y="2587205"/>
            <a:ext cx="177849" cy="2286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868150" y="2406230"/>
            <a:ext cx="3908457" cy="342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25" b="1" i="0" u="none">
                <a:solidFill>
                  <a:srgbClr val="0C3C20"/>
                </a:solidFill>
                <a:latin typeface="Noto Sans KR"/>
              </a:rPr>
              <a:t>Flask 웹 서버</a:t>
            </a:r>
            <a:r>
              <a:t>
</a:t>
            </a:r>
            <a:r>
              <a:rPr sz="1125" b="1" i="0" u="none">
                <a:solidFill>
                  <a:srgbClr val="0C3C20"/>
                </a:solidFill>
                <a:latin typeface="Noto Sans KR"/>
              </a:rPr>
              <a:t> (app.py)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61209" y="2825330"/>
            <a:ext cx="372234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350"/>
              </a:lnSpc>
            </a:pPr>
            <a:r>
              <a:rPr sz="900" b="0" i="0" u="none">
                <a:solidFill>
                  <a:srgbClr val="55665A"/>
                </a:solidFill>
                <a:latin typeface="Noto Sans KR"/>
              </a:rPr>
              <a:t>검색 처리 및 매시업 중앙 통제 중추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16924" y="2587205"/>
            <a:ext cx="177849" cy="2286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445754" y="2396705"/>
            <a:ext cx="3066789" cy="3619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25" b="1" i="0" u="none">
                <a:solidFill>
                  <a:srgbClr val="0C3C20"/>
                </a:solidFill>
                <a:latin typeface="Noto Sans KR"/>
              </a:rPr>
              <a:t>공공데이터포털</a:t>
            </a:r>
            <a:r>
              <a:t>
</a:t>
            </a:r>
            <a:r>
              <a:rPr sz="1125" b="1" i="0" u="none">
                <a:solidFill>
                  <a:srgbClr val="0C3C20"/>
                </a:solidFill>
                <a:latin typeface="Noto Sans KR"/>
              </a:rPr>
              <a:t> (고캠핑 Open API)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18773" y="2834855"/>
            <a:ext cx="2920751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350"/>
              </a:lnSpc>
            </a:pPr>
            <a:r>
              <a:rPr sz="900" b="0" i="0" u="none">
                <a:solidFill>
                  <a:srgbClr val="55665A"/>
                </a:solidFill>
                <a:latin typeface="Noto Sans KR"/>
              </a:rPr>
              <a:t>전국 캠핑장 표준 데이터 소스 제공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2361" y="3596855"/>
            <a:ext cx="5215651" cy="241845"/>
          </a:xfrm>
          <a:prstGeom prst="rect">
            <a:avLst/>
          </a:prstGeom>
          <a:noFill/>
        </p:spPr>
        <p:txBody>
          <a:bodyPr wrap="square" lIns="209698" tIns="0" rIns="0" bIns="0" anchor="t">
            <a:spAutoFit/>
          </a:bodyPr>
          <a:lstStyle/>
          <a:p>
            <a:pPr algn="l">
              <a:lnSpc>
                <a:spcPts val="1754"/>
              </a:lnSpc>
            </a:pPr>
            <a:r>
              <a:rPr sz="1350" b="1" i="0" u="none">
                <a:solidFill>
                  <a:srgbClr val="0C3C20"/>
                </a:solidFill>
                <a:latin typeface="Noto Sans KR"/>
              </a:rPr>
              <a:t>외부 부가 연동 생태계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0575" y="3876800"/>
            <a:ext cx="4967287" cy="19050"/>
          </a:xfrm>
          <a:prstGeom prst="rect">
            <a:avLst/>
          </a:prstGeom>
          <a:solidFill>
            <a:srgbClr val="EE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585923" y="3596855"/>
            <a:ext cx="5215651" cy="241845"/>
          </a:xfrm>
          <a:prstGeom prst="rect">
            <a:avLst/>
          </a:prstGeom>
          <a:noFill/>
        </p:spPr>
        <p:txBody>
          <a:bodyPr wrap="square" lIns="209698" tIns="0" rIns="0" bIns="0" anchor="t">
            <a:spAutoFit/>
          </a:bodyPr>
          <a:lstStyle/>
          <a:p>
            <a:pPr algn="l">
              <a:lnSpc>
                <a:spcPts val="1754"/>
              </a:lnSpc>
            </a:pPr>
            <a:r>
              <a:rPr sz="1350" b="1" i="0" u="none">
                <a:solidFill>
                  <a:srgbClr val="0C3C20"/>
                </a:solidFill>
                <a:latin typeface="Noto Sans KR"/>
              </a:rPr>
              <a:t>사용 기술 및 환경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34137" y="3876800"/>
            <a:ext cx="4967287" cy="19050"/>
          </a:xfrm>
          <a:prstGeom prst="rect">
            <a:avLst/>
          </a:prstGeom>
          <a:solidFill>
            <a:srgbClr val="EE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0575" y="3615905"/>
            <a:ext cx="133498" cy="17145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81075" y="4010150"/>
            <a:ext cx="4776787" cy="2000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050" b="1" i="0" u="none">
                <a:solidFill>
                  <a:srgbClr val="2E3B32"/>
                </a:solidFill>
                <a:latin typeface="Noto Sans KR"/>
              </a:rPr>
              <a:t>날씨 동적 예보:</a:t>
            </a:r>
            <a:r>
              <a:rPr sz="1050" b="0" i="0" u="none">
                <a:solidFill>
                  <a:srgbClr val="2E3B32"/>
                </a:solidFill>
                <a:latin typeface="Noto Sans KR"/>
              </a:rPr>
              <a:t> Open-Meteo API 연동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1075" y="4305425"/>
            <a:ext cx="4776787" cy="2000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050" b="1" i="0" u="none">
                <a:solidFill>
                  <a:srgbClr val="2E3B32"/>
                </a:solidFill>
                <a:latin typeface="Noto Sans KR"/>
              </a:rPr>
              <a:t>소요시간/거리 추적:</a:t>
            </a:r>
            <a:r>
              <a:rPr sz="1050" b="0" i="0" u="none">
                <a:solidFill>
                  <a:srgbClr val="2E3B32"/>
                </a:solidFill>
                <a:latin typeface="Noto Sans KR"/>
              </a:rPr>
              <a:t> 네이버 지도 길찾기 API 연동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1075" y="4600700"/>
            <a:ext cx="4776787" cy="2000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050" b="1" i="0" u="none">
                <a:solidFill>
                  <a:srgbClr val="2E3B32"/>
                </a:solidFill>
                <a:latin typeface="Noto Sans KR"/>
              </a:rPr>
              <a:t>클라우드 프로덕션 배포:</a:t>
            </a:r>
            <a:r>
              <a:rPr sz="1050" b="0" i="0" u="none">
                <a:solidFill>
                  <a:srgbClr val="2E3B32"/>
                </a:solidFill>
                <a:latin typeface="Noto Sans KR"/>
              </a:rPr>
              <a:t> Render + gunicorn 웹 서버 탑재</a:t>
            </a:r>
          </a:p>
        </p:txBody>
      </p:sp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34137" y="3615905"/>
            <a:ext cx="133498" cy="17145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624637" y="4010150"/>
            <a:ext cx="4776787" cy="2000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050" b="1" i="0" u="none">
                <a:solidFill>
                  <a:srgbClr val="2E3B32"/>
                </a:solidFill>
                <a:latin typeface="Noto Sans KR"/>
              </a:rPr>
              <a:t>Back-end &amp; Engine:</a:t>
            </a:r>
            <a:r>
              <a:rPr sz="1050" b="0" i="0" u="none">
                <a:solidFill>
                  <a:srgbClr val="2E3B32"/>
                </a:solidFill>
                <a:latin typeface="Noto Sans KR"/>
              </a:rPr>
              <a:t> Python, Flask, requests, gunicorn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24637" y="4305425"/>
            <a:ext cx="4776787" cy="2000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050" b="1" i="0" u="none">
                <a:solidFill>
                  <a:srgbClr val="2E3B32"/>
                </a:solidFill>
                <a:latin typeface="Noto Sans KR"/>
              </a:rPr>
              <a:t>Front-end UI:</a:t>
            </a:r>
            <a:r>
              <a:rPr sz="1050" b="0" i="0" u="none">
                <a:solidFill>
                  <a:srgbClr val="2E3B32"/>
                </a:solidFill>
                <a:latin typeface="Noto Sans KR"/>
              </a:rPr>
              <a:t> Jinja2 HTML Template, CSS3, JavaScript (AJAX)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4637" y="4600700"/>
            <a:ext cx="4776787" cy="2000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050" b="1" i="0" u="none">
                <a:solidFill>
                  <a:srgbClr val="2E3B32"/>
                </a:solidFill>
                <a:latin typeface="Noto Sans KR"/>
              </a:rPr>
              <a:t>Hosting Service:</a:t>
            </a:r>
            <a:r>
              <a:rPr sz="1050" b="0" i="0" u="none">
                <a:solidFill>
                  <a:srgbClr val="2E3B32"/>
                </a:solidFill>
                <a:latin typeface="Noto Sans KR"/>
              </a:rPr>
              <a:t> Render Cloud Platform 배포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8200" y="4000625"/>
            <a:ext cx="5715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1" i="0" u="none">
                <a:solidFill>
                  <a:srgbClr val="E65F2C"/>
                </a:solidFill>
                <a:latin typeface="Noto Sans KR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8200" y="4295900"/>
            <a:ext cx="5715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1" i="0" u="none">
                <a:solidFill>
                  <a:srgbClr val="E65F2C"/>
                </a:solidFill>
                <a:latin typeface="Noto Sans KR"/>
              </a:rPr>
              <a:t>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8200" y="4591175"/>
            <a:ext cx="5715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1" i="0" u="none">
                <a:solidFill>
                  <a:srgbClr val="E65F2C"/>
                </a:solidFill>
                <a:latin typeface="Noto Sans KR"/>
              </a:rPr>
              <a:t>•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81762" y="4000625"/>
            <a:ext cx="5715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1" i="0" u="none">
                <a:solidFill>
                  <a:srgbClr val="E65F2C"/>
                </a:solidFill>
                <a:latin typeface="Noto Sans KR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81762" y="4295900"/>
            <a:ext cx="5715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1" i="0" u="none">
                <a:solidFill>
                  <a:srgbClr val="E65F2C"/>
                </a:solidFill>
                <a:latin typeface="Noto Sans KR"/>
              </a:rPr>
              <a:t>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81762" y="4591175"/>
            <a:ext cx="5715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1" i="0" u="none">
                <a:solidFill>
                  <a:srgbClr val="E65F2C"/>
                </a:solidFill>
                <a:latin typeface="Noto Sans KR"/>
              </a:rPr>
              <a:t>•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E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4038599"/>
            <a:ext cx="11049000" cy="863798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2500312"/>
            <a:ext cx="2735609" cy="1109662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0709" y="2500312"/>
            <a:ext cx="4103340" cy="1109662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37798" y="2500312"/>
            <a:ext cx="3282701" cy="110966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14375" y="428625"/>
            <a:ext cx="11451431" cy="342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700"/>
              </a:lnSpc>
            </a:pPr>
            <a:r>
              <a:rPr sz="2250" b="0" i="0" u="none">
                <a:solidFill>
                  <a:srgbClr val="0C3C20"/>
                </a:solidFill>
                <a:latin typeface="Noto Sans KR ExtraBold"/>
              </a:rPr>
              <a:t>3. 시스템 구성: 검색 한 번에 구동되는 실시간 3단계</a:t>
            </a:r>
          </a:p>
        </p:txBody>
      </p:sp>
      <p:sp>
        <p:nvSpPr>
          <p:cNvPr id="7" name="Rectangle 6"/>
          <p:cNvSpPr/>
          <p:nvPr/>
        </p:nvSpPr>
        <p:spPr>
          <a:xfrm>
            <a:off x="571500" y="428625"/>
            <a:ext cx="57150" cy="342900"/>
          </a:xfrm>
          <a:prstGeom prst="rect">
            <a:avLst/>
          </a:prstGeom>
          <a:solidFill>
            <a:srgbClr val="E65F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63215" y="4192178"/>
            <a:ext cx="10466784" cy="15004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75" b="0" i="0" u="none" dirty="0">
                <a:solidFill>
                  <a:srgbClr val="0C3C20"/>
                </a:solidFill>
                <a:latin typeface="Noto Sans KR ExtraBold"/>
              </a:rPr>
              <a:t>[</a:t>
            </a:r>
            <a:r>
              <a:rPr sz="975" b="0" i="0" u="none" dirty="0" err="1">
                <a:solidFill>
                  <a:srgbClr val="0C3C20"/>
                </a:solidFill>
                <a:latin typeface="Noto Sans KR ExtraBold"/>
              </a:rPr>
              <a:t>핵심</a:t>
            </a:r>
            <a:r>
              <a:rPr sz="975" b="0" i="0" u="none" dirty="0">
                <a:solidFill>
                  <a:srgbClr val="0C3C20"/>
                </a:solidFill>
                <a:latin typeface="Noto Sans KR ExtraBold"/>
              </a:rPr>
              <a:t> </a:t>
            </a:r>
            <a:r>
              <a:rPr sz="975" b="0" i="0" u="none" dirty="0" err="1">
                <a:solidFill>
                  <a:srgbClr val="0C3C20"/>
                </a:solidFill>
                <a:latin typeface="Noto Sans KR ExtraBold"/>
              </a:rPr>
              <a:t>동작</a:t>
            </a:r>
            <a:r>
              <a:rPr sz="975" b="0" i="0" u="none" dirty="0">
                <a:solidFill>
                  <a:srgbClr val="0C3C20"/>
                </a:solidFill>
                <a:latin typeface="Noto Sans KR ExtraBold"/>
              </a:rPr>
              <a:t> </a:t>
            </a:r>
            <a:r>
              <a:rPr sz="975" b="0" i="0" u="none" dirty="0" err="1">
                <a:solidFill>
                  <a:srgbClr val="0C3C20"/>
                </a:solidFill>
                <a:latin typeface="Noto Sans KR ExtraBold"/>
              </a:rPr>
              <a:t>비화</a:t>
            </a:r>
            <a:r>
              <a:rPr sz="975" b="0" i="0" u="none" dirty="0">
                <a:solidFill>
                  <a:srgbClr val="0C3C20"/>
                </a:solidFill>
                <a:latin typeface="Noto Sans KR ExtraBold"/>
              </a:rPr>
              <a:t>] </a:t>
            </a:r>
            <a:r>
              <a:rPr sz="975" b="0" i="0" u="none" dirty="0" err="1">
                <a:solidFill>
                  <a:srgbClr val="0C3C20"/>
                </a:solidFill>
                <a:latin typeface="Noto Sans KR ExtraBold"/>
              </a:rPr>
              <a:t>전국</a:t>
            </a:r>
            <a:r>
              <a:rPr sz="975" b="0" i="0" u="none" dirty="0">
                <a:solidFill>
                  <a:srgbClr val="0C3C20"/>
                </a:solidFill>
                <a:latin typeface="Noto Sans KR ExtraBold"/>
              </a:rPr>
              <a:t> </a:t>
            </a:r>
            <a:r>
              <a:rPr sz="975" b="0" i="0" u="none" dirty="0" err="1">
                <a:solidFill>
                  <a:srgbClr val="0C3C20"/>
                </a:solidFill>
                <a:latin typeface="Noto Sans KR ExtraBold"/>
              </a:rPr>
              <a:t>데이터</a:t>
            </a:r>
            <a:r>
              <a:rPr sz="975" b="0" i="0" u="none" dirty="0">
                <a:solidFill>
                  <a:srgbClr val="0C3C20"/>
                </a:solidFill>
                <a:latin typeface="Noto Sans KR ExtraBold"/>
              </a:rPr>
              <a:t> </a:t>
            </a:r>
            <a:r>
              <a:rPr sz="975" b="0" i="0" u="none" dirty="0" err="1">
                <a:solidFill>
                  <a:srgbClr val="0C3C20"/>
                </a:solidFill>
                <a:latin typeface="Noto Sans KR ExtraBold"/>
              </a:rPr>
              <a:t>메모리</a:t>
            </a:r>
            <a:r>
              <a:rPr sz="975" b="0" i="0" u="none" dirty="0">
                <a:solidFill>
                  <a:srgbClr val="0C3C20"/>
                </a:solidFill>
                <a:latin typeface="Noto Sans KR ExtraBold"/>
              </a:rPr>
              <a:t> </a:t>
            </a:r>
            <a:r>
              <a:rPr sz="975" b="0" i="0" u="none" dirty="0" err="1">
                <a:solidFill>
                  <a:srgbClr val="0C3C20"/>
                </a:solidFill>
                <a:latin typeface="Noto Sans KR ExtraBold"/>
              </a:rPr>
              <a:t>탑재</a:t>
            </a:r>
            <a:r>
              <a:rPr sz="975" b="0" i="0" u="none" dirty="0">
                <a:solidFill>
                  <a:srgbClr val="0C3C20"/>
                </a:solidFill>
                <a:latin typeface="Noto Sans KR ExtraBold"/>
              </a:rPr>
              <a:t> </a:t>
            </a:r>
            <a:r>
              <a:rPr sz="975" b="0" i="0" u="none" dirty="0" err="1">
                <a:solidFill>
                  <a:srgbClr val="0C3C20"/>
                </a:solidFill>
                <a:latin typeface="Noto Sans KR ExtraBold"/>
              </a:rPr>
              <a:t>캐시</a:t>
            </a:r>
            <a:r>
              <a:rPr sz="975" b="0" i="0" u="none" dirty="0">
                <a:solidFill>
                  <a:srgbClr val="0C3C20"/>
                </a:solidFill>
                <a:latin typeface="Noto Sans KR ExtraBold"/>
              </a:rPr>
              <a:t> </a:t>
            </a:r>
            <a:r>
              <a:rPr sz="975" b="0" i="0" u="none" dirty="0" err="1">
                <a:solidFill>
                  <a:srgbClr val="0C3C20"/>
                </a:solidFill>
                <a:latin typeface="Noto Sans KR ExtraBold"/>
              </a:rPr>
              <a:t>기법</a:t>
            </a:r>
            <a:endParaRPr sz="975" b="0" i="0" u="none" dirty="0">
              <a:solidFill>
                <a:srgbClr val="0C3C20"/>
              </a:solidFill>
              <a:latin typeface="Noto Sans KR ExtraBold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809625" y="4400549"/>
            <a:ext cx="10620375" cy="3589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413"/>
              </a:lnSpc>
            </a:pPr>
            <a:r>
              <a:rPr sz="975" b="0" i="0" u="none">
                <a:solidFill>
                  <a:srgbClr val="4A4230"/>
                </a:solidFill>
                <a:latin typeface="Noto Sans KR"/>
              </a:rPr>
              <a:t>고캠핑 Open API 서버는 데이터를 일괄 전송하지 않고 100개씩 '페이지'로만 끊어줍니다. 사용자가 매 검색 시마다 공공포털 서버에서 무겁게 페이징 호출을 하게 되면 엄청난 딜레이가 발생하므로, </a:t>
            </a:r>
            <a:r>
              <a:rPr sz="975" b="1" i="0" u="none">
                <a:solidFill>
                  <a:srgbClr val="4A4230"/>
                </a:solidFill>
                <a:latin typeface="Noto Sans KR"/>
              </a:rPr>
              <a:t>서버 부팅 시 처음에 무한 루프를 통해 끝까지 받아와 메모리에 저장(캐싱)</a:t>
            </a:r>
            <a:r>
              <a:rPr sz="975" b="0" i="0" u="none">
                <a:solidFill>
                  <a:srgbClr val="4A4230"/>
                </a:solidFill>
                <a:latin typeface="Noto Sans KR"/>
              </a:rPr>
              <a:t>해 두는 전처리 알고리즘을 장착해 검색 대기 시간을 줄였습니다.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3133" y="2709862"/>
            <a:ext cx="2492342" cy="2571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1" i="0" u="none">
                <a:solidFill>
                  <a:srgbClr val="E65F2C"/>
                </a:solidFill>
                <a:latin typeface="Noto Sans KR"/>
              </a:rPr>
              <a:t>1. 입력 조건 파악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2475" y="3043237"/>
            <a:ext cx="2373659" cy="3857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518"/>
              </a:lnSpc>
            </a:pPr>
            <a:r>
              <a:rPr sz="1012" b="0" i="0" u="none">
                <a:solidFill>
                  <a:srgbClr val="55665A"/>
                </a:solidFill>
                <a:latin typeface="Noto Sans KR"/>
              </a:rPr>
              <a:t>시도, 시군구 지역 선택</a:t>
            </a:r>
            <a:r>
              <a:t>
</a:t>
            </a:r>
            <a:r>
              <a:rPr sz="1012" b="0" i="0" u="none">
                <a:solidFill>
                  <a:srgbClr val="55665A"/>
                </a:solidFill>
                <a:latin typeface="Noto Sans KR"/>
              </a:rPr>
              <a:t> '글램핑', '온수' 복수 키워드 제출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49984" y="2940843"/>
            <a:ext cx="177849" cy="2286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858149" y="2709862"/>
            <a:ext cx="3928459" cy="2571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1" i="0" u="none">
                <a:solidFill>
                  <a:srgbClr val="0C3C20"/>
                </a:solidFill>
                <a:latin typeface="Noto Sans KR"/>
              </a:rPr>
              <a:t>2. 서버사이드 추려내기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51684" y="3043237"/>
            <a:ext cx="3741390" cy="3857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518"/>
              </a:lnSpc>
            </a:pPr>
            <a:r>
              <a:rPr sz="1012" b="0" i="0" u="none">
                <a:solidFill>
                  <a:srgbClr val="55665A"/>
                </a:solidFill>
                <a:latin typeface="Noto Sans KR"/>
              </a:rPr>
              <a:t>전체 로드된 메모리 데이터 중</a:t>
            </a:r>
            <a:r>
              <a:t>
</a:t>
            </a:r>
            <a:r>
              <a:rPr sz="1012" b="0" i="0" u="none">
                <a:solidFill>
                  <a:srgbClr val="55665A"/>
                </a:solidFill>
                <a:latin typeface="Noto Sans KR"/>
              </a:rPr>
              <a:t> 조건 일치 캠핑장 필터링 완료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16924" y="2940843"/>
            <a:ext cx="177849" cy="2286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445754" y="2709862"/>
            <a:ext cx="3066789" cy="2571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1" i="0" u="none">
                <a:solidFill>
                  <a:srgbClr val="0C3C20"/>
                </a:solidFill>
                <a:latin typeface="Noto Sans KR"/>
              </a:rPr>
              <a:t>3. 화면 다이내믹 표시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18773" y="3043237"/>
            <a:ext cx="2920751" cy="3857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518"/>
              </a:lnSpc>
            </a:pPr>
            <a:r>
              <a:rPr sz="1012" b="0" i="0" u="none">
                <a:solidFill>
                  <a:srgbClr val="55665A"/>
                </a:solidFill>
                <a:latin typeface="Noto Sans KR"/>
              </a:rPr>
              <a:t>사진, 날씨, 경유 소요 시간</a:t>
            </a:r>
            <a:r>
              <a:t>
</a:t>
            </a:r>
            <a:r>
              <a:rPr sz="1012" b="0" i="0" u="none">
                <a:solidFill>
                  <a:srgbClr val="55665A"/>
                </a:solidFill>
                <a:latin typeface="Noto Sans KR"/>
              </a:rPr>
              <a:t> 비동기 병합 카드로 화면 표시</a:t>
            </a:r>
          </a:p>
        </p:txBody>
      </p:sp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9625" y="4205287"/>
            <a:ext cx="96440" cy="12382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E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962025"/>
            <a:ext cx="5405437" cy="28575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247775"/>
            <a:ext cx="5405437" cy="51816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5062" y="962025"/>
            <a:ext cx="5405437" cy="1522065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5062" y="2626965"/>
            <a:ext cx="5405437" cy="125298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14375" y="428625"/>
            <a:ext cx="11451431" cy="342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700"/>
              </a:lnSpc>
            </a:pPr>
            <a:r>
              <a:rPr sz="2250" b="0" i="0" u="none">
                <a:solidFill>
                  <a:srgbClr val="0C3C20"/>
                </a:solidFill>
                <a:latin typeface="Noto Sans KR ExtraBold"/>
              </a:rPr>
              <a:t>핵심 코드 ①: 데이터 일괄 프리패치 및 메모리 캐시</a:t>
            </a:r>
          </a:p>
        </p:txBody>
      </p:sp>
      <p:sp>
        <p:nvSpPr>
          <p:cNvPr id="7" name="Rectangle 6"/>
          <p:cNvSpPr/>
          <p:nvPr/>
        </p:nvSpPr>
        <p:spPr>
          <a:xfrm>
            <a:off x="571500" y="428625"/>
            <a:ext cx="57150" cy="342900"/>
          </a:xfrm>
          <a:prstGeom prst="rect">
            <a:avLst/>
          </a:prstGeom>
          <a:solidFill>
            <a:srgbClr val="E65F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551991" y="1162050"/>
            <a:ext cx="5255656" cy="198090"/>
          </a:xfrm>
          <a:prstGeom prst="rect">
            <a:avLst/>
          </a:prstGeom>
          <a:noFill/>
        </p:spPr>
        <p:txBody>
          <a:bodyPr wrap="square" lIns="118616" tIns="0" rIns="0" bIns="0" anchor="t">
            <a:spAutoFit/>
          </a:bodyPr>
          <a:lstStyle/>
          <a:p>
            <a:pPr algn="l">
              <a:lnSpc>
                <a:spcPts val="1560"/>
              </a:lnSpc>
            </a:pPr>
            <a:r>
              <a:rPr sz="1200" b="1" i="0" u="none">
                <a:solidFill>
                  <a:srgbClr val="0C3C20"/>
                </a:solidFill>
                <a:latin typeface="Noto Sans KR"/>
              </a:rPr>
              <a:t>쉽게 말하면 어떻게 작동하나요?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15087" y="1436340"/>
            <a:ext cx="5005387" cy="3857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18"/>
              </a:lnSpc>
            </a:pPr>
            <a:r>
              <a:rPr sz="1012" b="0" i="0" u="none">
                <a:solidFill>
                  <a:srgbClr val="55665A"/>
                </a:solidFill>
                <a:latin typeface="Noto Sans KR"/>
              </a:rPr>
              <a:t>공공데이터포털 API는 데이터를 한꺼번에 통째로 넘겨주지 않고, 번거롭게 책장을 넘기듯 여러 '페이지'로 나누어 반환합니다.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15087" y="1898302"/>
            <a:ext cx="5005387" cy="3857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18"/>
              </a:lnSpc>
            </a:pPr>
            <a:r>
              <a:rPr sz="1012" b="0" i="0" u="none" dirty="0">
                <a:solidFill>
                  <a:srgbClr val="55665A"/>
                </a:solidFill>
                <a:latin typeface="Noto Sans KR"/>
              </a:rPr>
              <a:t>이 </a:t>
            </a:r>
            <a:r>
              <a:rPr sz="1012" b="0" i="0" u="none" dirty="0" err="1">
                <a:solidFill>
                  <a:srgbClr val="55665A"/>
                </a:solidFill>
                <a:latin typeface="Noto Sans KR"/>
              </a:rPr>
              <a:t>코드는</a:t>
            </a:r>
            <a:r>
              <a:rPr sz="1012" b="0" i="0" u="none" dirty="0">
                <a:solidFill>
                  <a:srgbClr val="55665A"/>
                </a:solidFill>
                <a:latin typeface="Noto Sans KR"/>
              </a:rPr>
              <a:t> </a:t>
            </a:r>
            <a:r>
              <a:rPr sz="1012" b="0" i="0" u="none" dirty="0" err="1">
                <a:solidFill>
                  <a:srgbClr val="55665A"/>
                </a:solidFill>
                <a:latin typeface="Noto Sans KR"/>
              </a:rPr>
              <a:t>반복문을</a:t>
            </a:r>
            <a:r>
              <a:rPr sz="1012" b="0" i="0" u="none" dirty="0">
                <a:solidFill>
                  <a:srgbClr val="55665A"/>
                </a:solidFill>
                <a:latin typeface="Noto Sans KR"/>
              </a:rPr>
              <a:t> </a:t>
            </a:r>
            <a:r>
              <a:rPr sz="1012" b="0" i="0" u="none" dirty="0" err="1">
                <a:solidFill>
                  <a:srgbClr val="55665A"/>
                </a:solidFill>
                <a:latin typeface="Noto Sans KR"/>
              </a:rPr>
              <a:t>통해</a:t>
            </a:r>
            <a:r>
              <a:rPr sz="1012" b="0" i="0" u="none" dirty="0">
                <a:solidFill>
                  <a:srgbClr val="55665A"/>
                </a:solidFill>
                <a:latin typeface="Noto Sans KR"/>
              </a:rPr>
              <a:t> 첫 </a:t>
            </a:r>
            <a:r>
              <a:rPr sz="1012" b="0" i="0" u="none" dirty="0" err="1">
                <a:solidFill>
                  <a:srgbClr val="55665A"/>
                </a:solidFill>
                <a:latin typeface="Noto Sans KR"/>
              </a:rPr>
              <a:t>페이지</a:t>
            </a:r>
            <a:r>
              <a:rPr sz="1012" b="0" i="0" u="none" dirty="0">
                <a:solidFill>
                  <a:srgbClr val="55665A"/>
                </a:solidFill>
                <a:latin typeface="Noto Sans KR"/>
              </a:rPr>
              <a:t> 1부터 </a:t>
            </a:r>
            <a:r>
              <a:rPr sz="1012" b="0" i="0" u="none" dirty="0" err="1">
                <a:solidFill>
                  <a:srgbClr val="55665A"/>
                </a:solidFill>
                <a:latin typeface="Noto Sans KR"/>
              </a:rPr>
              <a:t>끝까지</a:t>
            </a:r>
            <a:r>
              <a:rPr sz="1012" b="0" i="0" u="none" dirty="0">
                <a:solidFill>
                  <a:srgbClr val="55665A"/>
                </a:solidFill>
                <a:latin typeface="Noto Sans KR"/>
              </a:rPr>
              <a:t> </a:t>
            </a:r>
            <a:r>
              <a:rPr sz="1012" b="0" i="0" u="none" dirty="0" err="1">
                <a:solidFill>
                  <a:srgbClr val="55665A"/>
                </a:solidFill>
                <a:latin typeface="Noto Sans KR"/>
              </a:rPr>
              <a:t>수집하여</a:t>
            </a:r>
            <a:r>
              <a:rPr sz="1012" b="0" i="0" u="none" dirty="0">
                <a:solidFill>
                  <a:srgbClr val="55665A"/>
                </a:solidFill>
                <a:latin typeface="Noto Sans KR"/>
              </a:rPr>
              <a:t> </a:t>
            </a:r>
            <a:r>
              <a:rPr sz="1012" b="0" i="0" u="none" dirty="0" err="1">
                <a:solidFill>
                  <a:srgbClr val="55665A"/>
                </a:solidFill>
                <a:latin typeface="Noto Sans KR"/>
              </a:rPr>
              <a:t>서버</a:t>
            </a:r>
            <a:r>
              <a:rPr sz="1012" b="0" i="0" u="none" dirty="0">
                <a:solidFill>
                  <a:srgbClr val="55665A"/>
                </a:solidFill>
                <a:latin typeface="Noto Sans KR"/>
              </a:rPr>
              <a:t> </a:t>
            </a:r>
            <a:r>
              <a:rPr sz="1012" b="0" i="0" u="none" dirty="0" err="1">
                <a:solidFill>
                  <a:srgbClr val="55665A"/>
                </a:solidFill>
                <a:latin typeface="Noto Sans KR"/>
              </a:rPr>
              <a:t>컴퓨터의</a:t>
            </a:r>
            <a:r>
              <a:rPr sz="1012" b="0" i="0" u="none" dirty="0">
                <a:solidFill>
                  <a:srgbClr val="55665A"/>
                </a:solidFill>
                <a:latin typeface="Noto Sans KR"/>
              </a:rPr>
              <a:t> </a:t>
            </a:r>
            <a:r>
              <a:rPr sz="1012" b="0" i="0" u="none" dirty="0" err="1">
                <a:solidFill>
                  <a:srgbClr val="55665A"/>
                </a:solidFill>
                <a:latin typeface="Noto Sans KR"/>
              </a:rPr>
              <a:t>활성</a:t>
            </a:r>
            <a:r>
              <a:rPr sz="1012" b="0" i="0" u="none" dirty="0">
                <a:solidFill>
                  <a:srgbClr val="55665A"/>
                </a:solidFill>
                <a:latin typeface="Noto Sans KR"/>
              </a:rPr>
              <a:t> </a:t>
            </a:r>
            <a:r>
              <a:rPr sz="1012" b="0" i="0" u="none" dirty="0" err="1">
                <a:solidFill>
                  <a:srgbClr val="55665A"/>
                </a:solidFill>
                <a:latin typeface="Noto Sans KR"/>
              </a:rPr>
              <a:t>메모리에</a:t>
            </a:r>
            <a:r>
              <a:rPr sz="1012" b="0" i="0" u="none" dirty="0">
                <a:solidFill>
                  <a:srgbClr val="55665A"/>
                </a:solidFill>
                <a:latin typeface="Noto Sans KR"/>
              </a:rPr>
              <a:t> </a:t>
            </a:r>
            <a:r>
              <a:rPr sz="1012" b="0" i="0" u="none" dirty="0" err="1">
                <a:solidFill>
                  <a:srgbClr val="55665A"/>
                </a:solidFill>
                <a:latin typeface="Noto Sans KR"/>
              </a:rPr>
              <a:t>일괄로</a:t>
            </a:r>
            <a:r>
              <a:rPr sz="1012" b="0" i="0" u="none" dirty="0">
                <a:solidFill>
                  <a:srgbClr val="55665A"/>
                </a:solidFill>
                <a:latin typeface="Noto Sans KR"/>
              </a:rPr>
              <a:t> </a:t>
            </a:r>
            <a:r>
              <a:rPr sz="1012" b="0" i="0" u="none" dirty="0" err="1">
                <a:solidFill>
                  <a:srgbClr val="55665A"/>
                </a:solidFill>
                <a:latin typeface="Noto Sans KR"/>
              </a:rPr>
              <a:t>차곡차곡</a:t>
            </a:r>
            <a:r>
              <a:rPr sz="1012" b="0" i="0" u="none" dirty="0">
                <a:solidFill>
                  <a:srgbClr val="55665A"/>
                </a:solidFill>
                <a:latin typeface="Noto Sans KR"/>
              </a:rPr>
              <a:t> </a:t>
            </a:r>
            <a:r>
              <a:rPr sz="1012" b="0" i="0" u="none" dirty="0" err="1">
                <a:solidFill>
                  <a:srgbClr val="55665A"/>
                </a:solidFill>
                <a:latin typeface="Noto Sans KR"/>
              </a:rPr>
              <a:t>모아놓는</a:t>
            </a:r>
            <a:r>
              <a:rPr sz="1012" b="0" i="0" u="none" dirty="0">
                <a:solidFill>
                  <a:srgbClr val="55665A"/>
                </a:solidFill>
                <a:latin typeface="Noto Sans KR"/>
              </a:rPr>
              <a:t> </a:t>
            </a:r>
            <a:r>
              <a:rPr sz="1012" b="0" i="0" u="none" dirty="0" err="1">
                <a:solidFill>
                  <a:srgbClr val="55665A"/>
                </a:solidFill>
                <a:latin typeface="Noto Sans KR"/>
              </a:rPr>
              <a:t>역할을</a:t>
            </a:r>
            <a:r>
              <a:rPr sz="1012" b="0" i="0" u="none" dirty="0">
                <a:solidFill>
                  <a:srgbClr val="55665A"/>
                </a:solidFill>
                <a:latin typeface="Noto Sans KR"/>
              </a:rPr>
              <a:t> </a:t>
            </a:r>
            <a:r>
              <a:rPr sz="1012" b="0" i="0" u="none" dirty="0" err="1">
                <a:solidFill>
                  <a:srgbClr val="55665A"/>
                </a:solidFill>
                <a:latin typeface="Noto Sans KR"/>
              </a:rPr>
              <a:t>합니다</a:t>
            </a:r>
            <a:r>
              <a:rPr sz="1012" b="0" i="0" u="none" dirty="0">
                <a:solidFill>
                  <a:srgbClr val="55665A"/>
                </a:solidFill>
                <a:latin typeface="Noto Sans KR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51991" y="2826990"/>
            <a:ext cx="5255656" cy="198090"/>
          </a:xfrm>
          <a:prstGeom prst="rect">
            <a:avLst/>
          </a:prstGeom>
          <a:noFill/>
        </p:spPr>
        <p:txBody>
          <a:bodyPr wrap="square" lIns="118616" tIns="0" rIns="0" bIns="0" anchor="t">
            <a:spAutoFit/>
          </a:bodyPr>
          <a:lstStyle/>
          <a:p>
            <a:pPr algn="l">
              <a:lnSpc>
                <a:spcPts val="1560"/>
              </a:lnSpc>
            </a:pPr>
            <a:r>
              <a:rPr sz="1200" b="1" i="0" u="none">
                <a:solidFill>
                  <a:srgbClr val="E65F2C"/>
                </a:solidFill>
                <a:latin typeface="Noto Sans KR"/>
              </a:rPr>
              <a:t>핵심 POINT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5087" y="3101280"/>
            <a:ext cx="5005387" cy="5786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18"/>
              </a:lnSpc>
            </a:pPr>
            <a:r>
              <a:rPr sz="1012" b="1" i="0" u="none">
                <a:solidFill>
                  <a:srgbClr val="4A4230"/>
                </a:solidFill>
                <a:latin typeface="Noto Sans KR"/>
              </a:rPr>
              <a:t>최초 한 번만 원거리 공공서버에서 데이터를 모두 가져온 뒤 메모리에 저장합니다. 이후 사용자가 검색할 때는 먼 네트워크를 우회하여 0.05초 내로 검색 결과를 즉각 받아볼 수 있습니다.</a:t>
            </a:r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15087" y="1181100"/>
            <a:ext cx="118616" cy="152400"/>
          </a:xfrm>
          <a:prstGeom prst="rect">
            <a:avLst/>
          </a:prstGeom>
        </p:spPr>
      </p:pic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15087" y="2846040"/>
            <a:ext cx="118616" cy="1524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E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962025"/>
            <a:ext cx="5449788" cy="28575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247775"/>
            <a:ext cx="5449788" cy="51816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59413" y="962025"/>
            <a:ext cx="5361086" cy="1262508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59413" y="2367408"/>
            <a:ext cx="5361086" cy="125298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14375" y="428625"/>
            <a:ext cx="11451431" cy="342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700"/>
              </a:lnSpc>
            </a:pPr>
            <a:r>
              <a:rPr sz="2250" b="0" i="0" u="none" dirty="0" err="1">
                <a:solidFill>
                  <a:srgbClr val="0C3C20"/>
                </a:solidFill>
                <a:latin typeface="Noto Sans KR ExtraBold"/>
              </a:rPr>
              <a:t>핵심</a:t>
            </a:r>
            <a:r>
              <a:rPr sz="2250" b="0" i="0" u="none" dirty="0">
                <a:solidFill>
                  <a:srgbClr val="0C3C20"/>
                </a:solidFill>
                <a:latin typeface="Noto Sans KR ExtraBold"/>
              </a:rPr>
              <a:t> </a:t>
            </a:r>
            <a:r>
              <a:rPr sz="2250" b="0" i="0" u="none" dirty="0" err="1">
                <a:solidFill>
                  <a:srgbClr val="0C3C20"/>
                </a:solidFill>
                <a:latin typeface="Noto Sans KR ExtraBold"/>
              </a:rPr>
              <a:t>코드</a:t>
            </a:r>
            <a:r>
              <a:rPr sz="2250" b="0" i="0" u="none" dirty="0">
                <a:solidFill>
                  <a:srgbClr val="0C3C20"/>
                </a:solidFill>
                <a:latin typeface="Noto Sans KR ExtraBold"/>
              </a:rPr>
              <a:t> ②: </a:t>
            </a:r>
            <a:r>
              <a:rPr sz="2250" b="0" i="0" u="none" dirty="0" err="1">
                <a:solidFill>
                  <a:srgbClr val="0C3C20"/>
                </a:solidFill>
                <a:latin typeface="Noto Sans KR ExtraBold"/>
              </a:rPr>
              <a:t>영어</a:t>
            </a:r>
            <a:r>
              <a:rPr sz="2250" b="0" i="0" u="none" dirty="0">
                <a:solidFill>
                  <a:srgbClr val="0C3C20"/>
                </a:solidFill>
                <a:latin typeface="Noto Sans KR ExtraBold"/>
              </a:rPr>
              <a:t> </a:t>
            </a:r>
            <a:r>
              <a:rPr sz="2250" b="0" i="0" u="none" dirty="0" err="1">
                <a:solidFill>
                  <a:srgbClr val="0C3C20"/>
                </a:solidFill>
                <a:latin typeface="Noto Sans KR ExtraBold"/>
              </a:rPr>
              <a:t>명칭</a:t>
            </a:r>
            <a:r>
              <a:rPr sz="2250" b="0" i="0" u="none" dirty="0">
                <a:solidFill>
                  <a:srgbClr val="0C3C20"/>
                </a:solidFill>
                <a:latin typeface="Noto Sans KR ExtraBold"/>
              </a:rPr>
              <a:t> </a:t>
            </a:r>
            <a:r>
              <a:rPr sz="2250" b="0" i="0" u="none" dirty="0" err="1">
                <a:solidFill>
                  <a:srgbClr val="0C3C20"/>
                </a:solidFill>
                <a:latin typeface="Noto Sans KR ExtraBold"/>
              </a:rPr>
              <a:t>번역</a:t>
            </a:r>
            <a:r>
              <a:rPr sz="2250" b="0" i="0" u="none" dirty="0">
                <a:solidFill>
                  <a:srgbClr val="0C3C20"/>
                </a:solidFill>
                <a:latin typeface="Noto Sans KR ExtraBold"/>
              </a:rPr>
              <a:t> 및 </a:t>
            </a:r>
            <a:r>
              <a:rPr sz="2250" b="0" i="0" u="none" dirty="0" err="1">
                <a:solidFill>
                  <a:srgbClr val="0C3C20"/>
                </a:solidFill>
                <a:latin typeface="Noto Sans KR ExtraBold"/>
              </a:rPr>
              <a:t>공백</a:t>
            </a:r>
            <a:r>
              <a:rPr sz="2250" b="0" i="0" u="none" dirty="0">
                <a:solidFill>
                  <a:srgbClr val="0C3C20"/>
                </a:solidFill>
                <a:latin typeface="Noto Sans KR ExtraBold"/>
              </a:rPr>
              <a:t> </a:t>
            </a:r>
            <a:r>
              <a:rPr sz="2250" b="0" i="0" u="none" dirty="0" err="1">
                <a:solidFill>
                  <a:srgbClr val="0C3C20"/>
                </a:solidFill>
                <a:latin typeface="Noto Sans KR ExtraBold"/>
              </a:rPr>
              <a:t>무시</a:t>
            </a:r>
            <a:r>
              <a:rPr sz="2250" b="0" i="0" u="none" dirty="0">
                <a:solidFill>
                  <a:srgbClr val="0C3C20"/>
                </a:solidFill>
                <a:latin typeface="Noto Sans KR ExtraBold"/>
              </a:rPr>
              <a:t> </a:t>
            </a:r>
            <a:r>
              <a:rPr sz="2250" b="0" i="0" u="none" dirty="0" err="1">
                <a:solidFill>
                  <a:srgbClr val="0C3C20"/>
                </a:solidFill>
                <a:latin typeface="Noto Sans KR ExtraBold"/>
              </a:rPr>
              <a:t>검색</a:t>
            </a:r>
            <a:endParaRPr sz="2250" b="0" i="0" u="none" dirty="0">
              <a:solidFill>
                <a:srgbClr val="0C3C20"/>
              </a:solidFill>
              <a:latin typeface="Noto Sans KR ExtraBold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71500" y="428625"/>
            <a:ext cx="57150" cy="342900"/>
          </a:xfrm>
          <a:prstGeom prst="rect">
            <a:avLst/>
          </a:prstGeom>
          <a:solidFill>
            <a:srgbClr val="E65F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596342" y="1162050"/>
            <a:ext cx="5209088" cy="198090"/>
          </a:xfrm>
          <a:prstGeom prst="rect">
            <a:avLst/>
          </a:prstGeom>
          <a:noFill/>
        </p:spPr>
        <p:txBody>
          <a:bodyPr wrap="square" lIns="118616" tIns="0" rIns="0" bIns="0" anchor="t">
            <a:spAutoFit/>
          </a:bodyPr>
          <a:lstStyle/>
          <a:p>
            <a:pPr algn="l">
              <a:lnSpc>
                <a:spcPts val="1560"/>
              </a:lnSpc>
            </a:pPr>
            <a:r>
              <a:rPr sz="1200" b="1" i="0" u="none">
                <a:solidFill>
                  <a:srgbClr val="0C3C20"/>
                </a:solidFill>
                <a:latin typeface="Noto Sans KR"/>
              </a:rPr>
              <a:t>쉽게 말하면 어떻게 작동하나요?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59438" y="1436340"/>
            <a:ext cx="4961036" cy="36760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18"/>
              </a:lnSpc>
            </a:pPr>
            <a:r>
              <a:rPr sz="1012" b="0" i="0" u="none" dirty="0" err="1">
                <a:solidFill>
                  <a:srgbClr val="55665A"/>
                </a:solidFill>
                <a:latin typeface="Noto Sans KR"/>
              </a:rPr>
              <a:t>공공</a:t>
            </a:r>
            <a:r>
              <a:rPr sz="1012" b="0" i="0" u="none" dirty="0">
                <a:solidFill>
                  <a:srgbClr val="55665A"/>
                </a:solidFill>
                <a:latin typeface="Noto Sans KR"/>
              </a:rPr>
              <a:t> </a:t>
            </a:r>
            <a:r>
              <a:rPr sz="1012" b="0" i="0" u="none" dirty="0" err="1">
                <a:solidFill>
                  <a:srgbClr val="55665A"/>
                </a:solidFill>
                <a:latin typeface="Noto Sans KR"/>
              </a:rPr>
              <a:t>API가</a:t>
            </a:r>
            <a:r>
              <a:rPr sz="1012" b="0" i="0" u="none" dirty="0">
                <a:solidFill>
                  <a:srgbClr val="55665A"/>
                </a:solidFill>
                <a:latin typeface="Noto Sans KR"/>
              </a:rPr>
              <a:t> </a:t>
            </a:r>
            <a:r>
              <a:rPr sz="1012" b="0" i="0" u="none" dirty="0" err="1">
                <a:solidFill>
                  <a:srgbClr val="55665A"/>
                </a:solidFill>
                <a:latin typeface="Noto Sans KR"/>
              </a:rPr>
              <a:t>제공하는</a:t>
            </a:r>
            <a:r>
              <a:rPr sz="1012" b="0" i="0" u="none" dirty="0">
                <a:solidFill>
                  <a:srgbClr val="55665A"/>
                </a:solidFill>
                <a:latin typeface="Noto Sans KR"/>
              </a:rPr>
              <a:t> </a:t>
            </a:r>
            <a:r>
              <a:rPr sz="1012" b="0" i="0" u="none" dirty="0" err="1">
                <a:solidFill>
                  <a:srgbClr val="55665A"/>
                </a:solidFill>
                <a:latin typeface="Noto Sans KR"/>
              </a:rPr>
              <a:t>원형</a:t>
            </a:r>
            <a:r>
              <a:rPr sz="1012" b="0" i="0" u="none" dirty="0">
                <a:solidFill>
                  <a:srgbClr val="55665A"/>
                </a:solidFill>
                <a:latin typeface="Noto Sans KR"/>
              </a:rPr>
              <a:t> </a:t>
            </a:r>
            <a:r>
              <a:rPr sz="1012" b="0" i="0" u="none" dirty="0" err="1">
                <a:solidFill>
                  <a:srgbClr val="55665A"/>
                </a:solidFill>
                <a:latin typeface="Noto Sans KR"/>
              </a:rPr>
              <a:t>파일</a:t>
            </a:r>
            <a:r>
              <a:rPr sz="1012" b="0" i="0" u="none" dirty="0">
                <a:solidFill>
                  <a:srgbClr val="55665A"/>
                </a:solidFill>
                <a:latin typeface="Noto Sans KR"/>
              </a:rPr>
              <a:t> 속 </a:t>
            </a:r>
            <a:r>
              <a:rPr sz="1012" b="0" i="0" u="none" dirty="0" err="1">
                <a:solidFill>
                  <a:srgbClr val="55665A"/>
                </a:solidFill>
                <a:latin typeface="Noto Sans KR"/>
              </a:rPr>
              <a:t>영어</a:t>
            </a:r>
            <a:r>
              <a:rPr sz="1012" b="0" i="0" u="none" dirty="0">
                <a:solidFill>
                  <a:srgbClr val="55665A"/>
                </a:solidFill>
                <a:latin typeface="Noto Sans KR"/>
              </a:rPr>
              <a:t> </a:t>
            </a:r>
            <a:r>
              <a:rPr sz="1012" b="0" i="0" u="none" dirty="0" err="1">
                <a:solidFill>
                  <a:srgbClr val="55665A"/>
                </a:solidFill>
                <a:latin typeface="Noto Sans KR"/>
              </a:rPr>
              <a:t>이름</a:t>
            </a:r>
            <a:r>
              <a:rPr sz="1012" b="0" i="0" u="none" dirty="0">
                <a:solidFill>
                  <a:srgbClr val="55665A"/>
                </a:solidFill>
                <a:latin typeface="Noto Sans KR"/>
              </a:rPr>
              <a:t> </a:t>
            </a:r>
            <a:r>
              <a:rPr sz="1012" b="0" i="0" u="none" dirty="0" err="1">
                <a:solidFill>
                  <a:srgbClr val="55665A"/>
                </a:solidFill>
                <a:latin typeface="Noto Sans KR"/>
              </a:rPr>
              <a:t>필드</a:t>
            </a:r>
            <a:r>
              <a:rPr sz="1012" b="0" i="0" u="none" dirty="0">
                <a:solidFill>
                  <a:srgbClr val="55665A"/>
                </a:solidFill>
                <a:latin typeface="Noto Sans KR"/>
              </a:rPr>
              <a:t>(</a:t>
            </a:r>
            <a:r>
              <a:rPr sz="1012" b="0" i="0" u="none" dirty="0" err="1">
                <a:solidFill>
                  <a:srgbClr val="55665A"/>
                </a:solidFill>
                <a:latin typeface="Noto Sans KR"/>
              </a:rPr>
              <a:t>facltNm</a:t>
            </a:r>
            <a:r>
              <a:rPr sz="1012" b="0" i="0" u="none" dirty="0">
                <a:solidFill>
                  <a:srgbClr val="55665A"/>
                </a:solidFill>
                <a:latin typeface="Noto Sans KR"/>
              </a:rPr>
              <a:t> 등)</a:t>
            </a:r>
            <a:r>
              <a:rPr sz="1012" b="0" i="0" u="none" dirty="0" err="1">
                <a:solidFill>
                  <a:srgbClr val="55665A"/>
                </a:solidFill>
                <a:latin typeface="Noto Sans KR"/>
              </a:rPr>
              <a:t>들을</a:t>
            </a:r>
            <a:r>
              <a:rPr sz="1012" b="0" i="0" u="none" dirty="0">
                <a:solidFill>
                  <a:srgbClr val="55665A"/>
                </a:solidFill>
                <a:latin typeface="Noto Sans KR"/>
              </a:rPr>
              <a:t> </a:t>
            </a:r>
            <a:r>
              <a:rPr sz="1012" b="0" i="0" u="none" dirty="0" err="1">
                <a:solidFill>
                  <a:srgbClr val="55665A"/>
                </a:solidFill>
                <a:latin typeface="Noto Sans KR"/>
              </a:rPr>
              <a:t>개발자와</a:t>
            </a:r>
            <a:r>
              <a:rPr sz="1012" b="0" i="0" u="none" dirty="0">
                <a:solidFill>
                  <a:srgbClr val="55665A"/>
                </a:solidFill>
                <a:latin typeface="Noto Sans KR"/>
              </a:rPr>
              <a:t> </a:t>
            </a:r>
            <a:r>
              <a:rPr sz="1012" b="0" i="0" u="none" dirty="0" err="1">
                <a:solidFill>
                  <a:srgbClr val="55665A"/>
                </a:solidFill>
                <a:latin typeface="Noto Sans KR"/>
              </a:rPr>
              <a:t>일반인이</a:t>
            </a:r>
            <a:r>
              <a:rPr sz="1012" b="0" i="0" u="none" dirty="0">
                <a:solidFill>
                  <a:srgbClr val="55665A"/>
                </a:solidFill>
                <a:latin typeface="Noto Sans KR"/>
              </a:rPr>
              <a:t> </a:t>
            </a:r>
            <a:r>
              <a:rPr sz="1012" b="0" i="0" u="none" dirty="0" err="1">
                <a:solidFill>
                  <a:srgbClr val="55665A"/>
                </a:solidFill>
                <a:latin typeface="Noto Sans KR"/>
              </a:rPr>
              <a:t>쉽게</a:t>
            </a:r>
            <a:r>
              <a:rPr sz="1012" b="0" i="0" u="none" dirty="0">
                <a:solidFill>
                  <a:srgbClr val="55665A"/>
                </a:solidFill>
                <a:latin typeface="Noto Sans KR"/>
              </a:rPr>
              <a:t> </a:t>
            </a:r>
            <a:r>
              <a:rPr sz="1012" b="0" i="0" u="none" dirty="0" err="1">
                <a:solidFill>
                  <a:srgbClr val="55665A"/>
                </a:solidFill>
                <a:latin typeface="Noto Sans KR"/>
              </a:rPr>
              <a:t>알아볼</a:t>
            </a:r>
            <a:r>
              <a:rPr sz="1012" b="0" i="0" u="none" dirty="0">
                <a:solidFill>
                  <a:srgbClr val="55665A"/>
                </a:solidFill>
                <a:latin typeface="Noto Sans KR"/>
              </a:rPr>
              <a:t> 수 </a:t>
            </a:r>
            <a:r>
              <a:rPr sz="1012" b="0" i="0" u="none" dirty="0" err="1">
                <a:solidFill>
                  <a:srgbClr val="55665A"/>
                </a:solidFill>
                <a:latin typeface="Noto Sans KR"/>
              </a:rPr>
              <a:t>있도록</a:t>
            </a:r>
            <a:r>
              <a:rPr sz="1012" b="0" i="0" u="none" dirty="0">
                <a:solidFill>
                  <a:srgbClr val="55665A"/>
                </a:solidFill>
                <a:latin typeface="Noto Sans KR"/>
              </a:rPr>
              <a:t> </a:t>
            </a:r>
            <a:r>
              <a:rPr sz="1012" b="0" i="0" u="none" dirty="0" err="1">
                <a:solidFill>
                  <a:srgbClr val="55665A"/>
                </a:solidFill>
                <a:latin typeface="Noto Sans KR"/>
              </a:rPr>
              <a:t>직관적인</a:t>
            </a:r>
            <a:r>
              <a:rPr sz="1012" b="0" i="0" u="none" dirty="0">
                <a:solidFill>
                  <a:srgbClr val="55665A"/>
                </a:solidFill>
                <a:latin typeface="Noto Sans KR"/>
              </a:rPr>
              <a:t> </a:t>
            </a:r>
            <a:r>
              <a:rPr sz="1012" b="0" i="0" u="none" dirty="0" err="1">
                <a:solidFill>
                  <a:srgbClr val="55665A"/>
                </a:solidFill>
                <a:latin typeface="Noto Sans KR"/>
              </a:rPr>
              <a:t>한글로</a:t>
            </a:r>
            <a:r>
              <a:rPr sz="1012" b="0" i="0" u="none" dirty="0">
                <a:solidFill>
                  <a:srgbClr val="55665A"/>
                </a:solidFill>
                <a:latin typeface="Noto Sans KR"/>
              </a:rPr>
              <a:t> </a:t>
            </a:r>
            <a:r>
              <a:rPr lang="ko-KR" altLang="en-US" sz="1012" dirty="0">
                <a:solidFill>
                  <a:srgbClr val="55665A"/>
                </a:solidFill>
                <a:latin typeface="Noto Sans KR"/>
              </a:rPr>
              <a:t>지정해줬습니다．</a:t>
            </a:r>
            <a:endParaRPr sz="1012" b="0" i="0" u="none" dirty="0">
              <a:solidFill>
                <a:srgbClr val="55665A"/>
              </a:solidFill>
              <a:latin typeface="Noto Sans KR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596342" y="2567433"/>
            <a:ext cx="5209088" cy="198090"/>
          </a:xfrm>
          <a:prstGeom prst="rect">
            <a:avLst/>
          </a:prstGeom>
          <a:noFill/>
        </p:spPr>
        <p:txBody>
          <a:bodyPr wrap="square" lIns="118616" tIns="0" rIns="0" bIns="0" anchor="t">
            <a:spAutoFit/>
          </a:bodyPr>
          <a:lstStyle/>
          <a:p>
            <a:pPr algn="l">
              <a:lnSpc>
                <a:spcPts val="1560"/>
              </a:lnSpc>
            </a:pPr>
            <a:r>
              <a:rPr sz="1200" b="1" i="0" u="none">
                <a:solidFill>
                  <a:srgbClr val="E65F2C"/>
                </a:solidFill>
                <a:latin typeface="Noto Sans KR"/>
              </a:rPr>
              <a:t>핵심 POINT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9438" y="2841724"/>
            <a:ext cx="4961036" cy="5786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18"/>
              </a:lnSpc>
            </a:pPr>
            <a:r>
              <a:rPr sz="1012" b="1" i="0" u="none" dirty="0" err="1">
                <a:solidFill>
                  <a:srgbClr val="4A4230"/>
                </a:solidFill>
                <a:latin typeface="Noto Sans KR"/>
              </a:rPr>
              <a:t>사용자가</a:t>
            </a:r>
            <a:r>
              <a:rPr sz="1012" b="1" i="0" u="none" dirty="0">
                <a:solidFill>
                  <a:srgbClr val="4A4230"/>
                </a:solidFill>
                <a:latin typeface="Noto Sans KR"/>
              </a:rPr>
              <a:t> '</a:t>
            </a:r>
            <a:r>
              <a:rPr sz="1012" b="1" i="0" u="none" dirty="0" err="1">
                <a:solidFill>
                  <a:srgbClr val="4A4230"/>
                </a:solidFill>
                <a:latin typeface="Noto Sans KR"/>
              </a:rPr>
              <a:t>금호강오토캠핑장'을</a:t>
            </a:r>
            <a:r>
              <a:rPr sz="1012" b="1" i="0" u="none" dirty="0">
                <a:solidFill>
                  <a:srgbClr val="4A4230"/>
                </a:solidFill>
                <a:latin typeface="Noto Sans KR"/>
              </a:rPr>
              <a:t> '</a:t>
            </a:r>
            <a:r>
              <a:rPr sz="1012" b="1" i="0" u="none" dirty="0" err="1">
                <a:solidFill>
                  <a:srgbClr val="4A4230"/>
                </a:solidFill>
                <a:latin typeface="Noto Sans KR"/>
              </a:rPr>
              <a:t>금호강</a:t>
            </a:r>
            <a:r>
              <a:rPr sz="1012" b="1" i="0" u="none" dirty="0">
                <a:solidFill>
                  <a:srgbClr val="4A4230"/>
                </a:solidFill>
                <a:latin typeface="Noto Sans KR"/>
              </a:rPr>
              <a:t> </a:t>
            </a:r>
            <a:r>
              <a:rPr sz="1012" b="1" i="0" u="none" dirty="0" err="1">
                <a:solidFill>
                  <a:srgbClr val="4A4230"/>
                </a:solidFill>
                <a:latin typeface="Noto Sans KR"/>
              </a:rPr>
              <a:t>오토</a:t>
            </a:r>
            <a:r>
              <a:rPr sz="1012" b="1" i="0" u="none" dirty="0">
                <a:solidFill>
                  <a:srgbClr val="4A4230"/>
                </a:solidFill>
                <a:latin typeface="Noto Sans KR"/>
              </a:rPr>
              <a:t> </a:t>
            </a:r>
            <a:r>
              <a:rPr sz="1012" b="1" i="0" u="none" dirty="0" err="1">
                <a:solidFill>
                  <a:srgbClr val="4A4230"/>
                </a:solidFill>
                <a:latin typeface="Noto Sans KR"/>
              </a:rPr>
              <a:t>캠핑장'처럼</a:t>
            </a:r>
            <a:r>
              <a:rPr sz="1012" b="1" i="0" u="none" dirty="0">
                <a:solidFill>
                  <a:srgbClr val="4A4230"/>
                </a:solidFill>
                <a:latin typeface="Noto Sans KR"/>
              </a:rPr>
              <a:t> </a:t>
            </a:r>
            <a:r>
              <a:rPr sz="1012" b="1" i="0" u="none" dirty="0" err="1">
                <a:solidFill>
                  <a:srgbClr val="4A4230"/>
                </a:solidFill>
                <a:latin typeface="Noto Sans KR"/>
              </a:rPr>
              <a:t>무심코</a:t>
            </a:r>
            <a:r>
              <a:rPr sz="1012" b="1" i="0" u="none" dirty="0">
                <a:solidFill>
                  <a:srgbClr val="4A4230"/>
                </a:solidFill>
                <a:latin typeface="Noto Sans KR"/>
              </a:rPr>
              <a:t> </a:t>
            </a:r>
            <a:r>
              <a:rPr sz="1012" b="1" i="0" u="none" dirty="0" err="1">
                <a:solidFill>
                  <a:srgbClr val="4A4230"/>
                </a:solidFill>
                <a:latin typeface="Noto Sans KR"/>
              </a:rPr>
              <a:t>띄어쓰기를</a:t>
            </a:r>
            <a:r>
              <a:rPr sz="1012" b="1" i="0" u="none" dirty="0">
                <a:solidFill>
                  <a:srgbClr val="4A4230"/>
                </a:solidFill>
                <a:latin typeface="Noto Sans KR"/>
              </a:rPr>
              <a:t> </a:t>
            </a:r>
            <a:r>
              <a:rPr sz="1012" b="1" i="0" u="none" dirty="0" err="1">
                <a:solidFill>
                  <a:srgbClr val="4A4230"/>
                </a:solidFill>
                <a:latin typeface="Noto Sans KR"/>
              </a:rPr>
              <a:t>다르게</a:t>
            </a:r>
            <a:r>
              <a:rPr sz="1012" b="1" i="0" u="none" dirty="0">
                <a:solidFill>
                  <a:srgbClr val="4A4230"/>
                </a:solidFill>
                <a:latin typeface="Noto Sans KR"/>
              </a:rPr>
              <a:t> </a:t>
            </a:r>
            <a:r>
              <a:rPr sz="1012" b="1" i="0" u="none" dirty="0" err="1">
                <a:solidFill>
                  <a:srgbClr val="4A4230"/>
                </a:solidFill>
                <a:latin typeface="Noto Sans KR"/>
              </a:rPr>
              <a:t>입력하여</a:t>
            </a:r>
            <a:r>
              <a:rPr sz="1012" b="1" i="0" u="none" dirty="0">
                <a:solidFill>
                  <a:srgbClr val="4A4230"/>
                </a:solidFill>
                <a:latin typeface="Noto Sans KR"/>
              </a:rPr>
              <a:t> </a:t>
            </a:r>
            <a:r>
              <a:rPr sz="1012" b="1" i="0" u="none" dirty="0" err="1">
                <a:solidFill>
                  <a:srgbClr val="4A4230"/>
                </a:solidFill>
                <a:latin typeface="Noto Sans KR"/>
              </a:rPr>
              <a:t>검색이</a:t>
            </a:r>
            <a:r>
              <a:rPr sz="1012" b="1" i="0" u="none" dirty="0">
                <a:solidFill>
                  <a:srgbClr val="4A4230"/>
                </a:solidFill>
                <a:latin typeface="Noto Sans KR"/>
              </a:rPr>
              <a:t> </a:t>
            </a:r>
            <a:r>
              <a:rPr sz="1012" b="1" i="0" u="none" dirty="0" err="1">
                <a:solidFill>
                  <a:srgbClr val="4A4230"/>
                </a:solidFill>
                <a:latin typeface="Noto Sans KR"/>
              </a:rPr>
              <a:t>먹통이</a:t>
            </a:r>
            <a:r>
              <a:rPr sz="1012" b="1" i="0" u="none" dirty="0">
                <a:solidFill>
                  <a:srgbClr val="4A4230"/>
                </a:solidFill>
                <a:latin typeface="Noto Sans KR"/>
              </a:rPr>
              <a:t> </a:t>
            </a:r>
            <a:r>
              <a:rPr sz="1012" b="1" i="0" u="none" dirty="0" err="1">
                <a:solidFill>
                  <a:srgbClr val="4A4230"/>
                </a:solidFill>
                <a:latin typeface="Noto Sans KR"/>
              </a:rPr>
              <a:t>되는</a:t>
            </a:r>
            <a:r>
              <a:rPr sz="1012" b="1" i="0" u="none" dirty="0">
                <a:solidFill>
                  <a:srgbClr val="4A4230"/>
                </a:solidFill>
                <a:latin typeface="Noto Sans KR"/>
              </a:rPr>
              <a:t> </a:t>
            </a:r>
            <a:r>
              <a:rPr sz="1012" b="1" i="0" u="none" dirty="0" err="1">
                <a:solidFill>
                  <a:srgbClr val="4A4230"/>
                </a:solidFill>
                <a:latin typeface="Noto Sans KR"/>
              </a:rPr>
              <a:t>문제를</a:t>
            </a:r>
            <a:r>
              <a:rPr sz="1012" b="1" i="0" u="none" dirty="0">
                <a:solidFill>
                  <a:srgbClr val="4A4230"/>
                </a:solidFill>
                <a:latin typeface="Noto Sans KR"/>
              </a:rPr>
              <a:t> </a:t>
            </a:r>
            <a:r>
              <a:rPr sz="1012" b="1" i="0" u="none" dirty="0" err="1">
                <a:solidFill>
                  <a:srgbClr val="4A4230"/>
                </a:solidFill>
                <a:latin typeface="Noto Sans KR"/>
              </a:rPr>
              <a:t>원천</a:t>
            </a:r>
            <a:r>
              <a:rPr sz="1012" b="1" i="0" u="none" dirty="0">
                <a:solidFill>
                  <a:srgbClr val="4A4230"/>
                </a:solidFill>
                <a:latin typeface="Noto Sans KR"/>
              </a:rPr>
              <a:t> </a:t>
            </a:r>
            <a:r>
              <a:rPr sz="1012" b="1" i="0" u="none" dirty="0" err="1">
                <a:solidFill>
                  <a:srgbClr val="4A4230"/>
                </a:solidFill>
                <a:latin typeface="Noto Sans KR"/>
              </a:rPr>
              <a:t>방어하고자</a:t>
            </a:r>
            <a:r>
              <a:rPr sz="1012" b="1" i="0" u="none" dirty="0">
                <a:solidFill>
                  <a:srgbClr val="4A4230"/>
                </a:solidFill>
                <a:latin typeface="Noto Sans KR"/>
              </a:rPr>
              <a:t> </a:t>
            </a:r>
            <a:r>
              <a:rPr sz="1012" b="1" i="0" u="none" dirty="0" err="1">
                <a:solidFill>
                  <a:srgbClr val="4A4230"/>
                </a:solidFill>
                <a:latin typeface="Noto Sans KR"/>
              </a:rPr>
              <a:t>공백을</a:t>
            </a:r>
            <a:r>
              <a:rPr sz="1012" b="1" i="0" u="none" dirty="0">
                <a:solidFill>
                  <a:srgbClr val="4A4230"/>
                </a:solidFill>
                <a:latin typeface="Noto Sans KR"/>
              </a:rPr>
              <a:t> </a:t>
            </a:r>
            <a:r>
              <a:rPr sz="1012" b="1" i="0" u="none" dirty="0" err="1">
                <a:solidFill>
                  <a:srgbClr val="4A4230"/>
                </a:solidFill>
                <a:latin typeface="Noto Sans KR"/>
              </a:rPr>
              <a:t>미리</a:t>
            </a:r>
            <a:r>
              <a:rPr sz="1012" b="1" i="0" u="none" dirty="0">
                <a:solidFill>
                  <a:srgbClr val="4A4230"/>
                </a:solidFill>
                <a:latin typeface="Noto Sans KR"/>
              </a:rPr>
              <a:t> </a:t>
            </a:r>
            <a:r>
              <a:rPr sz="1012" b="1" i="0" u="none" dirty="0" err="1">
                <a:solidFill>
                  <a:srgbClr val="4A4230"/>
                </a:solidFill>
                <a:latin typeface="Noto Sans KR"/>
              </a:rPr>
              <a:t>양방향</a:t>
            </a:r>
            <a:r>
              <a:rPr sz="1012" b="1" i="0" u="none" dirty="0">
                <a:solidFill>
                  <a:srgbClr val="4A4230"/>
                </a:solidFill>
                <a:latin typeface="Noto Sans KR"/>
              </a:rPr>
              <a:t> </a:t>
            </a:r>
            <a:r>
              <a:rPr sz="1012" b="1" i="0" u="none" dirty="0" err="1">
                <a:solidFill>
                  <a:srgbClr val="4A4230"/>
                </a:solidFill>
                <a:latin typeface="Noto Sans KR"/>
              </a:rPr>
              <a:t>삭제</a:t>
            </a:r>
            <a:r>
              <a:rPr sz="1012" b="1" i="0" u="none" dirty="0">
                <a:solidFill>
                  <a:srgbClr val="4A4230"/>
                </a:solidFill>
                <a:latin typeface="Noto Sans KR"/>
              </a:rPr>
              <a:t> </a:t>
            </a:r>
            <a:r>
              <a:rPr sz="1012" b="1" i="0" u="none" dirty="0" err="1">
                <a:solidFill>
                  <a:srgbClr val="4A4230"/>
                </a:solidFill>
                <a:latin typeface="Noto Sans KR"/>
              </a:rPr>
              <a:t>전처리하고</a:t>
            </a:r>
            <a:r>
              <a:rPr sz="1012" b="1" i="0" u="none" dirty="0">
                <a:solidFill>
                  <a:srgbClr val="4A4230"/>
                </a:solidFill>
                <a:latin typeface="Noto Sans KR"/>
              </a:rPr>
              <a:t> </a:t>
            </a:r>
            <a:r>
              <a:rPr sz="1012" b="1" i="0" u="none" dirty="0" err="1">
                <a:solidFill>
                  <a:srgbClr val="4A4230"/>
                </a:solidFill>
                <a:latin typeface="Noto Sans KR"/>
              </a:rPr>
              <a:t>일치</a:t>
            </a:r>
            <a:r>
              <a:rPr sz="1012" b="1" i="0" u="none" dirty="0">
                <a:solidFill>
                  <a:srgbClr val="4A4230"/>
                </a:solidFill>
                <a:latin typeface="Noto Sans KR"/>
              </a:rPr>
              <a:t> </a:t>
            </a:r>
            <a:r>
              <a:rPr sz="1012" b="1" i="0" u="none" dirty="0" err="1">
                <a:solidFill>
                  <a:srgbClr val="4A4230"/>
                </a:solidFill>
                <a:latin typeface="Noto Sans KR"/>
              </a:rPr>
              <a:t>판별을</a:t>
            </a:r>
            <a:r>
              <a:rPr sz="1012" b="1" i="0" u="none" dirty="0">
                <a:solidFill>
                  <a:srgbClr val="4A4230"/>
                </a:solidFill>
                <a:latin typeface="Noto Sans KR"/>
              </a:rPr>
              <a:t> </a:t>
            </a:r>
            <a:r>
              <a:rPr sz="1012" b="1" i="0" u="none" dirty="0" err="1">
                <a:solidFill>
                  <a:srgbClr val="4A4230"/>
                </a:solidFill>
                <a:latin typeface="Noto Sans KR"/>
              </a:rPr>
              <a:t>내립니다</a:t>
            </a:r>
            <a:r>
              <a:rPr sz="1012" b="1" i="0" u="none" dirty="0">
                <a:solidFill>
                  <a:srgbClr val="4A4230"/>
                </a:solidFill>
                <a:latin typeface="Noto Sans KR"/>
              </a:rPr>
              <a:t>.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59438" y="1181100"/>
            <a:ext cx="118616" cy="152400"/>
          </a:xfrm>
          <a:prstGeom prst="rect">
            <a:avLst/>
          </a:prstGeom>
        </p:spPr>
      </p:pic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59438" y="2586483"/>
            <a:ext cx="118616" cy="1524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E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962025"/>
            <a:ext cx="5405437" cy="28575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247775"/>
            <a:ext cx="5405437" cy="51816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5062" y="962025"/>
            <a:ext cx="5405437" cy="1069627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5062" y="2174527"/>
            <a:ext cx="5405437" cy="18568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14375" y="428625"/>
            <a:ext cx="11451431" cy="342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700"/>
              </a:lnSpc>
            </a:pPr>
            <a:r>
              <a:rPr sz="2250" b="0" i="0" u="none">
                <a:solidFill>
                  <a:srgbClr val="0C3C20"/>
                </a:solidFill>
                <a:latin typeface="Noto Sans KR ExtraBold"/>
              </a:rPr>
              <a:t>핵심 코드 ③: Flask 라우트와 동적 데이터 연결</a:t>
            </a:r>
          </a:p>
        </p:txBody>
      </p:sp>
      <p:sp>
        <p:nvSpPr>
          <p:cNvPr id="7" name="Rectangle 6"/>
          <p:cNvSpPr/>
          <p:nvPr/>
        </p:nvSpPr>
        <p:spPr>
          <a:xfrm>
            <a:off x="571500" y="428625"/>
            <a:ext cx="57150" cy="342900"/>
          </a:xfrm>
          <a:prstGeom prst="rect">
            <a:avLst/>
          </a:prstGeom>
          <a:solidFill>
            <a:srgbClr val="E65F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551991" y="1162050"/>
            <a:ext cx="5255656" cy="198090"/>
          </a:xfrm>
          <a:prstGeom prst="rect">
            <a:avLst/>
          </a:prstGeom>
          <a:noFill/>
        </p:spPr>
        <p:txBody>
          <a:bodyPr wrap="square" lIns="118616" tIns="0" rIns="0" bIns="0" anchor="t">
            <a:spAutoFit/>
          </a:bodyPr>
          <a:lstStyle/>
          <a:p>
            <a:pPr algn="l">
              <a:lnSpc>
                <a:spcPts val="1560"/>
              </a:lnSpc>
            </a:pPr>
            <a:r>
              <a:rPr sz="1200" b="1" i="0" u="none">
                <a:solidFill>
                  <a:srgbClr val="0C3C20"/>
                </a:solidFill>
                <a:latin typeface="Noto Sans KR"/>
              </a:rPr>
              <a:t>쉽게 말하면 어떻게 작동하나요?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15087" y="1436340"/>
            <a:ext cx="5005387" cy="55996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18"/>
              </a:lnSpc>
            </a:pPr>
            <a:r>
              <a:rPr sz="1012" b="0" i="0" u="none" dirty="0">
                <a:solidFill>
                  <a:srgbClr val="55665A"/>
                </a:solidFill>
                <a:latin typeface="Noto Sans KR"/>
              </a:rPr>
              <a:t>@app.route </a:t>
            </a:r>
            <a:r>
              <a:rPr sz="1012" b="0" i="0" u="none" dirty="0" err="1">
                <a:solidFill>
                  <a:srgbClr val="55665A"/>
                </a:solidFill>
                <a:latin typeface="Noto Sans KR"/>
              </a:rPr>
              <a:t>구문은</a:t>
            </a:r>
            <a:r>
              <a:rPr sz="1012" b="0" i="0" u="none" dirty="0">
                <a:solidFill>
                  <a:srgbClr val="55665A"/>
                </a:solidFill>
                <a:latin typeface="Noto Sans KR"/>
              </a:rPr>
              <a:t> </a:t>
            </a:r>
            <a:r>
              <a:rPr sz="1012" b="0" i="0" u="none" dirty="0" err="1">
                <a:solidFill>
                  <a:srgbClr val="55665A"/>
                </a:solidFill>
                <a:latin typeface="Noto Sans KR"/>
              </a:rPr>
              <a:t>사용자가</a:t>
            </a:r>
            <a:r>
              <a:rPr sz="1012" b="0" i="0" u="none" dirty="0">
                <a:solidFill>
                  <a:srgbClr val="55665A"/>
                </a:solidFill>
                <a:latin typeface="Noto Sans KR"/>
              </a:rPr>
              <a:t> </a:t>
            </a:r>
            <a:r>
              <a:rPr sz="1012" b="0" i="0" u="none" dirty="0" err="1">
                <a:solidFill>
                  <a:srgbClr val="55665A"/>
                </a:solidFill>
                <a:latin typeface="Noto Sans KR"/>
              </a:rPr>
              <a:t>주소창에</a:t>
            </a:r>
            <a:r>
              <a:rPr sz="1012" b="0" i="0" u="none" dirty="0">
                <a:solidFill>
                  <a:srgbClr val="55665A"/>
                </a:solidFill>
                <a:latin typeface="Noto Sans KR"/>
              </a:rPr>
              <a:t> </a:t>
            </a:r>
            <a:r>
              <a:rPr sz="1012" b="0" i="0" u="none" dirty="0" err="1">
                <a:solidFill>
                  <a:srgbClr val="55665A"/>
                </a:solidFill>
                <a:latin typeface="Noto Sans KR"/>
              </a:rPr>
              <a:t>도메인을</a:t>
            </a:r>
            <a:r>
              <a:rPr sz="1012" b="0" i="0" u="none" dirty="0">
                <a:solidFill>
                  <a:srgbClr val="55665A"/>
                </a:solidFill>
                <a:latin typeface="Noto Sans KR"/>
              </a:rPr>
              <a:t> </a:t>
            </a:r>
            <a:r>
              <a:rPr sz="1012" b="0" i="0" u="none" dirty="0" err="1">
                <a:solidFill>
                  <a:srgbClr val="55665A"/>
                </a:solidFill>
                <a:latin typeface="Noto Sans KR"/>
              </a:rPr>
              <a:t>치고</a:t>
            </a:r>
            <a:r>
              <a:rPr sz="1012" b="0" i="0" u="none" dirty="0">
                <a:solidFill>
                  <a:srgbClr val="55665A"/>
                </a:solidFill>
                <a:latin typeface="Noto Sans KR"/>
              </a:rPr>
              <a:t> 웹 </a:t>
            </a:r>
            <a:r>
              <a:rPr sz="1012" b="0" i="0" u="none" dirty="0" err="1">
                <a:solidFill>
                  <a:srgbClr val="55665A"/>
                </a:solidFill>
                <a:latin typeface="Noto Sans KR"/>
              </a:rPr>
              <a:t>브라우저로</a:t>
            </a:r>
            <a:r>
              <a:rPr sz="1012" b="0" i="0" u="none" dirty="0">
                <a:solidFill>
                  <a:srgbClr val="55665A"/>
                </a:solidFill>
                <a:latin typeface="Noto Sans KR"/>
              </a:rPr>
              <a:t> </a:t>
            </a:r>
            <a:r>
              <a:rPr sz="1012" b="0" i="0" u="none" dirty="0" err="1">
                <a:solidFill>
                  <a:srgbClr val="55665A"/>
                </a:solidFill>
                <a:latin typeface="Noto Sans KR"/>
              </a:rPr>
              <a:t>접근했을</a:t>
            </a:r>
            <a:r>
              <a:rPr sz="1012" b="0" i="0" u="none" dirty="0">
                <a:solidFill>
                  <a:srgbClr val="55665A"/>
                </a:solidFill>
                <a:latin typeface="Noto Sans KR"/>
              </a:rPr>
              <a:t> 때, </a:t>
            </a:r>
            <a:r>
              <a:rPr sz="1012" b="0" i="0" u="none" dirty="0" err="1">
                <a:solidFill>
                  <a:srgbClr val="55665A"/>
                </a:solidFill>
                <a:latin typeface="Noto Sans KR"/>
              </a:rPr>
              <a:t>서버</a:t>
            </a:r>
            <a:r>
              <a:rPr sz="1012" b="0" i="0" u="none" dirty="0">
                <a:solidFill>
                  <a:srgbClr val="55665A"/>
                </a:solidFill>
                <a:latin typeface="Noto Sans KR"/>
              </a:rPr>
              <a:t> </a:t>
            </a:r>
            <a:r>
              <a:rPr sz="1012" b="0" i="0" u="none" dirty="0" err="1">
                <a:solidFill>
                  <a:srgbClr val="55665A"/>
                </a:solidFill>
                <a:latin typeface="Noto Sans KR"/>
              </a:rPr>
              <a:t>내부의</a:t>
            </a:r>
            <a:r>
              <a:rPr sz="1012" b="0" i="0" u="none" dirty="0">
                <a:solidFill>
                  <a:srgbClr val="55665A"/>
                </a:solidFill>
                <a:latin typeface="Noto Sans KR"/>
              </a:rPr>
              <a:t> </a:t>
            </a:r>
            <a:r>
              <a:rPr sz="1012" b="0" i="0" u="none" dirty="0" err="1">
                <a:solidFill>
                  <a:srgbClr val="55665A"/>
                </a:solidFill>
                <a:latin typeface="Noto Sans KR"/>
              </a:rPr>
              <a:t>어떤</a:t>
            </a:r>
            <a:r>
              <a:rPr sz="1012" b="0" i="0" u="none" dirty="0">
                <a:solidFill>
                  <a:srgbClr val="55665A"/>
                </a:solidFill>
                <a:latin typeface="Noto Sans KR"/>
              </a:rPr>
              <a:t> </a:t>
            </a:r>
            <a:r>
              <a:rPr sz="1012" b="0" i="0" u="none" dirty="0" err="1">
                <a:solidFill>
                  <a:srgbClr val="55665A"/>
                </a:solidFill>
                <a:latin typeface="Noto Sans KR"/>
              </a:rPr>
              <a:t>기능</a:t>
            </a:r>
            <a:r>
              <a:rPr sz="1012" b="0" i="0" u="none" dirty="0">
                <a:solidFill>
                  <a:srgbClr val="55665A"/>
                </a:solidFill>
                <a:latin typeface="Noto Sans KR"/>
              </a:rPr>
              <a:t> </a:t>
            </a:r>
            <a:r>
              <a:rPr sz="1012" b="0" i="0" u="none" dirty="0" err="1">
                <a:solidFill>
                  <a:srgbClr val="55665A"/>
                </a:solidFill>
                <a:latin typeface="Noto Sans KR"/>
              </a:rPr>
              <a:t>함수가</a:t>
            </a:r>
            <a:r>
              <a:rPr sz="1012" b="0" i="0" u="none" dirty="0">
                <a:solidFill>
                  <a:srgbClr val="55665A"/>
                </a:solidFill>
                <a:latin typeface="Noto Sans KR"/>
              </a:rPr>
              <a:t> </a:t>
            </a:r>
            <a:r>
              <a:rPr sz="1012" b="0" i="0" u="none" dirty="0" err="1">
                <a:solidFill>
                  <a:srgbClr val="55665A"/>
                </a:solidFill>
                <a:latin typeface="Noto Sans KR"/>
              </a:rPr>
              <a:t>마중</a:t>
            </a:r>
            <a:r>
              <a:rPr sz="1012" b="0" i="0" u="none" dirty="0">
                <a:solidFill>
                  <a:srgbClr val="55665A"/>
                </a:solidFill>
                <a:latin typeface="Noto Sans KR"/>
              </a:rPr>
              <a:t> </a:t>
            </a:r>
            <a:r>
              <a:rPr sz="1012" b="0" i="0" u="none" dirty="0" err="1">
                <a:solidFill>
                  <a:srgbClr val="55665A"/>
                </a:solidFill>
                <a:latin typeface="Noto Sans KR"/>
              </a:rPr>
              <a:t>나가</a:t>
            </a:r>
            <a:r>
              <a:rPr sz="1012" b="0" i="0" u="none" dirty="0">
                <a:solidFill>
                  <a:srgbClr val="55665A"/>
                </a:solidFill>
                <a:latin typeface="Noto Sans KR"/>
              </a:rPr>
              <a:t> </a:t>
            </a:r>
            <a:r>
              <a:rPr sz="1012" b="0" i="0" u="none" dirty="0" err="1">
                <a:solidFill>
                  <a:srgbClr val="55665A"/>
                </a:solidFill>
                <a:latin typeface="Noto Sans KR"/>
              </a:rPr>
              <a:t>응대할지</a:t>
            </a:r>
            <a:r>
              <a:rPr sz="1012" b="0" i="0" u="none" dirty="0">
                <a:solidFill>
                  <a:srgbClr val="55665A"/>
                </a:solidFill>
                <a:latin typeface="Noto Sans KR"/>
              </a:rPr>
              <a:t> </a:t>
            </a:r>
            <a:r>
              <a:rPr sz="1012" b="0" i="0" u="none" dirty="0" err="1">
                <a:solidFill>
                  <a:srgbClr val="55665A"/>
                </a:solidFill>
                <a:latin typeface="Noto Sans KR"/>
              </a:rPr>
              <a:t>연결</a:t>
            </a:r>
            <a:r>
              <a:rPr sz="1012" b="0" i="0" u="none" dirty="0">
                <a:solidFill>
                  <a:srgbClr val="55665A"/>
                </a:solidFill>
                <a:latin typeface="Noto Sans KR"/>
              </a:rPr>
              <a:t> </a:t>
            </a:r>
            <a:r>
              <a:rPr sz="1012" b="0" i="0" u="none" dirty="0" err="1">
                <a:solidFill>
                  <a:srgbClr val="55665A"/>
                </a:solidFill>
                <a:latin typeface="Noto Sans KR"/>
              </a:rPr>
              <a:t>지어</a:t>
            </a:r>
            <a:r>
              <a:rPr sz="1012" b="0" i="0" u="none" dirty="0">
                <a:solidFill>
                  <a:srgbClr val="55665A"/>
                </a:solidFill>
                <a:latin typeface="Noto Sans KR"/>
              </a:rPr>
              <a:t> </a:t>
            </a:r>
            <a:r>
              <a:rPr sz="1012" b="0" i="0" u="none" dirty="0" err="1">
                <a:solidFill>
                  <a:srgbClr val="55665A"/>
                </a:solidFill>
                <a:latin typeface="Noto Sans KR"/>
              </a:rPr>
              <a:t>주는</a:t>
            </a:r>
            <a:r>
              <a:rPr sz="1012" b="0" i="0" u="none" dirty="0">
                <a:solidFill>
                  <a:srgbClr val="55665A"/>
                </a:solidFill>
                <a:latin typeface="Noto Sans KR"/>
              </a:rPr>
              <a:t> </a:t>
            </a:r>
            <a:r>
              <a:rPr sz="1012" b="0" i="0" u="none" dirty="0" err="1">
                <a:solidFill>
                  <a:srgbClr val="55665A"/>
                </a:solidFill>
                <a:latin typeface="Noto Sans KR"/>
              </a:rPr>
              <a:t>관문입니다</a:t>
            </a:r>
            <a:r>
              <a:rPr sz="1012" b="0" i="0" u="none" dirty="0">
                <a:solidFill>
                  <a:srgbClr val="55665A"/>
                </a:solidFill>
                <a:latin typeface="Noto Sans KR"/>
              </a:rPr>
              <a:t>.</a:t>
            </a:r>
            <a:endParaRPr lang="en-US" sz="1012" b="0" i="0" u="none" dirty="0">
              <a:solidFill>
                <a:srgbClr val="55665A"/>
              </a:solidFill>
              <a:latin typeface="Noto Sans KR"/>
            </a:endParaRPr>
          </a:p>
          <a:p>
            <a:pPr algn="l">
              <a:lnSpc>
                <a:spcPts val="1518"/>
              </a:lnSpc>
            </a:pPr>
            <a:endParaRPr sz="1012" b="0" i="0" u="none" dirty="0">
              <a:solidFill>
                <a:srgbClr val="55665A"/>
              </a:solidFill>
              <a:latin typeface="Noto Sans KR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551991" y="2374552"/>
            <a:ext cx="5255656" cy="198090"/>
          </a:xfrm>
          <a:prstGeom prst="rect">
            <a:avLst/>
          </a:prstGeom>
          <a:noFill/>
        </p:spPr>
        <p:txBody>
          <a:bodyPr wrap="square" lIns="118616" tIns="0" rIns="0" bIns="0" anchor="t">
            <a:spAutoFit/>
          </a:bodyPr>
          <a:lstStyle/>
          <a:p>
            <a:pPr algn="l">
              <a:lnSpc>
                <a:spcPts val="1560"/>
              </a:lnSpc>
            </a:pPr>
            <a:r>
              <a:rPr sz="1200" b="1" i="0" u="none">
                <a:solidFill>
                  <a:srgbClr val="E65F2C"/>
                </a:solidFill>
                <a:latin typeface="Noto Sans KR"/>
              </a:rPr>
              <a:t>핵심 POINT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5087" y="2648842"/>
            <a:ext cx="5005387" cy="11370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18"/>
              </a:lnSpc>
            </a:pPr>
            <a:r>
              <a:rPr sz="1012" b="1" i="0" u="none" dirty="0">
                <a:solidFill>
                  <a:srgbClr val="4A4230"/>
                </a:solidFill>
                <a:latin typeface="Noto Sans KR"/>
              </a:rPr>
              <a:t>'</a:t>
            </a:r>
            <a:r>
              <a:rPr sz="1012" b="1" i="0" u="none" dirty="0" err="1">
                <a:solidFill>
                  <a:srgbClr val="4A4230"/>
                </a:solidFill>
                <a:latin typeface="Noto Sans KR"/>
              </a:rPr>
              <a:t>사용자의</a:t>
            </a:r>
            <a:r>
              <a:rPr sz="1012" b="1" i="0" u="none" dirty="0">
                <a:solidFill>
                  <a:srgbClr val="4A4230"/>
                </a:solidFill>
                <a:latin typeface="Noto Sans KR"/>
              </a:rPr>
              <a:t> </a:t>
            </a:r>
            <a:r>
              <a:rPr sz="1012" b="1" i="0" u="none" dirty="0" err="1">
                <a:solidFill>
                  <a:srgbClr val="4A4230"/>
                </a:solidFill>
                <a:latin typeface="Noto Sans KR"/>
              </a:rPr>
              <a:t>접근</a:t>
            </a:r>
            <a:r>
              <a:rPr sz="1012" b="1" i="0" u="none" dirty="0">
                <a:solidFill>
                  <a:srgbClr val="4A4230"/>
                </a:solidFill>
                <a:latin typeface="Noto Sans KR"/>
              </a:rPr>
              <a:t> </a:t>
            </a:r>
            <a:r>
              <a:rPr sz="1012" b="1" i="0" u="none" dirty="0" err="1">
                <a:solidFill>
                  <a:srgbClr val="4A4230"/>
                </a:solidFill>
                <a:latin typeface="Noto Sans KR"/>
              </a:rPr>
              <a:t>요청</a:t>
            </a:r>
            <a:r>
              <a:rPr sz="1012" b="1" i="0" u="none" dirty="0">
                <a:solidFill>
                  <a:srgbClr val="4A4230"/>
                </a:solidFill>
                <a:latin typeface="Noto Sans KR"/>
              </a:rPr>
              <a:t> </a:t>
            </a:r>
            <a:r>
              <a:rPr sz="1012" b="1" i="0" u="none" dirty="0" err="1">
                <a:solidFill>
                  <a:srgbClr val="4A4230"/>
                </a:solidFill>
                <a:latin typeface="Noto Sans KR"/>
              </a:rPr>
              <a:t>수수</a:t>
            </a:r>
            <a:r>
              <a:rPr sz="1012" b="1" i="0" u="none" dirty="0">
                <a:solidFill>
                  <a:srgbClr val="4A4230"/>
                </a:solidFill>
                <a:latin typeface="Noto Sans KR"/>
              </a:rPr>
              <a:t> ➔ </a:t>
            </a:r>
            <a:r>
              <a:rPr sz="1012" b="1" i="0" u="none" dirty="0" err="1">
                <a:solidFill>
                  <a:srgbClr val="4A4230"/>
                </a:solidFill>
                <a:latin typeface="Noto Sans KR"/>
              </a:rPr>
              <a:t>맞춤</a:t>
            </a:r>
            <a:r>
              <a:rPr sz="1012" b="1" i="0" u="none" dirty="0">
                <a:solidFill>
                  <a:srgbClr val="4A4230"/>
                </a:solidFill>
                <a:latin typeface="Noto Sans KR"/>
              </a:rPr>
              <a:t> </a:t>
            </a:r>
            <a:r>
              <a:rPr sz="1012" b="1" i="0" u="none" dirty="0" err="1">
                <a:solidFill>
                  <a:srgbClr val="4A4230"/>
                </a:solidFill>
                <a:latin typeface="Noto Sans KR"/>
              </a:rPr>
              <a:t>데이터</a:t>
            </a:r>
            <a:r>
              <a:rPr sz="1012" b="1" i="0" u="none" dirty="0">
                <a:solidFill>
                  <a:srgbClr val="4A4230"/>
                </a:solidFill>
                <a:latin typeface="Noto Sans KR"/>
              </a:rPr>
              <a:t> </a:t>
            </a:r>
            <a:r>
              <a:rPr sz="1012" b="1" i="0" u="none" dirty="0" err="1">
                <a:solidFill>
                  <a:srgbClr val="4A4230"/>
                </a:solidFill>
                <a:latin typeface="Noto Sans KR"/>
              </a:rPr>
              <a:t>추출</a:t>
            </a:r>
            <a:r>
              <a:rPr sz="1012" b="1" i="0" u="none" dirty="0">
                <a:solidFill>
                  <a:srgbClr val="4A4230"/>
                </a:solidFill>
                <a:latin typeface="Noto Sans KR"/>
              </a:rPr>
              <a:t> 및 </a:t>
            </a:r>
            <a:r>
              <a:rPr sz="1012" b="1" i="0" u="none" dirty="0" err="1">
                <a:solidFill>
                  <a:srgbClr val="4A4230"/>
                </a:solidFill>
                <a:latin typeface="Noto Sans KR"/>
              </a:rPr>
              <a:t>가공</a:t>
            </a:r>
            <a:r>
              <a:rPr sz="1012" b="1" i="0" u="none" dirty="0">
                <a:solidFill>
                  <a:srgbClr val="4A4230"/>
                </a:solidFill>
                <a:latin typeface="Noto Sans KR"/>
              </a:rPr>
              <a:t> ➔ </a:t>
            </a:r>
            <a:r>
              <a:rPr sz="1012" b="1" i="0" u="none" dirty="0" err="1">
                <a:solidFill>
                  <a:srgbClr val="4A4230"/>
                </a:solidFill>
                <a:latin typeface="Noto Sans KR"/>
              </a:rPr>
              <a:t>디자인</a:t>
            </a:r>
            <a:r>
              <a:rPr sz="1012" b="1" i="0" u="none" dirty="0">
                <a:solidFill>
                  <a:srgbClr val="4A4230"/>
                </a:solidFill>
                <a:latin typeface="Noto Sans KR"/>
              </a:rPr>
              <a:t> HTML </a:t>
            </a:r>
            <a:r>
              <a:rPr sz="1012" b="1" i="0" u="none" dirty="0" err="1">
                <a:solidFill>
                  <a:srgbClr val="4A4230"/>
                </a:solidFill>
                <a:latin typeface="Noto Sans KR"/>
              </a:rPr>
              <a:t>화면</a:t>
            </a:r>
            <a:r>
              <a:rPr sz="1012" b="1" i="0" u="none" dirty="0">
                <a:solidFill>
                  <a:srgbClr val="4A4230"/>
                </a:solidFill>
                <a:latin typeface="Noto Sans KR"/>
              </a:rPr>
              <a:t> </a:t>
            </a:r>
            <a:r>
              <a:rPr sz="1012" b="1" i="0" u="none" dirty="0" err="1">
                <a:solidFill>
                  <a:srgbClr val="4A4230"/>
                </a:solidFill>
                <a:latin typeface="Noto Sans KR"/>
              </a:rPr>
              <a:t>반환'의</a:t>
            </a:r>
            <a:r>
              <a:rPr sz="1012" b="1" i="0" u="none" dirty="0">
                <a:solidFill>
                  <a:srgbClr val="4A4230"/>
                </a:solidFill>
                <a:latin typeface="Noto Sans KR"/>
              </a:rPr>
              <a:t> </a:t>
            </a:r>
            <a:r>
              <a:rPr sz="1012" b="1" i="0" u="none" dirty="0" err="1">
                <a:solidFill>
                  <a:srgbClr val="4A4230"/>
                </a:solidFill>
                <a:latin typeface="Noto Sans KR"/>
              </a:rPr>
              <a:t>견고한</a:t>
            </a:r>
            <a:r>
              <a:rPr sz="1012" b="1" i="0" u="none" dirty="0">
                <a:solidFill>
                  <a:srgbClr val="4A4230"/>
                </a:solidFill>
                <a:latin typeface="Noto Sans KR"/>
              </a:rPr>
              <a:t> 웹 </a:t>
            </a:r>
            <a:r>
              <a:rPr sz="1012" b="1" i="0" u="none" dirty="0" err="1">
                <a:solidFill>
                  <a:srgbClr val="4A4230"/>
                </a:solidFill>
                <a:latin typeface="Noto Sans KR"/>
              </a:rPr>
              <a:t>프로덕션</a:t>
            </a:r>
            <a:r>
              <a:rPr sz="1012" b="1" i="0" u="none" dirty="0">
                <a:solidFill>
                  <a:srgbClr val="4A4230"/>
                </a:solidFill>
                <a:latin typeface="Noto Sans KR"/>
              </a:rPr>
              <a:t> </a:t>
            </a:r>
            <a:r>
              <a:rPr sz="1012" b="1" i="0" u="none" dirty="0" err="1">
                <a:solidFill>
                  <a:srgbClr val="4A4230"/>
                </a:solidFill>
                <a:latin typeface="Noto Sans KR"/>
              </a:rPr>
              <a:t>표준</a:t>
            </a:r>
            <a:r>
              <a:rPr sz="1012" b="1" i="0" u="none" dirty="0">
                <a:solidFill>
                  <a:srgbClr val="4A4230"/>
                </a:solidFill>
                <a:latin typeface="Noto Sans KR"/>
              </a:rPr>
              <a:t> </a:t>
            </a:r>
            <a:r>
              <a:rPr sz="1012" b="1" i="0" u="none" dirty="0" err="1">
                <a:solidFill>
                  <a:srgbClr val="4A4230"/>
                </a:solidFill>
                <a:latin typeface="Noto Sans KR"/>
              </a:rPr>
              <a:t>패턴을</a:t>
            </a:r>
            <a:r>
              <a:rPr sz="1012" b="1" i="0" u="none" dirty="0">
                <a:solidFill>
                  <a:srgbClr val="4A4230"/>
                </a:solidFill>
                <a:latin typeface="Noto Sans KR"/>
              </a:rPr>
              <a:t> </a:t>
            </a:r>
            <a:r>
              <a:rPr sz="1012" b="1" i="0" u="none" dirty="0" err="1">
                <a:solidFill>
                  <a:srgbClr val="4A4230"/>
                </a:solidFill>
                <a:latin typeface="Noto Sans KR"/>
              </a:rPr>
              <a:t>정직하게</a:t>
            </a:r>
            <a:r>
              <a:rPr sz="1012" b="1" i="0" u="none" dirty="0">
                <a:solidFill>
                  <a:srgbClr val="4A4230"/>
                </a:solidFill>
                <a:latin typeface="Noto Sans KR"/>
              </a:rPr>
              <a:t> </a:t>
            </a:r>
            <a:r>
              <a:rPr sz="1012" b="1" i="0" u="none" dirty="0" err="1">
                <a:solidFill>
                  <a:srgbClr val="4A4230"/>
                </a:solidFill>
                <a:latin typeface="Noto Sans KR"/>
              </a:rPr>
              <a:t>수수하여</a:t>
            </a:r>
            <a:r>
              <a:rPr sz="1012" b="1" i="0" u="none" dirty="0">
                <a:solidFill>
                  <a:srgbClr val="4A4230"/>
                </a:solidFill>
                <a:latin typeface="Noto Sans KR"/>
              </a:rPr>
              <a:t> </a:t>
            </a:r>
            <a:r>
              <a:rPr sz="1012" b="1" i="0" u="none" dirty="0" err="1">
                <a:solidFill>
                  <a:srgbClr val="4A4230"/>
                </a:solidFill>
                <a:latin typeface="Noto Sans KR"/>
              </a:rPr>
              <a:t>뛰어난</a:t>
            </a:r>
            <a:r>
              <a:rPr sz="1012" b="1" i="0" u="none" dirty="0">
                <a:solidFill>
                  <a:srgbClr val="4A4230"/>
                </a:solidFill>
                <a:latin typeface="Noto Sans KR"/>
              </a:rPr>
              <a:t> </a:t>
            </a:r>
            <a:r>
              <a:rPr sz="1012" b="1" i="0" u="none" dirty="0" err="1">
                <a:solidFill>
                  <a:srgbClr val="4A4230"/>
                </a:solidFill>
                <a:latin typeface="Noto Sans KR"/>
              </a:rPr>
              <a:t>호환성을</a:t>
            </a:r>
            <a:r>
              <a:rPr sz="1012" b="1" i="0" u="none" dirty="0">
                <a:solidFill>
                  <a:srgbClr val="4A4230"/>
                </a:solidFill>
                <a:latin typeface="Noto Sans KR"/>
              </a:rPr>
              <a:t> </a:t>
            </a:r>
            <a:r>
              <a:rPr sz="1012" b="1" i="0" u="none" dirty="0" err="1">
                <a:solidFill>
                  <a:srgbClr val="4A4230"/>
                </a:solidFill>
                <a:latin typeface="Noto Sans KR"/>
              </a:rPr>
              <a:t>보장합니다</a:t>
            </a:r>
            <a:r>
              <a:rPr sz="1012" b="1" i="0" u="none" dirty="0">
                <a:solidFill>
                  <a:srgbClr val="4A4230"/>
                </a:solidFill>
                <a:latin typeface="Noto Sans KR"/>
              </a:rPr>
              <a:t>.</a:t>
            </a:r>
            <a:endParaRPr lang="en-US" sz="1012" b="1" i="0" u="none" dirty="0">
              <a:solidFill>
                <a:srgbClr val="4A4230"/>
              </a:solidFill>
              <a:latin typeface="Noto Sans KR"/>
            </a:endParaRPr>
          </a:p>
          <a:p>
            <a:pPr algn="l">
              <a:lnSpc>
                <a:spcPts val="1518"/>
              </a:lnSpc>
            </a:pPr>
            <a:endParaRPr lang="en-US" sz="1012" b="1" dirty="0">
              <a:solidFill>
                <a:srgbClr val="4A4230"/>
              </a:solidFill>
              <a:latin typeface="Noto Sans KR"/>
            </a:endParaRPr>
          </a:p>
          <a:p>
            <a:pPr algn="l">
              <a:lnSpc>
                <a:spcPts val="1518"/>
              </a:lnSpc>
            </a:pPr>
            <a:r>
              <a:rPr lang="en-US" sz="1012" b="1" dirty="0">
                <a:solidFill>
                  <a:srgbClr val="4A4230"/>
                </a:solidFill>
                <a:latin typeface="Noto Sans KR"/>
              </a:rPr>
              <a:t>Ex) 1. </a:t>
            </a:r>
            <a:r>
              <a:rPr lang="ko-KR" altLang="en-US" sz="1012" b="1" dirty="0">
                <a:solidFill>
                  <a:srgbClr val="4A4230"/>
                </a:solidFill>
                <a:latin typeface="Noto Sans KR"/>
              </a:rPr>
              <a:t>사용자가 입력한 검색조건을 주소에서 꺼냄</a:t>
            </a:r>
            <a:endParaRPr lang="en-US" altLang="ko-KR" sz="1012" b="1" dirty="0">
              <a:solidFill>
                <a:srgbClr val="4A4230"/>
              </a:solidFill>
              <a:latin typeface="Noto Sans KR"/>
            </a:endParaRPr>
          </a:p>
          <a:p>
            <a:pPr algn="l">
              <a:lnSpc>
                <a:spcPts val="1518"/>
              </a:lnSpc>
            </a:pPr>
            <a:r>
              <a:rPr lang="en-US" sz="1012" b="1" i="0" u="none" dirty="0">
                <a:solidFill>
                  <a:srgbClr val="4A4230"/>
                </a:solidFill>
                <a:latin typeface="Noto Sans KR"/>
              </a:rPr>
              <a:t>        2. </a:t>
            </a:r>
            <a:r>
              <a:rPr lang="ko-KR" altLang="en-US" sz="1012" b="1" i="0" u="none" dirty="0">
                <a:solidFill>
                  <a:srgbClr val="4A4230"/>
                </a:solidFill>
                <a:latin typeface="Noto Sans KR"/>
              </a:rPr>
              <a:t>그 조건으로 데이터를 가져옴</a:t>
            </a:r>
            <a:r>
              <a:rPr lang="en-US" altLang="ko-KR" sz="1012" b="1" i="0" u="none" dirty="0">
                <a:solidFill>
                  <a:srgbClr val="4A4230"/>
                </a:solidFill>
                <a:latin typeface="Noto Sans KR"/>
              </a:rPr>
              <a:t>.</a:t>
            </a:r>
          </a:p>
          <a:p>
            <a:pPr algn="l">
              <a:lnSpc>
                <a:spcPts val="1518"/>
              </a:lnSpc>
            </a:pPr>
            <a:r>
              <a:rPr lang="en-US" sz="1012" b="1" dirty="0">
                <a:solidFill>
                  <a:srgbClr val="4A4230"/>
                </a:solidFill>
                <a:latin typeface="Noto Sans KR"/>
              </a:rPr>
              <a:t>        3. </a:t>
            </a:r>
            <a:r>
              <a:rPr lang="ko-KR" altLang="en-US" sz="1012" b="1" dirty="0" err="1">
                <a:solidFill>
                  <a:srgbClr val="4A4230"/>
                </a:solidFill>
                <a:latin typeface="Noto Sans KR"/>
              </a:rPr>
              <a:t>만든데이터를</a:t>
            </a:r>
            <a:r>
              <a:rPr lang="ko-KR" altLang="en-US" sz="1012" b="1" dirty="0">
                <a:solidFill>
                  <a:srgbClr val="4A4230"/>
                </a:solidFill>
                <a:latin typeface="Noto Sans KR"/>
              </a:rPr>
              <a:t> </a:t>
            </a:r>
            <a:r>
              <a:rPr lang="en-US" altLang="ko-KR" sz="1012" b="1" dirty="0">
                <a:solidFill>
                  <a:srgbClr val="4A4230"/>
                </a:solidFill>
                <a:latin typeface="Noto Sans KR"/>
              </a:rPr>
              <a:t>HTML</a:t>
            </a:r>
            <a:r>
              <a:rPr lang="ko-KR" altLang="en-US" sz="1012" b="1" dirty="0">
                <a:solidFill>
                  <a:srgbClr val="4A4230"/>
                </a:solidFill>
                <a:latin typeface="Noto Sans KR"/>
              </a:rPr>
              <a:t>로 넘겨줌 </a:t>
            </a:r>
            <a:endParaRPr sz="1012" b="1" i="0" u="none" dirty="0">
              <a:solidFill>
                <a:srgbClr val="4A4230"/>
              </a:solidFill>
              <a:latin typeface="Noto Sans KR"/>
            </a:endParaRP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15087" y="1181100"/>
            <a:ext cx="118616" cy="152400"/>
          </a:xfrm>
          <a:prstGeom prst="rect">
            <a:avLst/>
          </a:prstGeom>
        </p:spPr>
      </p:pic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15087" y="2393602"/>
            <a:ext cx="118616" cy="1524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E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962025"/>
            <a:ext cx="5405437" cy="28575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247775"/>
            <a:ext cx="5405437" cy="51816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5062" y="962025"/>
            <a:ext cx="5405437" cy="1252983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5062" y="2357883"/>
            <a:ext cx="5405437" cy="223137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14375" y="428625"/>
            <a:ext cx="11451431" cy="342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700"/>
              </a:lnSpc>
            </a:pPr>
            <a:r>
              <a:rPr sz="2250" b="0" i="0" u="none">
                <a:solidFill>
                  <a:srgbClr val="0C3C20"/>
                </a:solidFill>
                <a:latin typeface="Noto Sans KR ExtraBold"/>
              </a:rPr>
              <a:t>핵심 코드 ④: 외부 API 연동 - 소요 시간 및 경유 마트 계산</a:t>
            </a:r>
          </a:p>
        </p:txBody>
      </p:sp>
      <p:sp>
        <p:nvSpPr>
          <p:cNvPr id="7" name="Rectangle 6"/>
          <p:cNvSpPr/>
          <p:nvPr/>
        </p:nvSpPr>
        <p:spPr>
          <a:xfrm>
            <a:off x="571500" y="428625"/>
            <a:ext cx="57150" cy="342900"/>
          </a:xfrm>
          <a:prstGeom prst="rect">
            <a:avLst/>
          </a:prstGeom>
          <a:solidFill>
            <a:srgbClr val="E65F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551991" y="1162050"/>
            <a:ext cx="5255656" cy="198090"/>
          </a:xfrm>
          <a:prstGeom prst="rect">
            <a:avLst/>
          </a:prstGeom>
          <a:noFill/>
        </p:spPr>
        <p:txBody>
          <a:bodyPr wrap="square" lIns="118616" tIns="0" rIns="0" bIns="0" anchor="t">
            <a:spAutoFit/>
          </a:bodyPr>
          <a:lstStyle/>
          <a:p>
            <a:pPr algn="l">
              <a:lnSpc>
                <a:spcPts val="1560"/>
              </a:lnSpc>
            </a:pPr>
            <a:r>
              <a:rPr sz="1200" b="1" i="0" u="none">
                <a:solidFill>
                  <a:srgbClr val="0C3C20"/>
                </a:solidFill>
                <a:latin typeface="Noto Sans KR"/>
              </a:rPr>
              <a:t>쉽게 말하면 어떻게 작동하나요?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15087" y="1436340"/>
            <a:ext cx="5005387" cy="5786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18"/>
              </a:lnSpc>
            </a:pPr>
            <a:r>
              <a:rPr sz="1012" b="0" i="0" u="none">
                <a:solidFill>
                  <a:srgbClr val="55665A"/>
                </a:solidFill>
                <a:latin typeface="Noto Sans KR"/>
              </a:rPr>
              <a:t>사용자 GPS 기반 출발지 주소와 카카오 디벨로퍼스로 탐색한 인근 대형마트 위치 좌표를 취합해, 네이버 길찾기 시스템(Directions)에 전달하여 실재 이동 소요시간을 획득합니다.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51991" y="2557908"/>
            <a:ext cx="5255656" cy="198090"/>
          </a:xfrm>
          <a:prstGeom prst="rect">
            <a:avLst/>
          </a:prstGeom>
          <a:noFill/>
        </p:spPr>
        <p:txBody>
          <a:bodyPr wrap="square" lIns="118616" tIns="0" rIns="0" bIns="0" anchor="t">
            <a:spAutoFit/>
          </a:bodyPr>
          <a:lstStyle/>
          <a:p>
            <a:pPr algn="l">
              <a:lnSpc>
                <a:spcPts val="1560"/>
              </a:lnSpc>
            </a:pPr>
            <a:r>
              <a:rPr sz="1200" b="1" i="0" u="none">
                <a:solidFill>
                  <a:srgbClr val="E65F2C"/>
                </a:solidFill>
                <a:latin typeface="Noto Sans KR"/>
              </a:rPr>
              <a:t>핵심 POINT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5087" y="2832199"/>
            <a:ext cx="5005387" cy="94416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18"/>
              </a:lnSpc>
            </a:pPr>
            <a:r>
              <a:rPr sz="1012" b="1" i="0" u="none" dirty="0" err="1">
                <a:solidFill>
                  <a:srgbClr val="4A4230"/>
                </a:solidFill>
                <a:latin typeface="Noto Sans KR"/>
              </a:rPr>
              <a:t>네이버</a:t>
            </a:r>
            <a:r>
              <a:rPr sz="1012" b="1" i="0" u="none" dirty="0">
                <a:solidFill>
                  <a:srgbClr val="4A4230"/>
                </a:solidFill>
                <a:latin typeface="Noto Sans KR"/>
              </a:rPr>
              <a:t>(</a:t>
            </a:r>
            <a:r>
              <a:rPr sz="1012" b="1" i="0" u="none" dirty="0" err="1">
                <a:solidFill>
                  <a:srgbClr val="4A4230"/>
                </a:solidFill>
                <a:latin typeface="Noto Sans KR"/>
              </a:rPr>
              <a:t>경로</a:t>
            </a:r>
            <a:r>
              <a:rPr sz="1012" b="1" i="0" u="none" dirty="0">
                <a:solidFill>
                  <a:srgbClr val="4A4230"/>
                </a:solidFill>
                <a:latin typeface="Noto Sans KR"/>
              </a:rPr>
              <a:t> </a:t>
            </a:r>
            <a:r>
              <a:rPr sz="1012" b="1" i="0" u="none" dirty="0" err="1">
                <a:solidFill>
                  <a:srgbClr val="4A4230"/>
                </a:solidFill>
                <a:latin typeface="Noto Sans KR"/>
              </a:rPr>
              <a:t>시간</a:t>
            </a:r>
            <a:r>
              <a:rPr sz="1012" b="1" i="0" u="none" dirty="0">
                <a:solidFill>
                  <a:srgbClr val="4A4230"/>
                </a:solidFill>
                <a:latin typeface="Noto Sans KR"/>
              </a:rPr>
              <a:t>)와 </a:t>
            </a:r>
            <a:r>
              <a:rPr sz="1012" b="1" i="0" u="none" dirty="0" err="1">
                <a:solidFill>
                  <a:srgbClr val="4A4230"/>
                </a:solidFill>
                <a:latin typeface="Noto Sans KR"/>
              </a:rPr>
              <a:t>카카오</a:t>
            </a:r>
            <a:r>
              <a:rPr sz="1012" b="1" i="0" u="none" dirty="0">
                <a:solidFill>
                  <a:srgbClr val="4A4230"/>
                </a:solidFill>
                <a:latin typeface="Noto Sans KR"/>
              </a:rPr>
              <a:t>(</a:t>
            </a:r>
            <a:r>
              <a:rPr sz="1012" b="1" i="0" u="none" dirty="0" err="1">
                <a:solidFill>
                  <a:srgbClr val="4A4230"/>
                </a:solidFill>
                <a:latin typeface="Noto Sans KR"/>
              </a:rPr>
              <a:t>주변</a:t>
            </a:r>
            <a:r>
              <a:rPr sz="1012" b="1" i="0" u="none" dirty="0">
                <a:solidFill>
                  <a:srgbClr val="4A4230"/>
                </a:solidFill>
                <a:latin typeface="Noto Sans KR"/>
              </a:rPr>
              <a:t> </a:t>
            </a:r>
            <a:r>
              <a:rPr sz="1012" b="1" i="0" u="none" dirty="0" err="1">
                <a:solidFill>
                  <a:srgbClr val="4A4230"/>
                </a:solidFill>
                <a:latin typeface="Noto Sans KR"/>
              </a:rPr>
              <a:t>검색</a:t>
            </a:r>
            <a:r>
              <a:rPr sz="1012" b="1" i="0" u="none" dirty="0">
                <a:solidFill>
                  <a:srgbClr val="4A4230"/>
                </a:solidFill>
                <a:latin typeface="Noto Sans KR"/>
              </a:rPr>
              <a:t>)</a:t>
            </a:r>
            <a:r>
              <a:rPr sz="1012" b="1" i="0" u="none" dirty="0" err="1">
                <a:solidFill>
                  <a:srgbClr val="4A4230"/>
                </a:solidFill>
                <a:latin typeface="Noto Sans KR"/>
              </a:rPr>
              <a:t>라는</a:t>
            </a:r>
            <a:r>
              <a:rPr sz="1012" b="1" i="0" u="none" dirty="0">
                <a:solidFill>
                  <a:srgbClr val="4A4230"/>
                </a:solidFill>
                <a:latin typeface="Noto Sans KR"/>
              </a:rPr>
              <a:t> </a:t>
            </a:r>
            <a:r>
              <a:rPr sz="1012" b="1" i="0" u="none" dirty="0" err="1">
                <a:solidFill>
                  <a:srgbClr val="4A4230"/>
                </a:solidFill>
                <a:latin typeface="Noto Sans KR"/>
              </a:rPr>
              <a:t>거대</a:t>
            </a:r>
            <a:r>
              <a:rPr sz="1012" b="1" i="0" u="none" dirty="0">
                <a:solidFill>
                  <a:srgbClr val="4A4230"/>
                </a:solidFill>
                <a:latin typeface="Noto Sans KR"/>
              </a:rPr>
              <a:t> </a:t>
            </a:r>
            <a:r>
              <a:rPr sz="1012" b="1" i="0" u="none" dirty="0" err="1">
                <a:solidFill>
                  <a:srgbClr val="4A4230"/>
                </a:solidFill>
                <a:latin typeface="Noto Sans KR"/>
              </a:rPr>
              <a:t>플랫폼의</a:t>
            </a:r>
            <a:r>
              <a:rPr sz="1012" b="1" i="0" u="none" dirty="0">
                <a:solidFill>
                  <a:srgbClr val="4A4230"/>
                </a:solidFill>
                <a:latin typeface="Noto Sans KR"/>
              </a:rPr>
              <a:t> </a:t>
            </a:r>
            <a:r>
              <a:rPr sz="1012" b="1" i="0" u="none" dirty="0" err="1">
                <a:solidFill>
                  <a:srgbClr val="4A4230"/>
                </a:solidFill>
                <a:latin typeface="Noto Sans KR"/>
              </a:rPr>
              <a:t>이종</a:t>
            </a:r>
            <a:r>
              <a:rPr sz="1012" b="1" i="0" u="none" dirty="0">
                <a:solidFill>
                  <a:srgbClr val="4A4230"/>
                </a:solidFill>
                <a:latin typeface="Noto Sans KR"/>
              </a:rPr>
              <a:t> </a:t>
            </a:r>
            <a:r>
              <a:rPr sz="1012" b="1" i="0" u="none" dirty="0" err="1">
                <a:solidFill>
                  <a:srgbClr val="4A4230"/>
                </a:solidFill>
                <a:latin typeface="Noto Sans KR"/>
              </a:rPr>
              <a:t>API를</a:t>
            </a:r>
            <a:r>
              <a:rPr sz="1012" b="1" i="0" u="none" dirty="0">
                <a:solidFill>
                  <a:srgbClr val="4A4230"/>
                </a:solidFill>
                <a:latin typeface="Noto Sans KR"/>
              </a:rPr>
              <a:t> </a:t>
            </a:r>
            <a:r>
              <a:rPr sz="1012" b="1" i="0" u="none" dirty="0" err="1">
                <a:solidFill>
                  <a:srgbClr val="4A4230"/>
                </a:solidFill>
                <a:latin typeface="Noto Sans KR"/>
              </a:rPr>
              <a:t>유기적으로</a:t>
            </a:r>
            <a:r>
              <a:rPr sz="1012" b="1" i="0" u="none" dirty="0">
                <a:solidFill>
                  <a:srgbClr val="4A4230"/>
                </a:solidFill>
                <a:latin typeface="Noto Sans KR"/>
              </a:rPr>
              <a:t> </a:t>
            </a:r>
            <a:r>
              <a:rPr sz="1012" b="1" i="0" u="none" dirty="0" err="1">
                <a:solidFill>
                  <a:srgbClr val="4A4230"/>
                </a:solidFill>
                <a:latin typeface="Noto Sans KR"/>
              </a:rPr>
              <a:t>조합하여</a:t>
            </a:r>
            <a:r>
              <a:rPr sz="1012" b="1" i="0" u="none" dirty="0">
                <a:solidFill>
                  <a:srgbClr val="4A4230"/>
                </a:solidFill>
                <a:latin typeface="Noto Sans KR"/>
              </a:rPr>
              <a:t>, </a:t>
            </a:r>
            <a:r>
              <a:rPr sz="1012" b="1" i="0" u="none" dirty="0" err="1">
                <a:solidFill>
                  <a:srgbClr val="4A4230"/>
                </a:solidFill>
                <a:latin typeface="Noto Sans KR"/>
              </a:rPr>
              <a:t>화면</a:t>
            </a:r>
            <a:r>
              <a:rPr sz="1012" b="1" i="0" u="none" dirty="0">
                <a:solidFill>
                  <a:srgbClr val="4A4230"/>
                </a:solidFill>
                <a:latin typeface="Noto Sans KR"/>
              </a:rPr>
              <a:t> </a:t>
            </a:r>
            <a:r>
              <a:rPr sz="1012" b="1" i="0" u="none" dirty="0" err="1">
                <a:solidFill>
                  <a:srgbClr val="4A4230"/>
                </a:solidFill>
                <a:latin typeface="Noto Sans KR"/>
              </a:rPr>
              <a:t>깜빡임이</a:t>
            </a:r>
            <a:r>
              <a:rPr sz="1012" b="1" i="0" u="none" dirty="0">
                <a:solidFill>
                  <a:srgbClr val="4A4230"/>
                </a:solidFill>
                <a:latin typeface="Noto Sans KR"/>
              </a:rPr>
              <a:t> </a:t>
            </a:r>
            <a:r>
              <a:rPr sz="1012" b="1" i="0" u="none" dirty="0" err="1">
                <a:solidFill>
                  <a:srgbClr val="4A4230"/>
                </a:solidFill>
                <a:latin typeface="Noto Sans KR"/>
              </a:rPr>
              <a:t>없는</a:t>
            </a:r>
            <a:r>
              <a:rPr sz="1012" b="1" i="0" u="none" dirty="0">
                <a:solidFill>
                  <a:srgbClr val="4A4230"/>
                </a:solidFill>
                <a:latin typeface="Noto Sans KR"/>
              </a:rPr>
              <a:t> AJAX </a:t>
            </a:r>
            <a:r>
              <a:rPr sz="1012" b="1" i="0" u="none" dirty="0" err="1">
                <a:solidFill>
                  <a:srgbClr val="4A4230"/>
                </a:solidFill>
                <a:latin typeface="Noto Sans KR"/>
              </a:rPr>
              <a:t>통신</a:t>
            </a:r>
            <a:r>
              <a:rPr sz="1012" b="1" i="0" u="none" dirty="0">
                <a:solidFill>
                  <a:srgbClr val="4A4230"/>
                </a:solidFill>
                <a:latin typeface="Noto Sans KR"/>
              </a:rPr>
              <a:t> </a:t>
            </a:r>
            <a:r>
              <a:rPr sz="1012" b="1" i="0" u="none" dirty="0" err="1">
                <a:solidFill>
                  <a:srgbClr val="4A4230"/>
                </a:solidFill>
                <a:latin typeface="Noto Sans KR"/>
              </a:rPr>
              <a:t>기반으로</a:t>
            </a:r>
            <a:r>
              <a:rPr sz="1012" b="1" i="0" u="none" dirty="0">
                <a:solidFill>
                  <a:srgbClr val="4A4230"/>
                </a:solidFill>
                <a:latin typeface="Noto Sans KR"/>
              </a:rPr>
              <a:t> </a:t>
            </a:r>
            <a:r>
              <a:rPr sz="1012" b="1" i="0" u="none" dirty="0" err="1">
                <a:solidFill>
                  <a:srgbClr val="4A4230"/>
                </a:solidFill>
                <a:latin typeface="Noto Sans KR"/>
              </a:rPr>
              <a:t>실시간</a:t>
            </a:r>
            <a:r>
              <a:rPr sz="1012" b="1" i="0" u="none" dirty="0">
                <a:solidFill>
                  <a:srgbClr val="4A4230"/>
                </a:solidFill>
                <a:latin typeface="Noto Sans KR"/>
              </a:rPr>
              <a:t> </a:t>
            </a:r>
            <a:r>
              <a:rPr sz="1012" b="1" i="0" u="none" dirty="0" err="1">
                <a:solidFill>
                  <a:srgbClr val="4A4230"/>
                </a:solidFill>
                <a:latin typeface="Noto Sans KR"/>
              </a:rPr>
              <a:t>최적</a:t>
            </a:r>
            <a:r>
              <a:rPr sz="1012" b="1" i="0" u="none" dirty="0">
                <a:solidFill>
                  <a:srgbClr val="4A4230"/>
                </a:solidFill>
                <a:latin typeface="Noto Sans KR"/>
              </a:rPr>
              <a:t> </a:t>
            </a:r>
            <a:r>
              <a:rPr sz="1012" b="1" i="0" u="none" dirty="0" err="1">
                <a:solidFill>
                  <a:srgbClr val="4A4230"/>
                </a:solidFill>
                <a:latin typeface="Noto Sans KR"/>
              </a:rPr>
              <a:t>동선을</a:t>
            </a:r>
            <a:r>
              <a:rPr sz="1012" b="1" i="0" u="none" dirty="0">
                <a:solidFill>
                  <a:srgbClr val="4A4230"/>
                </a:solidFill>
                <a:latin typeface="Noto Sans KR"/>
              </a:rPr>
              <a:t> </a:t>
            </a:r>
            <a:r>
              <a:rPr sz="1012" b="1" i="0" u="none" dirty="0" err="1">
                <a:solidFill>
                  <a:srgbClr val="4A4230"/>
                </a:solidFill>
                <a:latin typeface="Noto Sans KR"/>
              </a:rPr>
              <a:t>그려냅니다</a:t>
            </a:r>
            <a:r>
              <a:rPr sz="1012" b="1" i="0" u="none" dirty="0">
                <a:solidFill>
                  <a:srgbClr val="4A4230"/>
                </a:solidFill>
                <a:latin typeface="Noto Sans KR"/>
              </a:rPr>
              <a:t>.</a:t>
            </a:r>
            <a:endParaRPr lang="en-US" sz="1012" b="1" i="0" u="none" dirty="0">
              <a:solidFill>
                <a:srgbClr val="4A4230"/>
              </a:solidFill>
              <a:latin typeface="Noto Sans KR"/>
            </a:endParaRPr>
          </a:p>
          <a:p>
            <a:pPr algn="l">
              <a:lnSpc>
                <a:spcPts val="1518"/>
              </a:lnSpc>
            </a:pPr>
            <a:endParaRPr lang="en-US" sz="1012" b="1" dirty="0">
              <a:solidFill>
                <a:srgbClr val="4A4230"/>
              </a:solidFill>
              <a:latin typeface="Noto Sans KR"/>
            </a:endParaRPr>
          </a:p>
          <a:p>
            <a:pPr algn="l">
              <a:lnSpc>
                <a:spcPts val="1518"/>
              </a:lnSpc>
            </a:pPr>
            <a:r>
              <a:rPr lang="en-US" sz="1012" b="1" i="0" u="none" dirty="0">
                <a:solidFill>
                  <a:srgbClr val="4A4230"/>
                </a:solidFill>
                <a:latin typeface="Noto Sans KR"/>
              </a:rPr>
              <a:t>AJAX</a:t>
            </a:r>
            <a:r>
              <a:rPr lang="ko-KR" altLang="en-US" sz="1012" b="1" i="0" u="none" dirty="0">
                <a:solidFill>
                  <a:srgbClr val="4A4230"/>
                </a:solidFill>
                <a:latin typeface="Noto Sans KR"/>
              </a:rPr>
              <a:t>란</a:t>
            </a:r>
            <a:r>
              <a:rPr lang="en-US" altLang="ko-KR" sz="1012" b="1" i="0" u="none" dirty="0">
                <a:solidFill>
                  <a:srgbClr val="4A4230"/>
                </a:solidFill>
                <a:latin typeface="Noto Sans KR"/>
              </a:rPr>
              <a:t>? </a:t>
            </a:r>
          </a:p>
          <a:p>
            <a:pPr algn="l">
              <a:lnSpc>
                <a:spcPts val="1518"/>
              </a:lnSpc>
            </a:pPr>
            <a:r>
              <a:rPr lang="ko-KR" altLang="en-US" sz="1012" b="1" dirty="0">
                <a:solidFill>
                  <a:srgbClr val="4A4230"/>
                </a:solidFill>
                <a:latin typeface="Noto Sans KR"/>
              </a:rPr>
              <a:t>전체페이지를 </a:t>
            </a:r>
            <a:r>
              <a:rPr lang="ko-KR" altLang="en-US" sz="1012" b="1" dirty="0" err="1">
                <a:solidFill>
                  <a:srgbClr val="4A4230"/>
                </a:solidFill>
                <a:latin typeface="Noto Sans KR"/>
              </a:rPr>
              <a:t>새로고침</a:t>
            </a:r>
            <a:r>
              <a:rPr lang="ko-KR" altLang="en-US" sz="1012" b="1" dirty="0">
                <a:solidFill>
                  <a:srgbClr val="4A4230"/>
                </a:solidFill>
                <a:latin typeface="Noto Sans KR"/>
              </a:rPr>
              <a:t> 하지 않고 뒤에서 몰래 </a:t>
            </a:r>
            <a:r>
              <a:rPr lang="ko-KR" altLang="en-US" sz="1012" b="1" dirty="0" err="1">
                <a:solidFill>
                  <a:srgbClr val="4A4230"/>
                </a:solidFill>
                <a:latin typeface="Noto Sans KR"/>
              </a:rPr>
              <a:t>서버랑</a:t>
            </a:r>
            <a:r>
              <a:rPr lang="ko-KR" altLang="en-US" sz="1012" b="1" dirty="0">
                <a:solidFill>
                  <a:srgbClr val="4A4230"/>
                </a:solidFill>
                <a:latin typeface="Noto Sans KR"/>
              </a:rPr>
              <a:t> 데이터만 주고받는다는 의미</a:t>
            </a:r>
            <a:r>
              <a:rPr lang="en-US" altLang="ko-KR" sz="1012" b="1" dirty="0">
                <a:solidFill>
                  <a:srgbClr val="4A4230"/>
                </a:solidFill>
                <a:latin typeface="Noto Sans KR"/>
              </a:rPr>
              <a:t>.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15087" y="1181100"/>
            <a:ext cx="118616" cy="152400"/>
          </a:xfrm>
          <a:prstGeom prst="rect">
            <a:avLst/>
          </a:prstGeom>
        </p:spPr>
      </p:pic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15087" y="2576958"/>
            <a:ext cx="118616" cy="1524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E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962025"/>
            <a:ext cx="5405437" cy="28575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247775"/>
            <a:ext cx="5405437" cy="51816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5062" y="962025"/>
            <a:ext cx="5405437" cy="1278731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5062" y="2383631"/>
            <a:ext cx="5405437" cy="88463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14375" y="428625"/>
            <a:ext cx="11451431" cy="342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700"/>
              </a:lnSpc>
            </a:pPr>
            <a:r>
              <a:rPr sz="2250" b="0" i="0" u="none" dirty="0" err="1">
                <a:solidFill>
                  <a:srgbClr val="0C3C20"/>
                </a:solidFill>
                <a:latin typeface="Noto Sans KR ExtraBold"/>
              </a:rPr>
              <a:t>핵심</a:t>
            </a:r>
            <a:r>
              <a:rPr sz="2250" b="0" i="0" u="none" dirty="0">
                <a:solidFill>
                  <a:srgbClr val="0C3C20"/>
                </a:solidFill>
                <a:latin typeface="Noto Sans KR ExtraBold"/>
              </a:rPr>
              <a:t> </a:t>
            </a:r>
            <a:r>
              <a:rPr sz="2250" b="0" i="0" u="none" dirty="0" err="1">
                <a:solidFill>
                  <a:srgbClr val="0C3C20"/>
                </a:solidFill>
                <a:latin typeface="Noto Sans KR ExtraBold"/>
              </a:rPr>
              <a:t>코드</a:t>
            </a:r>
            <a:r>
              <a:rPr sz="2250" b="0" i="0" u="none" dirty="0">
                <a:solidFill>
                  <a:srgbClr val="0C3C20"/>
                </a:solidFill>
                <a:latin typeface="Noto Sans KR ExtraBold"/>
              </a:rPr>
              <a:t> ⑤ &amp; ⑥: 웹 </a:t>
            </a:r>
            <a:r>
              <a:rPr sz="2250" b="0" i="0" u="none" dirty="0" err="1">
                <a:solidFill>
                  <a:srgbClr val="0C3C20"/>
                </a:solidFill>
                <a:latin typeface="Noto Sans KR ExtraBold"/>
              </a:rPr>
              <a:t>서버</a:t>
            </a:r>
            <a:r>
              <a:rPr sz="2250" b="0" i="0" u="none" dirty="0">
                <a:solidFill>
                  <a:srgbClr val="0C3C20"/>
                </a:solidFill>
                <a:latin typeface="Noto Sans KR ExtraBold"/>
              </a:rPr>
              <a:t> 실 </a:t>
            </a:r>
            <a:r>
              <a:rPr sz="2250" b="0" i="0" u="none" dirty="0" err="1">
                <a:solidFill>
                  <a:srgbClr val="0C3C20"/>
                </a:solidFill>
                <a:latin typeface="Noto Sans KR ExtraBold"/>
              </a:rPr>
              <a:t>배포</a:t>
            </a:r>
            <a:r>
              <a:rPr sz="2250" b="0" i="0" u="none" dirty="0">
                <a:solidFill>
                  <a:srgbClr val="0C3C20"/>
                </a:solidFill>
                <a:latin typeface="Noto Sans KR ExtraBold"/>
              </a:rPr>
              <a:t> 및 </a:t>
            </a:r>
            <a:r>
              <a:rPr sz="2250" b="0" i="0" u="none" dirty="0" err="1">
                <a:solidFill>
                  <a:srgbClr val="0C3C20"/>
                </a:solidFill>
                <a:latin typeface="Noto Sans KR ExtraBold"/>
              </a:rPr>
              <a:t>반응형</a:t>
            </a:r>
            <a:r>
              <a:rPr sz="2250" b="0" i="0" u="none" dirty="0">
                <a:solidFill>
                  <a:srgbClr val="0C3C20"/>
                </a:solidFill>
                <a:latin typeface="Noto Sans KR ExtraBold"/>
              </a:rPr>
              <a:t> CSS</a:t>
            </a:r>
          </a:p>
        </p:txBody>
      </p:sp>
      <p:sp>
        <p:nvSpPr>
          <p:cNvPr id="7" name="Rectangle 6"/>
          <p:cNvSpPr/>
          <p:nvPr/>
        </p:nvSpPr>
        <p:spPr>
          <a:xfrm>
            <a:off x="571500" y="428625"/>
            <a:ext cx="57150" cy="342900"/>
          </a:xfrm>
          <a:prstGeom prst="rect">
            <a:avLst/>
          </a:prstGeom>
          <a:solidFill>
            <a:srgbClr val="E65F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96923" y="1114425"/>
            <a:ext cx="5355669" cy="185737"/>
          </a:xfrm>
          <a:prstGeom prst="rect">
            <a:avLst/>
          </a:prstGeom>
          <a:noFill/>
        </p:spPr>
        <p:txBody>
          <a:bodyPr wrap="square" lIns="111174" tIns="0" rIns="0" bIns="0" anchor="t">
            <a:spAutoFit/>
          </a:bodyPr>
          <a:lstStyle/>
          <a:p>
            <a:pPr algn="l">
              <a:lnSpc>
                <a:spcPts val="1462"/>
              </a:lnSpc>
            </a:pPr>
            <a:r>
              <a:rPr sz="1125" b="1" i="0" u="none">
                <a:solidFill>
                  <a:srgbClr val="0C3C20"/>
                </a:solidFill>
                <a:latin typeface="Noto Sans KR"/>
              </a:rPr>
              <a:t>쉬운 설명 (배포 및 모바일)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67462" y="1347787"/>
            <a:ext cx="5100637" cy="34647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364"/>
              </a:lnSpc>
            </a:pPr>
            <a:r>
              <a:rPr sz="975" b="1" i="0" u="none" dirty="0" err="1">
                <a:solidFill>
                  <a:srgbClr val="55665A"/>
                </a:solidFill>
                <a:latin typeface="Noto Sans KR"/>
              </a:rPr>
              <a:t>배포</a:t>
            </a:r>
            <a:r>
              <a:rPr sz="975" b="1" i="0" u="none" dirty="0">
                <a:solidFill>
                  <a:srgbClr val="55665A"/>
                </a:solidFill>
                <a:latin typeface="Noto Sans KR"/>
              </a:rPr>
              <a:t>:</a:t>
            </a:r>
            <a:r>
              <a:rPr sz="975" b="0" i="0" u="none" dirty="0">
                <a:solidFill>
                  <a:srgbClr val="55665A"/>
                </a:solidFill>
                <a:latin typeface="Noto Sans KR"/>
              </a:rPr>
              <a:t> </a:t>
            </a:r>
            <a:r>
              <a:rPr sz="975" b="0" i="0" u="none" dirty="0" err="1">
                <a:solidFill>
                  <a:srgbClr val="55665A"/>
                </a:solidFill>
                <a:latin typeface="Noto Sans KR"/>
              </a:rPr>
              <a:t>개인</a:t>
            </a:r>
            <a:r>
              <a:rPr sz="975" b="0" i="0" u="none" dirty="0">
                <a:solidFill>
                  <a:srgbClr val="55665A"/>
                </a:solidFill>
                <a:latin typeface="Noto Sans KR"/>
              </a:rPr>
              <a:t> PC </a:t>
            </a:r>
            <a:r>
              <a:rPr sz="975" b="0" i="0" u="none" dirty="0" err="1">
                <a:solidFill>
                  <a:srgbClr val="55665A"/>
                </a:solidFill>
                <a:latin typeface="Noto Sans KR"/>
              </a:rPr>
              <a:t>내부가</a:t>
            </a:r>
            <a:r>
              <a:rPr sz="975" b="0" i="0" u="none" dirty="0">
                <a:solidFill>
                  <a:srgbClr val="55665A"/>
                </a:solidFill>
                <a:latin typeface="Noto Sans KR"/>
              </a:rPr>
              <a:t> </a:t>
            </a:r>
            <a:r>
              <a:rPr sz="975" b="0" i="0" u="none" dirty="0" err="1">
                <a:solidFill>
                  <a:srgbClr val="55665A"/>
                </a:solidFill>
                <a:latin typeface="Noto Sans KR"/>
              </a:rPr>
              <a:t>아닌</a:t>
            </a:r>
            <a:r>
              <a:rPr sz="975" b="0" i="0" u="none" dirty="0">
                <a:solidFill>
                  <a:srgbClr val="55665A"/>
                </a:solidFill>
                <a:latin typeface="Noto Sans KR"/>
              </a:rPr>
              <a:t>, </a:t>
            </a:r>
            <a:r>
              <a:rPr sz="975" b="0" i="0" u="none" dirty="0" err="1">
                <a:solidFill>
                  <a:srgbClr val="55665A"/>
                </a:solidFill>
                <a:latin typeface="Noto Sans KR"/>
              </a:rPr>
              <a:t>누구나</a:t>
            </a:r>
            <a:r>
              <a:rPr sz="975" b="0" i="0" u="none" dirty="0">
                <a:solidFill>
                  <a:srgbClr val="55665A"/>
                </a:solidFill>
                <a:latin typeface="Noto Sans KR"/>
              </a:rPr>
              <a:t> </a:t>
            </a:r>
            <a:r>
              <a:rPr sz="975" b="0" i="0" u="none" dirty="0" err="1">
                <a:solidFill>
                  <a:srgbClr val="55665A"/>
                </a:solidFill>
                <a:latin typeface="Noto Sans KR"/>
              </a:rPr>
              <a:t>스마트폰</a:t>
            </a:r>
            <a:r>
              <a:rPr sz="975" b="0" i="0" u="none" dirty="0">
                <a:solidFill>
                  <a:srgbClr val="55665A"/>
                </a:solidFill>
                <a:latin typeface="Noto Sans KR"/>
              </a:rPr>
              <a:t> </a:t>
            </a:r>
            <a:r>
              <a:rPr sz="975" b="0" i="0" u="none" dirty="0" err="1">
                <a:solidFill>
                  <a:srgbClr val="55665A"/>
                </a:solidFill>
                <a:latin typeface="Noto Sans KR"/>
              </a:rPr>
              <a:t>주소창으로</a:t>
            </a:r>
            <a:r>
              <a:rPr sz="975" b="0" i="0" u="none" dirty="0">
                <a:solidFill>
                  <a:srgbClr val="55665A"/>
                </a:solidFill>
                <a:latin typeface="Noto Sans KR"/>
              </a:rPr>
              <a:t> </a:t>
            </a:r>
            <a:r>
              <a:rPr sz="975" b="0" i="0" u="none" dirty="0" err="1">
                <a:solidFill>
                  <a:srgbClr val="55665A"/>
                </a:solidFill>
                <a:latin typeface="Noto Sans KR"/>
              </a:rPr>
              <a:t>들어올</a:t>
            </a:r>
            <a:r>
              <a:rPr sz="975" b="0" i="0" u="none" dirty="0">
                <a:solidFill>
                  <a:srgbClr val="55665A"/>
                </a:solidFill>
                <a:latin typeface="Noto Sans KR"/>
              </a:rPr>
              <a:t> 수 </a:t>
            </a:r>
            <a:r>
              <a:rPr sz="975" b="0" i="0" u="none" dirty="0" err="1">
                <a:solidFill>
                  <a:srgbClr val="55665A"/>
                </a:solidFill>
                <a:latin typeface="Noto Sans KR"/>
              </a:rPr>
              <a:t>있게</a:t>
            </a:r>
            <a:r>
              <a:rPr sz="975" b="0" i="0" u="none" dirty="0">
                <a:solidFill>
                  <a:srgbClr val="55665A"/>
                </a:solidFill>
                <a:latin typeface="Noto Sans KR"/>
              </a:rPr>
              <a:t> </a:t>
            </a:r>
            <a:r>
              <a:rPr sz="975" b="0" i="0" u="none" dirty="0" err="1">
                <a:solidFill>
                  <a:srgbClr val="55665A"/>
                </a:solidFill>
                <a:latin typeface="Noto Sans KR"/>
              </a:rPr>
              <a:t>클라우드</a:t>
            </a:r>
            <a:r>
              <a:rPr sz="975" b="0" i="0" u="none" dirty="0">
                <a:solidFill>
                  <a:srgbClr val="55665A"/>
                </a:solidFill>
                <a:latin typeface="Noto Sans KR"/>
              </a:rPr>
              <a:t> </a:t>
            </a:r>
            <a:r>
              <a:rPr sz="975" b="0" i="0" u="none" dirty="0" err="1">
                <a:solidFill>
                  <a:srgbClr val="55665A"/>
                </a:solidFill>
                <a:latin typeface="Noto Sans KR"/>
              </a:rPr>
              <a:t>플랫폼인</a:t>
            </a:r>
            <a:r>
              <a:rPr sz="975" b="0" i="0" u="none" dirty="0">
                <a:solidFill>
                  <a:srgbClr val="55665A"/>
                </a:solidFill>
                <a:latin typeface="Noto Sans KR"/>
              </a:rPr>
              <a:t> </a:t>
            </a:r>
            <a:r>
              <a:rPr sz="975" b="0" i="0" u="none" dirty="0" err="1">
                <a:solidFill>
                  <a:srgbClr val="55665A"/>
                </a:solidFill>
                <a:latin typeface="Noto Sans KR"/>
              </a:rPr>
              <a:t>Render와</a:t>
            </a:r>
            <a:r>
              <a:rPr sz="975" b="0" i="0" u="none" dirty="0">
                <a:solidFill>
                  <a:srgbClr val="55665A"/>
                </a:solidFill>
                <a:latin typeface="Noto Sans KR"/>
              </a:rPr>
              <a:t> </a:t>
            </a:r>
            <a:r>
              <a:rPr sz="975" b="0" i="0" u="none" dirty="0" err="1">
                <a:solidFill>
                  <a:srgbClr val="55665A"/>
                </a:solidFill>
                <a:latin typeface="Noto Sans KR"/>
              </a:rPr>
              <a:t>가속용</a:t>
            </a:r>
            <a:r>
              <a:rPr sz="975" b="0" i="0" u="none" dirty="0">
                <a:solidFill>
                  <a:srgbClr val="55665A"/>
                </a:solidFill>
                <a:latin typeface="Noto Sans KR"/>
              </a:rPr>
              <a:t> </a:t>
            </a:r>
            <a:r>
              <a:rPr sz="975" b="0" i="0" u="none" dirty="0" err="1">
                <a:solidFill>
                  <a:srgbClr val="55665A"/>
                </a:solidFill>
                <a:latin typeface="Noto Sans KR"/>
              </a:rPr>
              <a:t>엔진</a:t>
            </a:r>
            <a:r>
              <a:rPr sz="975" b="0" i="0" u="none" dirty="0">
                <a:solidFill>
                  <a:srgbClr val="55665A"/>
                </a:solidFill>
                <a:latin typeface="Noto Sans KR"/>
              </a:rPr>
              <a:t> </a:t>
            </a:r>
            <a:r>
              <a:rPr sz="975" b="0" i="0" u="none" dirty="0" err="1">
                <a:solidFill>
                  <a:srgbClr val="55665A"/>
                </a:solidFill>
                <a:latin typeface="Noto Sans KR"/>
              </a:rPr>
              <a:t>Gunicorn으로</a:t>
            </a:r>
            <a:r>
              <a:rPr sz="975" b="0" i="0" u="none" dirty="0">
                <a:solidFill>
                  <a:srgbClr val="55665A"/>
                </a:solidFill>
                <a:latin typeface="Noto Sans KR"/>
              </a:rPr>
              <a:t> </a:t>
            </a:r>
            <a:r>
              <a:rPr sz="975" b="0" i="0" u="none" dirty="0" err="1">
                <a:solidFill>
                  <a:srgbClr val="55665A"/>
                </a:solidFill>
                <a:latin typeface="Noto Sans KR"/>
              </a:rPr>
              <a:t>구동시켰습니다</a:t>
            </a:r>
            <a:r>
              <a:rPr sz="975" b="0" i="0" u="none" dirty="0">
                <a:solidFill>
                  <a:srgbClr val="55665A"/>
                </a:solidFill>
                <a:latin typeface="Noto Sans KR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67462" y="1741884"/>
            <a:ext cx="5100637" cy="34647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364"/>
              </a:lnSpc>
            </a:pPr>
            <a:r>
              <a:rPr sz="975" b="1" i="0" u="none" dirty="0" err="1">
                <a:solidFill>
                  <a:srgbClr val="55665A"/>
                </a:solidFill>
                <a:latin typeface="Noto Sans KR"/>
              </a:rPr>
              <a:t>모바일</a:t>
            </a:r>
            <a:r>
              <a:rPr sz="975" b="1" i="0" u="none" dirty="0">
                <a:solidFill>
                  <a:srgbClr val="55665A"/>
                </a:solidFill>
                <a:latin typeface="Noto Sans KR"/>
              </a:rPr>
              <a:t>:</a:t>
            </a:r>
            <a:r>
              <a:rPr sz="975" b="0" i="0" u="none" dirty="0">
                <a:solidFill>
                  <a:srgbClr val="55665A"/>
                </a:solidFill>
                <a:latin typeface="Noto Sans KR"/>
              </a:rPr>
              <a:t> </a:t>
            </a:r>
            <a:r>
              <a:rPr sz="975" b="0" i="0" u="none" dirty="0" err="1">
                <a:solidFill>
                  <a:srgbClr val="55665A"/>
                </a:solidFill>
                <a:latin typeface="Noto Sans KR"/>
              </a:rPr>
              <a:t>화면</a:t>
            </a:r>
            <a:r>
              <a:rPr sz="975" b="0" i="0" u="none" dirty="0">
                <a:solidFill>
                  <a:srgbClr val="55665A"/>
                </a:solidFill>
                <a:latin typeface="Noto Sans KR"/>
              </a:rPr>
              <a:t> </a:t>
            </a:r>
            <a:r>
              <a:rPr sz="975" b="0" i="0" u="none" dirty="0" err="1">
                <a:solidFill>
                  <a:srgbClr val="55665A"/>
                </a:solidFill>
                <a:latin typeface="Noto Sans KR"/>
              </a:rPr>
              <a:t>가로</a:t>
            </a:r>
            <a:r>
              <a:rPr sz="975" b="0" i="0" u="none" dirty="0">
                <a:solidFill>
                  <a:srgbClr val="55665A"/>
                </a:solidFill>
                <a:latin typeface="Noto Sans KR"/>
              </a:rPr>
              <a:t> </a:t>
            </a:r>
            <a:r>
              <a:rPr sz="975" b="0" i="0" u="none" dirty="0" err="1">
                <a:solidFill>
                  <a:srgbClr val="55665A"/>
                </a:solidFill>
                <a:latin typeface="Noto Sans KR"/>
              </a:rPr>
              <a:t>폭이</a:t>
            </a:r>
            <a:r>
              <a:rPr sz="975" b="0" i="0" u="none" dirty="0">
                <a:solidFill>
                  <a:srgbClr val="55665A"/>
                </a:solidFill>
                <a:latin typeface="Noto Sans KR"/>
              </a:rPr>
              <a:t> 680px </a:t>
            </a:r>
            <a:r>
              <a:rPr sz="975" b="0" i="0" u="none" dirty="0" err="1">
                <a:solidFill>
                  <a:srgbClr val="55665A"/>
                </a:solidFill>
                <a:latin typeface="Noto Sans KR"/>
              </a:rPr>
              <a:t>이하인</a:t>
            </a:r>
            <a:r>
              <a:rPr sz="975" b="0" i="0" u="none" dirty="0">
                <a:solidFill>
                  <a:srgbClr val="55665A"/>
                </a:solidFill>
                <a:latin typeface="Noto Sans KR"/>
              </a:rPr>
              <a:t> </a:t>
            </a:r>
            <a:r>
              <a:rPr sz="975" b="0" i="0" u="none" dirty="0" err="1">
                <a:solidFill>
                  <a:srgbClr val="55665A"/>
                </a:solidFill>
                <a:latin typeface="Noto Sans KR"/>
              </a:rPr>
              <a:t>작은</a:t>
            </a:r>
            <a:r>
              <a:rPr sz="975" b="0" i="0" u="none" dirty="0">
                <a:solidFill>
                  <a:srgbClr val="55665A"/>
                </a:solidFill>
                <a:latin typeface="Noto Sans KR"/>
              </a:rPr>
              <a:t> </a:t>
            </a:r>
            <a:r>
              <a:rPr sz="975" b="0" i="0" u="none" dirty="0" err="1">
                <a:solidFill>
                  <a:srgbClr val="55665A"/>
                </a:solidFill>
                <a:latin typeface="Noto Sans KR"/>
              </a:rPr>
              <a:t>휴대폰으로</a:t>
            </a:r>
            <a:r>
              <a:rPr sz="975" b="0" i="0" u="none" dirty="0">
                <a:solidFill>
                  <a:srgbClr val="55665A"/>
                </a:solidFill>
                <a:latin typeface="Noto Sans KR"/>
              </a:rPr>
              <a:t> </a:t>
            </a:r>
            <a:r>
              <a:rPr sz="975" b="0" i="0" u="none" dirty="0" err="1">
                <a:solidFill>
                  <a:srgbClr val="55665A"/>
                </a:solidFill>
                <a:latin typeface="Noto Sans KR"/>
              </a:rPr>
              <a:t>보면</a:t>
            </a:r>
            <a:r>
              <a:rPr sz="975" b="0" i="0" u="none" dirty="0">
                <a:solidFill>
                  <a:srgbClr val="55665A"/>
                </a:solidFill>
                <a:latin typeface="Noto Sans KR"/>
              </a:rPr>
              <a:t> </a:t>
            </a:r>
            <a:r>
              <a:rPr sz="975" b="0" i="0" u="none" dirty="0" err="1">
                <a:solidFill>
                  <a:srgbClr val="55665A"/>
                </a:solidFill>
                <a:latin typeface="Noto Sans KR"/>
              </a:rPr>
              <a:t>복잡했던</a:t>
            </a:r>
            <a:r>
              <a:rPr sz="975" b="0" i="0" u="none" dirty="0">
                <a:solidFill>
                  <a:srgbClr val="55665A"/>
                </a:solidFill>
                <a:latin typeface="Noto Sans KR"/>
              </a:rPr>
              <a:t> </a:t>
            </a:r>
            <a:r>
              <a:rPr sz="975" b="0" i="0" u="none" dirty="0" err="1">
                <a:solidFill>
                  <a:srgbClr val="55665A"/>
                </a:solidFill>
                <a:latin typeface="Noto Sans KR"/>
              </a:rPr>
              <a:t>카드</a:t>
            </a:r>
            <a:r>
              <a:rPr sz="975" b="0" i="0" u="none" dirty="0">
                <a:solidFill>
                  <a:srgbClr val="55665A"/>
                </a:solidFill>
                <a:latin typeface="Noto Sans KR"/>
              </a:rPr>
              <a:t> </a:t>
            </a:r>
            <a:r>
              <a:rPr sz="975" b="0" i="0" u="none" dirty="0" err="1">
                <a:solidFill>
                  <a:srgbClr val="55665A"/>
                </a:solidFill>
                <a:latin typeface="Noto Sans KR"/>
              </a:rPr>
              <a:t>모양</a:t>
            </a:r>
            <a:r>
              <a:rPr sz="975" b="0" i="0" u="none" dirty="0">
                <a:solidFill>
                  <a:srgbClr val="55665A"/>
                </a:solidFill>
                <a:latin typeface="Noto Sans KR"/>
              </a:rPr>
              <a:t> </a:t>
            </a:r>
            <a:r>
              <a:rPr sz="975" b="0" i="0" u="none" dirty="0" err="1">
                <a:solidFill>
                  <a:srgbClr val="55665A"/>
                </a:solidFill>
                <a:latin typeface="Noto Sans KR"/>
              </a:rPr>
              <a:t>가로</a:t>
            </a:r>
            <a:r>
              <a:rPr sz="975" b="0" i="0" u="none" dirty="0">
                <a:solidFill>
                  <a:srgbClr val="55665A"/>
                </a:solidFill>
                <a:latin typeface="Noto Sans KR"/>
              </a:rPr>
              <a:t> </a:t>
            </a:r>
            <a:r>
              <a:rPr sz="975" b="0" i="0" u="none" dirty="0" err="1">
                <a:solidFill>
                  <a:srgbClr val="55665A"/>
                </a:solidFill>
                <a:latin typeface="Noto Sans KR"/>
              </a:rPr>
              <a:t>레이아웃이</a:t>
            </a:r>
            <a:r>
              <a:rPr sz="975" b="0" i="0" u="none" dirty="0">
                <a:solidFill>
                  <a:srgbClr val="55665A"/>
                </a:solidFill>
                <a:latin typeface="Noto Sans KR"/>
              </a:rPr>
              <a:t> </a:t>
            </a:r>
            <a:r>
              <a:rPr sz="975" b="0" i="0" u="none" dirty="0" err="1">
                <a:solidFill>
                  <a:srgbClr val="55665A"/>
                </a:solidFill>
                <a:latin typeface="Noto Sans KR"/>
              </a:rPr>
              <a:t>상하</a:t>
            </a:r>
            <a:r>
              <a:rPr sz="975" b="0" i="0" u="none" dirty="0">
                <a:solidFill>
                  <a:srgbClr val="55665A"/>
                </a:solidFill>
                <a:latin typeface="Noto Sans KR"/>
              </a:rPr>
              <a:t> </a:t>
            </a:r>
            <a:r>
              <a:rPr sz="975" b="0" i="0" u="none" dirty="0" err="1">
                <a:solidFill>
                  <a:srgbClr val="55665A"/>
                </a:solidFill>
                <a:latin typeface="Noto Sans KR"/>
              </a:rPr>
              <a:t>세로로</a:t>
            </a:r>
            <a:r>
              <a:rPr sz="975" b="0" i="0" u="none" dirty="0">
                <a:solidFill>
                  <a:srgbClr val="55665A"/>
                </a:solidFill>
                <a:latin typeface="Noto Sans KR"/>
              </a:rPr>
              <a:t> </a:t>
            </a:r>
            <a:r>
              <a:rPr sz="975" b="0" i="0" u="none" dirty="0" err="1">
                <a:solidFill>
                  <a:srgbClr val="55665A"/>
                </a:solidFill>
                <a:latin typeface="Noto Sans KR"/>
              </a:rPr>
              <a:t>자동</a:t>
            </a:r>
            <a:r>
              <a:rPr sz="975" b="0" i="0" u="none" dirty="0">
                <a:solidFill>
                  <a:srgbClr val="55665A"/>
                </a:solidFill>
                <a:latin typeface="Noto Sans KR"/>
              </a:rPr>
              <a:t> 줄 </a:t>
            </a:r>
            <a:r>
              <a:rPr sz="975" b="0" i="0" u="none" dirty="0" err="1">
                <a:solidFill>
                  <a:srgbClr val="55665A"/>
                </a:solidFill>
                <a:latin typeface="Noto Sans KR"/>
              </a:rPr>
              <a:t>바꿈</a:t>
            </a:r>
            <a:r>
              <a:rPr sz="975" b="0" i="0" u="none" dirty="0">
                <a:solidFill>
                  <a:srgbClr val="55665A"/>
                </a:solidFill>
                <a:latin typeface="Noto Sans KR"/>
              </a:rPr>
              <a:t> </a:t>
            </a:r>
            <a:r>
              <a:rPr sz="975" b="0" i="0" u="none" dirty="0" err="1">
                <a:solidFill>
                  <a:srgbClr val="55665A"/>
                </a:solidFill>
                <a:latin typeface="Noto Sans KR"/>
              </a:rPr>
              <a:t>정렬되는</a:t>
            </a:r>
            <a:r>
              <a:rPr sz="975" b="0" i="0" u="none" dirty="0">
                <a:solidFill>
                  <a:srgbClr val="55665A"/>
                </a:solidFill>
                <a:latin typeface="Noto Sans KR"/>
              </a:rPr>
              <a:t> </a:t>
            </a:r>
            <a:r>
              <a:rPr sz="975" b="0" i="0" u="none" dirty="0" err="1">
                <a:solidFill>
                  <a:srgbClr val="55665A"/>
                </a:solidFill>
                <a:latin typeface="Noto Sans KR"/>
              </a:rPr>
              <a:t>미디어쿼리</a:t>
            </a:r>
            <a:r>
              <a:rPr sz="975" b="0" i="0" u="none" dirty="0">
                <a:solidFill>
                  <a:srgbClr val="55665A"/>
                </a:solidFill>
                <a:latin typeface="Noto Sans KR"/>
              </a:rPr>
              <a:t> </a:t>
            </a:r>
            <a:r>
              <a:rPr sz="975" b="0" i="0" u="none" dirty="0" err="1">
                <a:solidFill>
                  <a:srgbClr val="55665A"/>
                </a:solidFill>
                <a:latin typeface="Noto Sans KR"/>
              </a:rPr>
              <a:t>디자인을</a:t>
            </a:r>
            <a:r>
              <a:rPr sz="975" b="0" i="0" u="none" dirty="0">
                <a:solidFill>
                  <a:srgbClr val="55665A"/>
                </a:solidFill>
                <a:latin typeface="Noto Sans KR"/>
              </a:rPr>
              <a:t> 전 </a:t>
            </a:r>
            <a:r>
              <a:rPr sz="975" b="0" i="0" u="none" dirty="0" err="1">
                <a:solidFill>
                  <a:srgbClr val="55665A"/>
                </a:solidFill>
                <a:latin typeface="Noto Sans KR"/>
              </a:rPr>
              <a:t>기종</a:t>
            </a:r>
            <a:r>
              <a:rPr sz="975" b="0" i="0" u="none" dirty="0">
                <a:solidFill>
                  <a:srgbClr val="55665A"/>
                </a:solidFill>
                <a:latin typeface="Noto Sans KR"/>
              </a:rPr>
              <a:t> </a:t>
            </a:r>
            <a:r>
              <a:rPr sz="975" b="0" i="0" u="none" dirty="0" err="1">
                <a:solidFill>
                  <a:srgbClr val="55665A"/>
                </a:solidFill>
                <a:latin typeface="Noto Sans KR"/>
              </a:rPr>
              <a:t>탑재했습니다</a:t>
            </a:r>
            <a:r>
              <a:rPr sz="975" b="0" i="0" u="none" dirty="0">
                <a:solidFill>
                  <a:srgbClr val="55665A"/>
                </a:solidFill>
                <a:latin typeface="Noto Sans KR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6923" y="2536031"/>
            <a:ext cx="5355669" cy="185737"/>
          </a:xfrm>
          <a:prstGeom prst="rect">
            <a:avLst/>
          </a:prstGeom>
          <a:noFill/>
        </p:spPr>
        <p:txBody>
          <a:bodyPr wrap="square" lIns="111174" tIns="0" rIns="0" bIns="0" anchor="t">
            <a:spAutoFit/>
          </a:bodyPr>
          <a:lstStyle/>
          <a:p>
            <a:pPr algn="l">
              <a:lnSpc>
                <a:spcPts val="1462"/>
              </a:lnSpc>
            </a:pPr>
            <a:r>
              <a:rPr sz="1125" b="1" i="0" u="none">
                <a:solidFill>
                  <a:srgbClr val="E65F2C"/>
                </a:solidFill>
                <a:latin typeface="Noto Sans KR"/>
              </a:rPr>
              <a:t>핵심 POINT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67462" y="2769393"/>
            <a:ext cx="5100637" cy="34647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364"/>
              </a:lnSpc>
            </a:pPr>
            <a:r>
              <a:rPr sz="975" b="1" i="0" u="none">
                <a:solidFill>
                  <a:srgbClr val="4A4230"/>
                </a:solidFill>
                <a:latin typeface="Noto Sans KR"/>
              </a:rPr>
              <a:t>최초 실행 시 전국 데이터를 모으는 과정에서 30초 한계를 돌파하여 멈추는 에러를 극복하기 위해 타임아웃 세팅을 120초로 대폭 늘려 안정적 가동을 구현했습니다.</a:t>
            </a:r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67462" y="1143000"/>
            <a:ext cx="111174" cy="142875"/>
          </a:xfrm>
          <a:prstGeom prst="rect">
            <a:avLst/>
          </a:prstGeom>
        </p:spPr>
      </p:pic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67462" y="2564606"/>
            <a:ext cx="111174" cy="142875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E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714375" y="428625"/>
            <a:ext cx="11451431" cy="342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700"/>
              </a:lnSpc>
            </a:pPr>
            <a:r>
              <a:rPr sz="2250" b="0" i="0" u="none" dirty="0">
                <a:solidFill>
                  <a:srgbClr val="0C3C20"/>
                </a:solidFill>
                <a:latin typeface="Noto Sans KR ExtraBold"/>
              </a:rPr>
              <a:t>4. </a:t>
            </a:r>
            <a:r>
              <a:rPr sz="2250" b="0" i="0" u="none" dirty="0" err="1">
                <a:solidFill>
                  <a:srgbClr val="0C3C20"/>
                </a:solidFill>
                <a:latin typeface="Noto Sans KR ExtraBold"/>
              </a:rPr>
              <a:t>구현</a:t>
            </a:r>
            <a:r>
              <a:rPr sz="2250" b="0" i="0" u="none" dirty="0">
                <a:solidFill>
                  <a:srgbClr val="0C3C20"/>
                </a:solidFill>
                <a:latin typeface="Noto Sans KR ExtraBold"/>
              </a:rPr>
              <a:t> </a:t>
            </a:r>
            <a:r>
              <a:rPr sz="2250" b="0" i="0" u="none" dirty="0" err="1">
                <a:solidFill>
                  <a:srgbClr val="0C3C20"/>
                </a:solidFill>
                <a:latin typeface="Noto Sans KR ExtraBold"/>
              </a:rPr>
              <a:t>화면</a:t>
            </a:r>
            <a:r>
              <a:rPr sz="2250" b="0" i="0" u="none" dirty="0">
                <a:solidFill>
                  <a:srgbClr val="0C3C20"/>
                </a:solidFill>
                <a:latin typeface="Noto Sans KR ExtraBold"/>
              </a:rPr>
              <a:t>: </a:t>
            </a:r>
            <a:r>
              <a:rPr sz="2250" b="0" i="0" u="none" dirty="0" err="1">
                <a:solidFill>
                  <a:srgbClr val="0C3C20"/>
                </a:solidFill>
                <a:latin typeface="Noto Sans KR ExtraBold"/>
              </a:rPr>
              <a:t>메인</a:t>
            </a:r>
            <a:r>
              <a:rPr sz="2250" b="0" i="0" u="none" dirty="0">
                <a:solidFill>
                  <a:srgbClr val="0C3C20"/>
                </a:solidFill>
                <a:latin typeface="Noto Sans KR ExtraBold"/>
              </a:rPr>
              <a:t> 홈, </a:t>
            </a:r>
            <a:r>
              <a:rPr sz="2250" b="0" i="0" u="none" dirty="0" err="1">
                <a:solidFill>
                  <a:srgbClr val="0C3C20"/>
                </a:solidFill>
                <a:latin typeface="Noto Sans KR ExtraBold"/>
              </a:rPr>
              <a:t>검색</a:t>
            </a:r>
            <a:r>
              <a:rPr sz="2250" b="0" i="0" u="none" dirty="0">
                <a:solidFill>
                  <a:srgbClr val="0C3C20"/>
                </a:solidFill>
                <a:latin typeface="Noto Sans KR ExtraBold"/>
              </a:rPr>
              <a:t> 및</a:t>
            </a:r>
          </a:p>
        </p:txBody>
      </p:sp>
      <p:sp>
        <p:nvSpPr>
          <p:cNvPr id="6" name="Rectangle 5"/>
          <p:cNvSpPr/>
          <p:nvPr/>
        </p:nvSpPr>
        <p:spPr>
          <a:xfrm>
            <a:off x="571500" y="428625"/>
            <a:ext cx="57150" cy="342900"/>
          </a:xfrm>
          <a:prstGeom prst="rect">
            <a:avLst/>
          </a:prstGeom>
          <a:solidFill>
            <a:srgbClr val="E65F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23900" y="1333500"/>
            <a:ext cx="5591919" cy="9525"/>
          </a:xfrm>
          <a:prstGeom prst="rect">
            <a:avLst/>
          </a:prstGeom>
          <a:solidFill>
            <a:srgbClr val="EE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129" y="2884140"/>
            <a:ext cx="5159707" cy="222795"/>
          </a:xfrm>
          <a:prstGeom prst="rect">
            <a:avLst/>
          </a:prstGeom>
          <a:noFill/>
        </p:spPr>
        <p:txBody>
          <a:bodyPr wrap="square" lIns="133498" tIns="0" rIns="0" bIns="0" anchor="t">
            <a:spAutoFit/>
          </a:bodyPr>
          <a:lstStyle/>
          <a:p>
            <a:pPr algn="l">
              <a:lnSpc>
                <a:spcPts val="1754"/>
              </a:lnSpc>
            </a:pPr>
            <a:r>
              <a:rPr sz="1350" b="1" i="0" u="none" dirty="0" err="1">
                <a:solidFill>
                  <a:srgbClr val="0C3C20"/>
                </a:solidFill>
                <a:latin typeface="Noto Sans KR"/>
              </a:rPr>
              <a:t>유기적</a:t>
            </a:r>
            <a:r>
              <a:rPr sz="1350" b="1" i="0" u="none" dirty="0">
                <a:solidFill>
                  <a:srgbClr val="0C3C20"/>
                </a:solidFill>
                <a:latin typeface="Noto Sans KR"/>
              </a:rPr>
              <a:t> 뷰 </a:t>
            </a:r>
            <a:r>
              <a:rPr sz="1350" b="1" i="0" u="none" dirty="0" err="1">
                <a:solidFill>
                  <a:srgbClr val="0C3C20"/>
                </a:solidFill>
                <a:latin typeface="Noto Sans KR"/>
              </a:rPr>
              <a:t>매핑</a:t>
            </a:r>
            <a:r>
              <a:rPr sz="1350" b="1" i="0" u="none" dirty="0">
                <a:solidFill>
                  <a:srgbClr val="0C3C20"/>
                </a:solidFill>
                <a:latin typeface="Noto Sans KR"/>
              </a:rPr>
              <a:t> </a:t>
            </a:r>
            <a:r>
              <a:rPr sz="1350" b="1" i="0" u="none" dirty="0" err="1">
                <a:solidFill>
                  <a:srgbClr val="0C3C20"/>
                </a:solidFill>
                <a:latin typeface="Noto Sans KR"/>
              </a:rPr>
              <a:t>구성</a:t>
            </a:r>
            <a:endParaRPr sz="1350" b="1" i="0" u="none" dirty="0">
              <a:solidFill>
                <a:srgbClr val="0C3C20"/>
              </a:solidFill>
              <a:latin typeface="Noto Sans KR"/>
            </a:endParaRPr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6344" y="2903190"/>
            <a:ext cx="133498" cy="17145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896844" y="3221235"/>
            <a:ext cx="4723507" cy="2000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050" b="1" i="0" u="none">
                <a:solidFill>
                  <a:srgbClr val="E65F2C"/>
                </a:solidFill>
                <a:latin typeface="Noto Sans KR"/>
              </a:rPr>
              <a:t>● 메인 화면:</a:t>
            </a:r>
            <a:r>
              <a:rPr sz="1050" b="0" i="0" u="none">
                <a:solidFill>
                  <a:srgbClr val="2E3B32"/>
                </a:solidFill>
                <a:latin typeface="Noto Sans KR"/>
              </a:rPr>
              <a:t> 시각적으로 뛰어난 자연 배너 검색창과 원클릭 마트 동선 설정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96844" y="3516510"/>
            <a:ext cx="4723507" cy="400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050" b="1" i="0" u="none" dirty="0">
                <a:solidFill>
                  <a:srgbClr val="E65F2C"/>
                </a:solidFill>
                <a:latin typeface="Noto Sans KR"/>
              </a:rPr>
              <a:t>● </a:t>
            </a:r>
            <a:r>
              <a:rPr sz="1050" b="1" i="0" u="none" dirty="0" err="1">
                <a:solidFill>
                  <a:srgbClr val="E65F2C"/>
                </a:solidFill>
                <a:latin typeface="Noto Sans KR"/>
              </a:rPr>
              <a:t>검색</a:t>
            </a:r>
            <a:r>
              <a:rPr sz="1050" b="1" i="0" u="none" dirty="0">
                <a:solidFill>
                  <a:srgbClr val="E65F2C"/>
                </a:solidFill>
                <a:latin typeface="Noto Sans KR"/>
              </a:rPr>
              <a:t> </a:t>
            </a:r>
            <a:r>
              <a:rPr sz="1050" b="1" i="0" u="none" dirty="0" err="1">
                <a:solidFill>
                  <a:srgbClr val="E65F2C"/>
                </a:solidFill>
                <a:latin typeface="Noto Sans KR"/>
              </a:rPr>
              <a:t>결과</a:t>
            </a:r>
            <a:r>
              <a:rPr sz="1050" b="1" i="0" u="none" dirty="0">
                <a:solidFill>
                  <a:srgbClr val="E65F2C"/>
                </a:solidFill>
                <a:latin typeface="Noto Sans KR"/>
              </a:rPr>
              <a:t> </a:t>
            </a:r>
            <a:r>
              <a:rPr sz="1050" b="1" i="0" u="none" dirty="0" err="1">
                <a:solidFill>
                  <a:srgbClr val="E65F2C"/>
                </a:solidFill>
                <a:latin typeface="Noto Sans KR"/>
              </a:rPr>
              <a:t>목록</a:t>
            </a:r>
            <a:r>
              <a:rPr sz="1050" b="1" i="0" u="none" dirty="0">
                <a:solidFill>
                  <a:srgbClr val="E65F2C"/>
                </a:solidFill>
                <a:latin typeface="Noto Sans KR"/>
              </a:rPr>
              <a:t>:</a:t>
            </a:r>
            <a:r>
              <a:rPr sz="1050" b="0" i="0" u="none" dirty="0">
                <a:solidFill>
                  <a:srgbClr val="2E3B32"/>
                </a:solidFill>
                <a:latin typeface="Noto Sans KR"/>
              </a:rPr>
              <a:t> </a:t>
            </a:r>
            <a:r>
              <a:rPr sz="1050" b="0" i="0" u="none" dirty="0" err="1">
                <a:solidFill>
                  <a:srgbClr val="2E3B32"/>
                </a:solidFill>
                <a:latin typeface="Noto Sans KR"/>
              </a:rPr>
              <a:t>실제</a:t>
            </a:r>
            <a:r>
              <a:rPr sz="1050" b="0" i="0" u="none" dirty="0">
                <a:solidFill>
                  <a:srgbClr val="2E3B32"/>
                </a:solidFill>
                <a:latin typeface="Noto Sans KR"/>
              </a:rPr>
              <a:t> </a:t>
            </a:r>
            <a:r>
              <a:rPr sz="1050" b="0" i="0" u="none" dirty="0" err="1">
                <a:solidFill>
                  <a:srgbClr val="2E3B32"/>
                </a:solidFill>
                <a:latin typeface="Noto Sans KR"/>
              </a:rPr>
              <a:t>캠핑지</a:t>
            </a:r>
            <a:r>
              <a:rPr sz="1050" b="0" i="0" u="none" dirty="0">
                <a:solidFill>
                  <a:srgbClr val="2E3B32"/>
                </a:solidFill>
                <a:latin typeface="Noto Sans KR"/>
              </a:rPr>
              <a:t> </a:t>
            </a:r>
            <a:r>
              <a:rPr sz="1050" b="0" i="0" u="none" dirty="0" err="1">
                <a:solidFill>
                  <a:srgbClr val="2E3B32"/>
                </a:solidFill>
                <a:latin typeface="Noto Sans KR"/>
              </a:rPr>
              <a:t>전경</a:t>
            </a:r>
            <a:r>
              <a:rPr sz="1050" b="0" i="0" u="none" dirty="0">
                <a:solidFill>
                  <a:srgbClr val="2E3B32"/>
                </a:solidFill>
                <a:latin typeface="Noto Sans KR"/>
              </a:rPr>
              <a:t> </a:t>
            </a:r>
            <a:r>
              <a:rPr sz="1050" b="0" i="0" u="none" dirty="0" err="1">
                <a:solidFill>
                  <a:srgbClr val="2E3B32"/>
                </a:solidFill>
                <a:latin typeface="Noto Sans KR"/>
              </a:rPr>
              <a:t>사진</a:t>
            </a:r>
            <a:r>
              <a:rPr sz="1050" b="0" i="0" u="none" dirty="0">
                <a:solidFill>
                  <a:srgbClr val="2E3B32"/>
                </a:solidFill>
                <a:latin typeface="Noto Sans KR"/>
              </a:rPr>
              <a:t>, </a:t>
            </a:r>
            <a:r>
              <a:rPr sz="1050" b="0" i="0" u="none" dirty="0" err="1">
                <a:solidFill>
                  <a:srgbClr val="2E3B32"/>
                </a:solidFill>
                <a:latin typeface="Noto Sans KR"/>
              </a:rPr>
              <a:t>기상청</a:t>
            </a:r>
            <a:r>
              <a:rPr sz="1050" b="0" i="0" u="none" dirty="0">
                <a:solidFill>
                  <a:srgbClr val="2E3B32"/>
                </a:solidFill>
                <a:latin typeface="Noto Sans KR"/>
              </a:rPr>
              <a:t> </a:t>
            </a:r>
            <a:r>
              <a:rPr sz="1050" b="0" i="0" u="none" dirty="0" err="1">
                <a:solidFill>
                  <a:srgbClr val="2E3B32"/>
                </a:solidFill>
                <a:latin typeface="Noto Sans KR"/>
              </a:rPr>
              <a:t>주말</a:t>
            </a:r>
            <a:r>
              <a:rPr sz="1050" b="0" i="0" u="none" dirty="0">
                <a:solidFill>
                  <a:srgbClr val="2E3B32"/>
                </a:solidFill>
                <a:latin typeface="Noto Sans KR"/>
              </a:rPr>
              <a:t> </a:t>
            </a:r>
            <a:r>
              <a:rPr sz="1050" b="0" i="0" u="none" dirty="0" err="1">
                <a:solidFill>
                  <a:srgbClr val="2E3B32"/>
                </a:solidFill>
                <a:latin typeface="Noto Sans KR"/>
              </a:rPr>
              <a:t>요약</a:t>
            </a:r>
            <a:r>
              <a:rPr sz="1050" b="0" i="0" u="none" dirty="0">
                <a:solidFill>
                  <a:srgbClr val="2E3B32"/>
                </a:solidFill>
                <a:latin typeface="Noto Sans KR"/>
              </a:rPr>
              <a:t> </a:t>
            </a:r>
            <a:r>
              <a:rPr sz="1050" b="0" i="0" u="none" dirty="0" err="1">
                <a:solidFill>
                  <a:srgbClr val="2E3B32"/>
                </a:solidFill>
                <a:latin typeface="Noto Sans KR"/>
              </a:rPr>
              <a:t>기상</a:t>
            </a:r>
            <a:r>
              <a:rPr sz="1050" b="0" i="0" u="none" dirty="0">
                <a:solidFill>
                  <a:srgbClr val="2E3B32"/>
                </a:solidFill>
                <a:latin typeface="Noto Sans KR"/>
              </a:rPr>
              <a:t> </a:t>
            </a:r>
            <a:r>
              <a:rPr sz="1050" b="0" i="0" u="none" dirty="0" err="1">
                <a:solidFill>
                  <a:srgbClr val="2E3B32"/>
                </a:solidFill>
                <a:latin typeface="Noto Sans KR"/>
              </a:rPr>
              <a:t>정보</a:t>
            </a:r>
            <a:r>
              <a:rPr sz="1050" b="0" i="0" u="none" dirty="0">
                <a:solidFill>
                  <a:srgbClr val="2E3B32"/>
                </a:solidFill>
                <a:latin typeface="Noto Sans KR"/>
              </a:rPr>
              <a:t>, </a:t>
            </a:r>
            <a:r>
              <a:rPr sz="1050" b="0" i="0" u="none" dirty="0" err="1">
                <a:solidFill>
                  <a:srgbClr val="2E3B32"/>
                </a:solidFill>
                <a:latin typeface="Noto Sans KR"/>
              </a:rPr>
              <a:t>편의</a:t>
            </a:r>
            <a:r>
              <a:rPr sz="1050" b="0" i="0" u="none" dirty="0">
                <a:solidFill>
                  <a:srgbClr val="2E3B32"/>
                </a:solidFill>
                <a:latin typeface="Noto Sans KR"/>
              </a:rPr>
              <a:t> </a:t>
            </a:r>
            <a:r>
              <a:rPr sz="1050" b="0" i="0" u="none" dirty="0" err="1">
                <a:solidFill>
                  <a:srgbClr val="2E3B32"/>
                </a:solidFill>
                <a:latin typeface="Noto Sans KR"/>
              </a:rPr>
              <a:t>아이콘</a:t>
            </a:r>
            <a:r>
              <a:rPr sz="1050" b="0" i="0" u="none" dirty="0">
                <a:solidFill>
                  <a:srgbClr val="2E3B32"/>
                </a:solidFill>
                <a:latin typeface="Noto Sans KR"/>
              </a:rPr>
              <a:t> </a:t>
            </a:r>
            <a:r>
              <a:rPr sz="1050" b="0" i="0" u="none" dirty="0" err="1">
                <a:solidFill>
                  <a:srgbClr val="2E3B32"/>
                </a:solidFill>
                <a:latin typeface="Noto Sans KR"/>
              </a:rPr>
              <a:t>일괄</a:t>
            </a:r>
            <a:r>
              <a:rPr sz="1050" b="0" i="0" u="none" dirty="0">
                <a:solidFill>
                  <a:srgbClr val="2E3B32"/>
                </a:solidFill>
                <a:latin typeface="Noto Sans KR"/>
              </a:rPr>
              <a:t> </a:t>
            </a:r>
            <a:r>
              <a:rPr sz="1050" b="0" i="0" u="none" dirty="0" err="1">
                <a:solidFill>
                  <a:srgbClr val="2E3B32"/>
                </a:solidFill>
                <a:latin typeface="Noto Sans KR"/>
              </a:rPr>
              <a:t>노출</a:t>
            </a:r>
            <a:endParaRPr sz="1050" b="0" i="0" u="none" dirty="0">
              <a:solidFill>
                <a:srgbClr val="2E3B32"/>
              </a:solidFill>
              <a:latin typeface="Noto Sans KR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896844" y="4011810"/>
            <a:ext cx="4723507" cy="400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050" b="1" i="0" u="none">
                <a:solidFill>
                  <a:srgbClr val="E65F2C"/>
                </a:solidFill>
                <a:latin typeface="Noto Sans KR"/>
              </a:rPr>
              <a:t>● CSV(엑셀) 다운로드:</a:t>
            </a:r>
            <a:r>
              <a:rPr sz="1050" b="0" i="0" u="none">
                <a:solidFill>
                  <a:srgbClr val="2E3B32"/>
                </a:solidFill>
                <a:latin typeface="Noto Sans KR"/>
              </a:rPr>
              <a:t> 현 캠핑 데이터 목록을 로컬 하드디스크에 액셀 파일 형태로 저장 가능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53969" y="3211710"/>
            <a:ext cx="5715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1" i="0" u="none">
                <a:solidFill>
                  <a:srgbClr val="E65F2C"/>
                </a:solidFill>
                <a:latin typeface="Noto Sans KR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53969" y="3506985"/>
            <a:ext cx="5715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1" i="0" u="none">
                <a:solidFill>
                  <a:srgbClr val="E65F2C"/>
                </a:solidFill>
                <a:latin typeface="Noto Sans KR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53969" y="4002285"/>
            <a:ext cx="5715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1" i="0" u="none">
                <a:solidFill>
                  <a:srgbClr val="E65F2C"/>
                </a:solidFill>
                <a:latin typeface="Noto Sans KR"/>
              </a:rPr>
              <a:t>•</a:t>
            </a:r>
          </a:p>
        </p:txBody>
      </p:sp>
      <p:pic>
        <p:nvPicPr>
          <p:cNvPr id="29" name="그림 28" descr="The image is a web page with a search result for campgrounds in Gunwi County, South Korea, including details like location, contact number, amenities, and weather forecast for a weekend.&#10;&#10;AI 생성 콘텐츠는 정확하지 않을 수 있습니다.">
            <a:extLst>
              <a:ext uri="{FF2B5EF4-FFF2-40B4-BE49-F238E27FC236}">
                <a16:creationId xmlns:a16="http://schemas.microsoft.com/office/drawing/2014/main" id="{24A3EB2C-DB8B-62E6-654F-B3E93F14B8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075" y="1431984"/>
            <a:ext cx="5715744" cy="447621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E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4261312"/>
            <a:ext cx="11049000" cy="863798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2158222"/>
            <a:ext cx="5896719" cy="196021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06344" y="2158222"/>
            <a:ext cx="4914007" cy="196021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14375" y="428625"/>
            <a:ext cx="11451431" cy="342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700"/>
              </a:lnSpc>
            </a:pPr>
            <a:r>
              <a:rPr sz="2250" b="0" i="0" u="none">
                <a:solidFill>
                  <a:srgbClr val="0C3C20"/>
                </a:solidFill>
                <a:latin typeface="Noto Sans KR ExtraBold"/>
              </a:rPr>
              <a:t>5. 핵심 트러블슈팅: 날씨 API '한도 초과' 에러 분석 및 해결</a:t>
            </a:r>
          </a:p>
        </p:txBody>
      </p:sp>
      <p:sp>
        <p:nvSpPr>
          <p:cNvPr id="6" name="Rectangle 5"/>
          <p:cNvSpPr/>
          <p:nvPr/>
        </p:nvSpPr>
        <p:spPr>
          <a:xfrm>
            <a:off x="571500" y="428625"/>
            <a:ext cx="57150" cy="342900"/>
          </a:xfrm>
          <a:prstGeom prst="rect">
            <a:avLst/>
          </a:prstGeom>
          <a:solidFill>
            <a:srgbClr val="E65F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63215" y="4404187"/>
            <a:ext cx="10466784" cy="1714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75" b="0" i="0" u="none">
                <a:solidFill>
                  <a:srgbClr val="E65F2C"/>
                </a:solidFill>
                <a:latin typeface="Noto Sans KR ExtraBold"/>
              </a:rPr>
              <a:t>핵심 POINT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9625" y="4623262"/>
            <a:ext cx="10620375" cy="1645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413"/>
              </a:lnSpc>
            </a:pPr>
            <a:r>
              <a:rPr sz="975" b="1" i="0" u="none" dirty="0">
                <a:solidFill>
                  <a:srgbClr val="4A4230"/>
                </a:solidFill>
                <a:latin typeface="Noto Sans KR"/>
              </a:rPr>
              <a:t>'덜 </a:t>
            </a:r>
            <a:r>
              <a:rPr sz="975" b="1" i="0" u="none" dirty="0" err="1">
                <a:solidFill>
                  <a:srgbClr val="4A4230"/>
                </a:solidFill>
                <a:latin typeface="Noto Sans KR"/>
              </a:rPr>
              <a:t>자주</a:t>
            </a:r>
            <a:r>
              <a:rPr sz="975" b="1" i="0" u="none" dirty="0">
                <a:solidFill>
                  <a:srgbClr val="4A4230"/>
                </a:solidFill>
                <a:latin typeface="Noto Sans KR"/>
              </a:rPr>
              <a:t> </a:t>
            </a:r>
            <a:r>
              <a:rPr sz="975" b="1" i="0" u="none" dirty="0" err="1">
                <a:solidFill>
                  <a:srgbClr val="4A4230"/>
                </a:solidFill>
                <a:latin typeface="Noto Sans KR"/>
              </a:rPr>
              <a:t>호출하고</a:t>
            </a:r>
            <a:r>
              <a:rPr sz="975" b="1" i="0" u="none" dirty="0">
                <a:solidFill>
                  <a:srgbClr val="4A4230"/>
                </a:solidFill>
                <a:latin typeface="Noto Sans KR"/>
              </a:rPr>
              <a:t>, </a:t>
            </a:r>
            <a:r>
              <a:rPr sz="975" b="1" i="0" u="none" dirty="0" err="1">
                <a:solidFill>
                  <a:srgbClr val="4A4230"/>
                </a:solidFill>
                <a:latin typeface="Noto Sans KR"/>
              </a:rPr>
              <a:t>대표</a:t>
            </a:r>
            <a:r>
              <a:rPr sz="975" b="1" i="0" u="none" dirty="0">
                <a:solidFill>
                  <a:srgbClr val="4A4230"/>
                </a:solidFill>
                <a:latin typeface="Noto Sans KR"/>
              </a:rPr>
              <a:t> </a:t>
            </a:r>
            <a:r>
              <a:rPr sz="975" b="1" i="0" u="none" dirty="0" err="1">
                <a:solidFill>
                  <a:srgbClr val="4A4230"/>
                </a:solidFill>
                <a:latin typeface="Noto Sans KR"/>
              </a:rPr>
              <a:t>좌표로</a:t>
            </a:r>
            <a:r>
              <a:rPr sz="975" b="1" i="0" u="none" dirty="0">
                <a:solidFill>
                  <a:srgbClr val="4A4230"/>
                </a:solidFill>
                <a:latin typeface="Noto Sans KR"/>
              </a:rPr>
              <a:t> </a:t>
            </a:r>
            <a:r>
              <a:rPr sz="975" b="1" i="0" u="none" dirty="0" err="1">
                <a:solidFill>
                  <a:srgbClr val="4A4230"/>
                </a:solidFill>
                <a:latin typeface="Noto Sans KR"/>
              </a:rPr>
              <a:t>간소화하며</a:t>
            </a:r>
            <a:r>
              <a:rPr sz="975" b="1" i="0" u="none" dirty="0">
                <a:solidFill>
                  <a:srgbClr val="4A4230"/>
                </a:solidFill>
                <a:latin typeface="Noto Sans KR"/>
              </a:rPr>
              <a:t>, </a:t>
            </a:r>
            <a:r>
              <a:rPr sz="975" b="1" i="0" u="none" dirty="0" err="1">
                <a:solidFill>
                  <a:srgbClr val="4A4230"/>
                </a:solidFill>
                <a:latin typeface="Noto Sans KR"/>
              </a:rPr>
              <a:t>이미</a:t>
            </a:r>
            <a:r>
              <a:rPr sz="975" b="1" i="0" u="none" dirty="0">
                <a:solidFill>
                  <a:srgbClr val="4A4230"/>
                </a:solidFill>
                <a:latin typeface="Noto Sans KR"/>
              </a:rPr>
              <a:t> </a:t>
            </a:r>
            <a:r>
              <a:rPr sz="975" b="1" i="0" u="none" dirty="0" err="1">
                <a:solidFill>
                  <a:srgbClr val="4A4230"/>
                </a:solidFill>
                <a:latin typeface="Noto Sans KR"/>
              </a:rPr>
              <a:t>가져온</a:t>
            </a:r>
            <a:r>
              <a:rPr sz="975" b="1" i="0" u="none" dirty="0">
                <a:solidFill>
                  <a:srgbClr val="4A4230"/>
                </a:solidFill>
                <a:latin typeface="Noto Sans KR"/>
              </a:rPr>
              <a:t> </a:t>
            </a:r>
            <a:r>
              <a:rPr sz="975" b="1" i="0" u="none" dirty="0" err="1">
                <a:solidFill>
                  <a:srgbClr val="4A4230"/>
                </a:solidFill>
                <a:latin typeface="Noto Sans KR"/>
              </a:rPr>
              <a:t>정보는</a:t>
            </a:r>
            <a:r>
              <a:rPr sz="975" b="1" i="0" u="none" dirty="0">
                <a:solidFill>
                  <a:srgbClr val="4A4230"/>
                </a:solidFill>
                <a:latin typeface="Noto Sans KR"/>
              </a:rPr>
              <a:t> 3시간 </a:t>
            </a:r>
            <a:r>
              <a:rPr sz="975" b="1" i="0" u="none" dirty="0" err="1">
                <a:solidFill>
                  <a:srgbClr val="4A4230"/>
                </a:solidFill>
                <a:latin typeface="Noto Sans KR"/>
              </a:rPr>
              <a:t>동안</a:t>
            </a:r>
            <a:r>
              <a:rPr sz="975" b="1" i="0" u="none" dirty="0">
                <a:solidFill>
                  <a:srgbClr val="4A4230"/>
                </a:solidFill>
                <a:latin typeface="Noto Sans KR"/>
              </a:rPr>
              <a:t> </a:t>
            </a:r>
            <a:r>
              <a:rPr sz="975" b="1" i="0" u="none" dirty="0" err="1">
                <a:solidFill>
                  <a:srgbClr val="4A4230"/>
                </a:solidFill>
                <a:latin typeface="Noto Sans KR"/>
              </a:rPr>
              <a:t>돌려쓴다</a:t>
            </a:r>
            <a:r>
              <a:rPr sz="975" b="1" i="0" u="none" dirty="0">
                <a:solidFill>
                  <a:srgbClr val="4A4230"/>
                </a:solidFill>
                <a:latin typeface="Noto Sans KR"/>
              </a:rPr>
              <a:t>!＇</a:t>
            </a:r>
            <a:r>
              <a:rPr lang="ko-KR" altLang="en-US" sz="975" dirty="0">
                <a:solidFill>
                  <a:srgbClr val="4A4230"/>
                </a:solidFill>
                <a:latin typeface="Noto Sans KR"/>
              </a:rPr>
              <a:t>라는 것으로서 중복 호출을 차단하여 정해진 한도 내에서 효율적으로 썼음</a:t>
            </a:r>
            <a:r>
              <a:rPr sz="975" b="0" i="0" u="none" dirty="0">
                <a:solidFill>
                  <a:srgbClr val="4A4230"/>
                </a:solidFill>
                <a:latin typeface="Noto Sans KR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6528" y="2358247"/>
            <a:ext cx="5731497" cy="198090"/>
          </a:xfrm>
          <a:prstGeom prst="rect">
            <a:avLst/>
          </a:prstGeom>
          <a:noFill/>
        </p:spPr>
        <p:txBody>
          <a:bodyPr wrap="square" lIns="118616" tIns="0" rIns="0" bIns="0" anchor="t">
            <a:spAutoFit/>
          </a:bodyPr>
          <a:lstStyle/>
          <a:p>
            <a:pPr algn="l">
              <a:lnSpc>
                <a:spcPts val="1560"/>
              </a:lnSpc>
            </a:pPr>
            <a:r>
              <a:rPr sz="1200" b="1" i="0" u="none">
                <a:solidFill>
                  <a:srgbClr val="C62828"/>
                </a:solidFill>
                <a:latin typeface="Noto Sans KR"/>
              </a:rPr>
              <a:t>왜 생겼는가 (원인 파악)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625" y="2632537"/>
            <a:ext cx="5458569" cy="1928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18"/>
              </a:lnSpc>
            </a:pPr>
            <a:r>
              <a:rPr sz="1012" b="0" i="0" u="none">
                <a:solidFill>
                  <a:srgbClr val="5D2525"/>
                </a:solidFill>
                <a:latin typeface="Noto Sans KR"/>
              </a:rPr>
              <a:t>무료 기상 오픈 소스(Open-Meteo)는 하루 요청 횟수 한도가 철저히 제한되어 있습니다.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625" y="2901618"/>
            <a:ext cx="5458569" cy="59769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18"/>
              </a:lnSpc>
            </a:pPr>
            <a:r>
              <a:rPr sz="1012" b="0" i="0" u="none">
                <a:solidFill>
                  <a:srgbClr val="5D2525"/>
                </a:solidFill>
                <a:latin typeface="Noto Sans KR"/>
              </a:rPr>
              <a:t>최초 개발 시에는 검색할 때마다 수십여 곳 캠핑장의 주소를 하나하나 기상청 서버로 매번 새로 동기 호출해 요청량이 폭주했고 결국 일시 차단되는 현상 발생 "Daily request limit exceeded"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81373" y="2358247"/>
            <a:ext cx="4699649" cy="198090"/>
          </a:xfrm>
          <a:prstGeom prst="rect">
            <a:avLst/>
          </a:prstGeom>
          <a:noFill/>
        </p:spPr>
        <p:txBody>
          <a:bodyPr wrap="square" lIns="118616" tIns="0" rIns="0" bIns="0" anchor="t">
            <a:spAutoFit/>
          </a:bodyPr>
          <a:lstStyle/>
          <a:p>
            <a:pPr algn="l">
              <a:lnSpc>
                <a:spcPts val="1560"/>
              </a:lnSpc>
            </a:pPr>
            <a:r>
              <a:rPr sz="1200" b="1" i="0" u="none">
                <a:solidFill>
                  <a:srgbClr val="2E7D32"/>
                </a:solidFill>
                <a:latin typeface="Noto Sans KR"/>
              </a:rPr>
              <a:t>어떻게 극복했는가 (해결 완료)</a:t>
            </a:r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9625" y="4427999"/>
            <a:ext cx="96440" cy="123825"/>
          </a:xfrm>
          <a:prstGeom prst="rect">
            <a:avLst/>
          </a:prstGeom>
        </p:spPr>
      </p:pic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9625" y="2377297"/>
            <a:ext cx="118616" cy="152400"/>
          </a:xfrm>
          <a:prstGeom prst="rect">
            <a:avLst/>
          </a:prstGeom>
        </p:spPr>
      </p:pic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44469" y="2377297"/>
            <a:ext cx="118616" cy="1524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134969" y="2632537"/>
            <a:ext cx="4285357" cy="3714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462"/>
              </a:lnSpc>
            </a:pPr>
            <a:r>
              <a:rPr sz="975" b="1" i="0" u="none">
                <a:solidFill>
                  <a:srgbClr val="0C3C20"/>
                </a:solidFill>
                <a:latin typeface="Noto Sans KR"/>
              </a:rPr>
              <a:t>① 인접 좌표 군집화:</a:t>
            </a:r>
            <a:r>
              <a:rPr sz="975" b="0" i="0" u="none">
                <a:solidFill>
                  <a:srgbClr val="2E3B32"/>
                </a:solidFill>
                <a:latin typeface="Noto Sans KR"/>
              </a:rPr>
              <a:t> 소수점 자리 반올림으로 아주 가까운 위치 야영지들은 하나의 묶음 대표 좌표로 전송하여 통신 횟수 대폭 감소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4969" y="3061162"/>
            <a:ext cx="4285357" cy="3714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462"/>
              </a:lnSpc>
            </a:pPr>
            <a:r>
              <a:rPr sz="975" b="1" i="0" u="none">
                <a:solidFill>
                  <a:srgbClr val="0C3C20"/>
                </a:solidFill>
                <a:latin typeface="Noto Sans KR"/>
              </a:rPr>
              <a:t>② 3시간 임시 저장 캐시:</a:t>
            </a:r>
            <a:r>
              <a:rPr sz="975" b="0" i="0" u="none">
                <a:solidFill>
                  <a:srgbClr val="2E3B32"/>
                </a:solidFill>
                <a:latin typeface="Noto Sans KR"/>
              </a:rPr>
              <a:t> 한 번 받아온 지역 주말 기상 값은 메모리에 3시간 동안 저장해두고 중복 호출을 차단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4969" y="3489787"/>
            <a:ext cx="4285357" cy="3714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462"/>
              </a:lnSpc>
            </a:pPr>
            <a:r>
              <a:rPr sz="975" b="1" i="0" u="none">
                <a:solidFill>
                  <a:srgbClr val="0C3C20"/>
                </a:solidFill>
                <a:latin typeface="Noto Sans KR"/>
              </a:rPr>
              <a:t>③ 날씨 데이터 경량화:</a:t>
            </a:r>
            <a:r>
              <a:rPr sz="975" b="0" i="0" u="none">
                <a:solidFill>
                  <a:srgbClr val="2E3B32"/>
                </a:solidFill>
                <a:latin typeface="Noto Sans KR"/>
              </a:rPr>
              <a:t> 불필요한 10일치 날씨 대신 주말 캠핑용 금/토/일 핵심 3일 전용 데이터 필드만 요청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92094" y="2623012"/>
            <a:ext cx="5715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1" i="0" u="none">
                <a:solidFill>
                  <a:srgbClr val="E65F2C"/>
                </a:solidFill>
                <a:latin typeface="Noto Sans KR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92094" y="3051637"/>
            <a:ext cx="5715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1" i="0" u="none">
                <a:solidFill>
                  <a:srgbClr val="E65F2C"/>
                </a:solidFill>
                <a:latin typeface="Noto Sans KR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92094" y="3480262"/>
            <a:ext cx="5715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1" i="0" u="none">
                <a:solidFill>
                  <a:srgbClr val="E65F2C"/>
                </a:solidFill>
                <a:latin typeface="Noto Sans KR"/>
              </a:rPr>
              <a:t>•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E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9750" y="3108424"/>
            <a:ext cx="4191000" cy="1347787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1250" y="3108424"/>
            <a:ext cx="4191000" cy="134778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75607" y="1143000"/>
            <a:ext cx="3840480" cy="10515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6240"/>
              </a:lnSpc>
            </a:pPr>
            <a:r>
              <a:rPr sz="4800" b="1" i="0" u="none">
                <a:solidFill>
                  <a:srgbClr val="0C3C20"/>
                </a:solidFill>
                <a:latin typeface="Noto Sans KR"/>
              </a:rPr>
              <a:t>Q &amp;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96555" y="2487168"/>
            <a:ext cx="5398740" cy="2571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025"/>
              </a:lnSpc>
            </a:pPr>
            <a:r>
              <a:rPr sz="1350" b="0" i="0" u="none">
                <a:solidFill>
                  <a:srgbClr val="55665A"/>
                </a:solidFill>
                <a:latin typeface="Noto Sans KR"/>
              </a:rPr>
              <a:t>전국 캠핑장 종합 정보 안내 서비스, "캠핑나침반" 발표를 마치겠습니다.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91612" y="3260824"/>
            <a:ext cx="4080510" cy="180975"/>
          </a:xfrm>
          <a:prstGeom prst="rect">
            <a:avLst/>
          </a:prstGeom>
          <a:noFill/>
        </p:spPr>
        <p:txBody>
          <a:bodyPr wrap="square" lIns="111174" tIns="0" rIns="0" bIns="0" anchor="t">
            <a:spAutoFit/>
          </a:bodyPr>
          <a:lstStyle/>
          <a:p>
            <a:pPr algn="l"/>
            <a:r>
              <a:rPr sz="1125" b="1" i="0" u="none">
                <a:solidFill>
                  <a:srgbClr val="0C3C20"/>
                </a:solidFill>
                <a:latin typeface="Noto Sans KR"/>
              </a:rPr>
              <a:t>깊이 배운 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62150" y="3517999"/>
            <a:ext cx="3886200" cy="3333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312"/>
              </a:lnSpc>
            </a:pPr>
            <a:r>
              <a:rPr sz="937" b="0" i="0" u="none">
                <a:solidFill>
                  <a:srgbClr val="55665A"/>
                </a:solidFill>
                <a:latin typeface="Noto Sans KR"/>
              </a:rPr>
              <a:t>캠핑 데이터, 네이버 지상 경로, 카카오 주변 마트 검색 등 이종 API를 하나로 아우르는 고도화된 매시업 아키텍처 실무 역량을 확보했습니다.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3111" y="3260824"/>
            <a:ext cx="4080510" cy="180975"/>
          </a:xfrm>
          <a:prstGeom prst="rect">
            <a:avLst/>
          </a:prstGeom>
          <a:noFill/>
        </p:spPr>
        <p:txBody>
          <a:bodyPr wrap="square" lIns="111174" tIns="0" rIns="0" bIns="0" anchor="t">
            <a:spAutoFit/>
          </a:bodyPr>
          <a:lstStyle/>
          <a:p>
            <a:pPr algn="l"/>
            <a:r>
              <a:rPr sz="1125" b="1" i="0" u="none">
                <a:solidFill>
                  <a:srgbClr val="0C3C20"/>
                </a:solidFill>
                <a:latin typeface="Noto Sans KR"/>
              </a:rPr>
              <a:t>향후 계획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43650" y="3517999"/>
            <a:ext cx="3886200" cy="5000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312"/>
              </a:lnSpc>
            </a:pPr>
            <a:r>
              <a:rPr sz="937" b="0" i="0" u="none">
                <a:solidFill>
                  <a:srgbClr val="55665A"/>
                </a:solidFill>
                <a:latin typeface="Noto Sans KR"/>
              </a:rPr>
              <a:t>실시간 잔여 데크 빈자리 확인과 통합 결제 연동 모듈을 구비하고, 누적 유저 평점을 기상에 따라 매칭해 제안해주는 AI 비서를 탑재할 예정입니다.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2150" y="3279874"/>
            <a:ext cx="111174" cy="142875"/>
          </a:xfrm>
          <a:prstGeom prst="rect">
            <a:avLst/>
          </a:prstGeom>
        </p:spPr>
      </p:pic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43650" y="3279874"/>
            <a:ext cx="111174" cy="142875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3535527" y="4709160"/>
            <a:ext cx="5120640" cy="475488"/>
          </a:xfrm>
          <a:prstGeom prst="roundRect">
            <a:avLst>
              <a:gd name="adj" fmla="val 50000"/>
            </a:avLst>
          </a:prstGeom>
          <a:solidFill>
            <a:srgbClr val="F0EFEA"/>
          </a:solidFill>
          <a:ln w="9525">
            <a:solidFill>
              <a:srgbClr val="DD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/>
            <a:r>
              <a:rPr sz="1200" b="1">
                <a:solidFill>
                  <a:srgbClr val="1E3932"/>
                </a:solidFill>
                <a:latin typeface="Malgun Gothic"/>
              </a:rPr>
              <a:t>서비스 주소   </a:t>
            </a:r>
            <a:r>
              <a:rPr sz="1200">
                <a:solidFill>
                  <a:srgbClr val="3C5A50"/>
                </a:solidFill>
                <a:latin typeface="Malgun Gothic"/>
              </a:rPr>
              <a:t>camping-scrapper.onrender.com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49</TotalTime>
  <Words>1768</Words>
  <Application>Microsoft Office PowerPoint</Application>
  <PresentationFormat>와이드스크린</PresentationFormat>
  <Paragraphs>174</Paragraphs>
  <Slides>15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15</vt:i4>
      </vt:variant>
    </vt:vector>
  </HeadingPairs>
  <TitlesOfParts>
    <vt:vector size="22" baseType="lpstr">
      <vt:lpstr>Noto Sans KR</vt:lpstr>
      <vt:lpstr>Noto Sans KR Black</vt:lpstr>
      <vt:lpstr>Noto Sans KR ExtraBold</vt:lpstr>
      <vt:lpstr>Malgun Gothic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JUNGWOO LEE</dc:creator>
  <cp:keywords/>
  <dc:description>generated using python-pptx</dc:description>
  <cp:lastModifiedBy>JUNGWOO LEE</cp:lastModifiedBy>
  <cp:revision>19</cp:revision>
  <dcterms:created xsi:type="dcterms:W3CDTF">2013-01-27T09:14:16Z</dcterms:created>
  <dcterms:modified xsi:type="dcterms:W3CDTF">2026-07-19T12:21:55Z</dcterms:modified>
  <cp:category/>
</cp:coreProperties>
</file>