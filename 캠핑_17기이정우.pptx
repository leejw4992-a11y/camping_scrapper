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00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962275"/>
            <a:ext cx="12192000" cy="76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20840" y="2335559"/>
            <a:ext cx="2550318" cy="643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70"/>
              </a:lnSpc>
            </a:pPr>
            <a:r>
              <a:rPr sz="3900" b="0" i="0" u="none">
                <a:solidFill>
                  <a:srgbClr val="FFFFFF"/>
                </a:solidFill>
                <a:latin typeface="Noto Sans KR Black"/>
              </a:rPr>
              <a:t>캠핑나침반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96865" y="3122265"/>
            <a:ext cx="5198119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A3D9B7"/>
                </a:solidFill>
                <a:latin typeface="Noto Sans KR"/>
              </a:rPr>
              <a:t>전국 캠핑장을 지역 · 시설 · 날씨까지 한 번에 찾는 검색 웹사이트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35400" y="3584227"/>
            <a:ext cx="2921198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FFFFFF"/>
                </a:solidFill>
                <a:latin typeface="Noto Sans KR"/>
              </a:rPr>
              <a:t>어디로 캠핑 갈까요? 지역 · 업종 · 시설로 검색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3716" y="3941415"/>
            <a:ext cx="2208460" cy="200025"/>
          </a:xfrm>
          <a:prstGeom prst="rect">
            <a:avLst/>
          </a:prstGeom>
          <a:noFill/>
        </p:spPr>
        <p:txBody>
          <a:bodyPr wrap="square" lIns="103733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1" i="0" u="none">
                <a:solidFill>
                  <a:srgbClr val="FFB703"/>
                </a:solidFill>
                <a:latin typeface="Noto Sans KR"/>
              </a:rPr>
              <a:t>camping-scrapper.onrender.com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466" y="1859309"/>
            <a:ext cx="1926580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296" y="1859309"/>
            <a:ext cx="1733996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542" y="1859309"/>
            <a:ext cx="1067990" cy="285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695" y="3979515"/>
            <a:ext cx="103733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571500" y="2102313"/>
            <a:ext cx="5405437" cy="2756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B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15062" y="2102313"/>
            <a:ext cx="5405437" cy="2756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B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4375" y="428625"/>
            <a:ext cx="1145143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0C3C20"/>
                </a:solidFill>
                <a:latin typeface="Noto Sans KR ExtraBold"/>
              </a:rPr>
              <a:t>1. 프로젝트 소개: 왜 만들었고 무엇을 해결하려 했는가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5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2361" y="2321389"/>
            <a:ext cx="5215651" cy="241845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1" i="0" u="none" dirty="0" err="1">
                <a:solidFill>
                  <a:srgbClr val="0C3C20"/>
                </a:solidFill>
                <a:latin typeface="Noto Sans KR"/>
              </a:rPr>
              <a:t>선택한</a:t>
            </a:r>
            <a:r>
              <a:rPr sz="1350" b="1" i="0" u="none" dirty="0">
                <a:solidFill>
                  <a:srgbClr val="0C3C20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0C3C20"/>
                </a:solidFill>
                <a:latin typeface="Noto Sans KR"/>
              </a:rPr>
              <a:t>이유</a:t>
            </a:r>
            <a:r>
              <a:rPr sz="1350" b="1" i="0" u="none" dirty="0">
                <a:solidFill>
                  <a:srgbClr val="0C3C20"/>
                </a:solidFill>
                <a:latin typeface="Noto Sans KR"/>
              </a:rPr>
              <a:t> (왜 </a:t>
            </a:r>
            <a:r>
              <a:rPr sz="1350" b="1" i="0" u="none" dirty="0" err="1">
                <a:solidFill>
                  <a:srgbClr val="0C3C20"/>
                </a:solidFill>
                <a:latin typeface="Noto Sans KR"/>
              </a:rPr>
              <a:t>만들었는가</a:t>
            </a:r>
            <a:r>
              <a:rPr sz="1350" b="1" i="0" u="none" dirty="0">
                <a:solidFill>
                  <a:srgbClr val="0C3C20"/>
                </a:solidFill>
                <a:latin typeface="Noto Sans KR"/>
              </a:rPr>
              <a:t>?)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575" y="2601334"/>
            <a:ext cx="4967287" cy="1905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5923" y="2321389"/>
            <a:ext cx="5215651" cy="241845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1" i="0" u="none">
                <a:solidFill>
                  <a:srgbClr val="0C3C20"/>
                </a:solidFill>
                <a:latin typeface="Noto Sans KR"/>
              </a:rPr>
              <a:t>핵심 목적 (달성하려는 과제)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34137" y="2601334"/>
            <a:ext cx="4967287" cy="1905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2340439"/>
            <a:ext cx="133498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1075" y="2734684"/>
            <a:ext cx="47767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 dirty="0">
                <a:solidFill>
                  <a:srgbClr val="E65F2C"/>
                </a:solidFill>
                <a:latin typeface="Noto Sans KR"/>
              </a:rPr>
              <a:t>① SNS </a:t>
            </a:r>
            <a:r>
              <a:rPr sz="1050" b="1" i="0" u="none" dirty="0" err="1">
                <a:solidFill>
                  <a:srgbClr val="E65F2C"/>
                </a:solidFill>
                <a:latin typeface="Noto Sans KR"/>
              </a:rPr>
              <a:t>광고</a:t>
            </a:r>
            <a:r>
              <a:rPr sz="1050" b="1" i="0" u="none" dirty="0">
                <a:solidFill>
                  <a:srgbClr val="E65F2C"/>
                </a:solidFill>
                <a:latin typeface="Noto Sans KR"/>
              </a:rPr>
              <a:t> </a:t>
            </a:r>
            <a:r>
              <a:rPr sz="1050" b="1" i="0" u="none" dirty="0" err="1">
                <a:solidFill>
                  <a:srgbClr val="E65F2C"/>
                </a:solidFill>
                <a:latin typeface="Noto Sans KR"/>
              </a:rPr>
              <a:t>피해</a:t>
            </a:r>
            <a:r>
              <a:rPr sz="1050" b="1" i="0" u="none" dirty="0">
                <a:solidFill>
                  <a:srgbClr val="E65F2C"/>
                </a:solidFill>
                <a:latin typeface="Noto Sans KR"/>
              </a:rPr>
              <a:t> </a:t>
            </a:r>
            <a:r>
              <a:rPr sz="1050" b="1" i="0" u="none" dirty="0" err="1">
                <a:solidFill>
                  <a:srgbClr val="E65F2C"/>
                </a:solidFill>
                <a:latin typeface="Noto Sans KR"/>
              </a:rPr>
              <a:t>검색</a:t>
            </a:r>
            <a:r>
              <a:rPr sz="1050" b="1" i="0" u="none" dirty="0">
                <a:solidFill>
                  <a:srgbClr val="E65F2C"/>
                </a:solidFill>
                <a:latin typeface="Noto Sans KR"/>
              </a:rPr>
              <a:t> </a:t>
            </a:r>
            <a:r>
              <a:rPr sz="1050" b="1" i="0" u="none" dirty="0" err="1">
                <a:solidFill>
                  <a:srgbClr val="E65F2C"/>
                </a:solidFill>
                <a:latin typeface="Noto Sans KR"/>
              </a:rPr>
              <a:t>효율화</a:t>
            </a:r>
            <a:r>
              <a:rPr sz="1050" b="1" i="0" u="none" dirty="0">
                <a:solidFill>
                  <a:srgbClr val="E65F2C"/>
                </a:solidFill>
                <a:latin typeface="Noto Sans KR"/>
              </a:rPr>
              <a:t>:</a:t>
            </a:r>
            <a:r>
              <a:rPr sz="1050" b="0" i="0" u="none" dirty="0">
                <a:solidFill>
                  <a:srgbClr val="2E3B32"/>
                </a:solidFill>
                <a:latin typeface="Noto Sans KR"/>
              </a:rPr>
              <a:t> </a:t>
            </a:r>
            <a:r>
              <a:rPr sz="1050" b="0" i="0" u="none" dirty="0" err="1">
                <a:solidFill>
                  <a:srgbClr val="2E3B32"/>
                </a:solidFill>
                <a:latin typeface="Noto Sans KR"/>
              </a:rPr>
              <a:t>인스타나</a:t>
            </a:r>
            <a:r>
              <a:rPr sz="1050" b="0" i="0" u="none" dirty="0">
                <a:solidFill>
                  <a:srgbClr val="2E3B32"/>
                </a:solidFill>
                <a:latin typeface="Noto Sans KR"/>
              </a:rPr>
              <a:t> </a:t>
            </a:r>
            <a:r>
              <a:rPr sz="1050" b="0" i="0" u="none" dirty="0" err="1">
                <a:solidFill>
                  <a:srgbClr val="2E3B32"/>
                </a:solidFill>
                <a:latin typeface="Noto Sans KR"/>
              </a:rPr>
              <a:t>광고</a:t>
            </a:r>
            <a:r>
              <a:rPr sz="1050" b="0" i="0" u="none" dirty="0">
                <a:solidFill>
                  <a:srgbClr val="2E3B32"/>
                </a:solidFill>
                <a:latin typeface="Noto Sans KR"/>
              </a:rPr>
              <a:t> </a:t>
            </a:r>
            <a:r>
              <a:rPr sz="1050" b="0" i="0" u="none" dirty="0" err="1">
                <a:solidFill>
                  <a:srgbClr val="2E3B32"/>
                </a:solidFill>
                <a:latin typeface="Noto Sans KR"/>
              </a:rPr>
              <a:t>피드</a:t>
            </a:r>
            <a:r>
              <a:rPr sz="1050" b="0" i="0" u="none" dirty="0">
                <a:solidFill>
                  <a:srgbClr val="2E3B32"/>
                </a:solidFill>
                <a:latin typeface="Noto Sans KR"/>
              </a:rPr>
              <a:t> </a:t>
            </a:r>
            <a:r>
              <a:rPr sz="1050" b="0" i="0" u="none" dirty="0" err="1">
                <a:solidFill>
                  <a:srgbClr val="2E3B32"/>
                </a:solidFill>
                <a:latin typeface="Noto Sans KR"/>
              </a:rPr>
              <a:t>대신</a:t>
            </a:r>
            <a:r>
              <a:rPr sz="1050" b="0" i="0" u="none" dirty="0">
                <a:solidFill>
                  <a:srgbClr val="2E3B32"/>
                </a:solidFill>
                <a:latin typeface="Noto Sans KR"/>
              </a:rPr>
              <a:t>, 이 </a:t>
            </a:r>
            <a:r>
              <a:rPr sz="1050" b="0" i="0" u="none" dirty="0" err="1">
                <a:solidFill>
                  <a:srgbClr val="2E3B32"/>
                </a:solidFill>
                <a:latin typeface="Noto Sans KR"/>
              </a:rPr>
              <a:t>사이트에서</a:t>
            </a:r>
            <a:r>
              <a:rPr sz="1050" b="0" i="0" u="none" dirty="0">
                <a:solidFill>
                  <a:srgbClr val="2E3B32"/>
                </a:solidFill>
                <a:latin typeface="Noto Sans KR"/>
              </a:rPr>
              <a:t> </a:t>
            </a:r>
            <a:r>
              <a:rPr sz="1050" b="0" i="0" u="none" dirty="0" err="1">
                <a:solidFill>
                  <a:srgbClr val="2E3B32"/>
                </a:solidFill>
                <a:latin typeface="Noto Sans KR"/>
              </a:rPr>
              <a:t>바로</a:t>
            </a:r>
            <a:r>
              <a:rPr sz="1050" b="0" i="0" u="none" dirty="0">
                <a:solidFill>
                  <a:srgbClr val="2E3B32"/>
                </a:solidFill>
                <a:latin typeface="Noto Sans KR"/>
              </a:rPr>
              <a:t> </a:t>
            </a:r>
            <a:r>
              <a:rPr sz="1050" b="0" i="0" u="none" dirty="0" err="1">
                <a:solidFill>
                  <a:srgbClr val="2E3B32"/>
                </a:solidFill>
                <a:latin typeface="Noto Sans KR"/>
              </a:rPr>
              <a:t>진짜</a:t>
            </a:r>
            <a:r>
              <a:rPr sz="1050" b="0" i="0" u="none" dirty="0">
                <a:solidFill>
                  <a:srgbClr val="2E3B32"/>
                </a:solidFill>
                <a:latin typeface="Noto Sans KR"/>
              </a:rPr>
              <a:t> </a:t>
            </a:r>
            <a:r>
              <a:rPr sz="1050" b="0" i="0" u="none" dirty="0" err="1">
                <a:solidFill>
                  <a:srgbClr val="2E3B32"/>
                </a:solidFill>
                <a:latin typeface="Noto Sans KR"/>
              </a:rPr>
              <a:t>지역별</a:t>
            </a:r>
            <a:r>
              <a:rPr sz="1050" b="0" i="0" u="none" dirty="0">
                <a:solidFill>
                  <a:srgbClr val="2E3B32"/>
                </a:solidFill>
                <a:latin typeface="Noto Sans KR"/>
              </a:rPr>
              <a:t> </a:t>
            </a:r>
            <a:r>
              <a:rPr sz="1050" b="0" i="0" u="none" dirty="0" err="1">
                <a:solidFill>
                  <a:srgbClr val="2E3B32"/>
                </a:solidFill>
                <a:latin typeface="Noto Sans KR"/>
              </a:rPr>
              <a:t>검색</a:t>
            </a:r>
            <a:r>
              <a:rPr sz="1050" b="0" i="0" u="none" dirty="0">
                <a:solidFill>
                  <a:srgbClr val="2E3B32"/>
                </a:solidFill>
                <a:latin typeface="Noto Sans KR"/>
              </a:rPr>
              <a:t> 및 </a:t>
            </a:r>
            <a:r>
              <a:rPr sz="1050" b="0" i="0" u="none" dirty="0" err="1">
                <a:solidFill>
                  <a:srgbClr val="2E3B32"/>
                </a:solidFill>
                <a:latin typeface="Noto Sans KR"/>
              </a:rPr>
              <a:t>즉각적인</a:t>
            </a:r>
            <a:r>
              <a:rPr sz="1050" b="0" i="0" u="none" dirty="0">
                <a:solidFill>
                  <a:srgbClr val="2E3B32"/>
                </a:solidFill>
                <a:latin typeface="Noto Sans KR"/>
              </a:rPr>
              <a:t> </a:t>
            </a:r>
            <a:r>
              <a:rPr sz="1050" b="0" i="0" u="none" dirty="0" err="1">
                <a:solidFill>
                  <a:srgbClr val="2E3B32"/>
                </a:solidFill>
                <a:latin typeface="Noto Sans KR"/>
              </a:rPr>
              <a:t>비교</a:t>
            </a:r>
            <a:r>
              <a:rPr sz="1050" b="0" i="0" u="none" dirty="0">
                <a:solidFill>
                  <a:srgbClr val="2E3B32"/>
                </a:solidFill>
                <a:latin typeface="Noto Sans KR"/>
              </a:rPr>
              <a:t> </a:t>
            </a:r>
            <a:r>
              <a:rPr sz="1050" b="0" i="0" u="none" dirty="0" err="1">
                <a:solidFill>
                  <a:srgbClr val="2E3B32"/>
                </a:solidFill>
                <a:latin typeface="Noto Sans KR"/>
              </a:rPr>
              <a:t>가능</a:t>
            </a:r>
            <a:endParaRPr sz="1050" b="0" i="0" u="none" dirty="0">
              <a:solidFill>
                <a:srgbClr val="2E3B32"/>
              </a:solidFill>
              <a:latin typeface="Noto Sans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1075" y="3229984"/>
            <a:ext cx="47767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E65F2C"/>
                </a:solidFill>
                <a:latin typeface="Noto Sans KR"/>
              </a:rPr>
              <a:t>② 시설 정보 사전 확인: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캠핑장별로 전기, 온수, 샤워시설 등 어떤 필수 유틸리티를 쓸 수 있는지 투명하게 체크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3725284"/>
            <a:ext cx="47767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E65F2C"/>
                </a:solidFill>
                <a:latin typeface="Noto Sans KR"/>
              </a:rPr>
              <a:t>③ 전 연령 무료 간편 이용: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아이 동반 부부, 부모님 세대까지 누구나 가입이나 결제 비용 부담 없이 손쉬운 서칭 지원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4220584"/>
            <a:ext cx="47767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E65F2C"/>
                </a:solidFill>
                <a:latin typeface="Noto Sans KR"/>
              </a:rPr>
              <a:t>④ 효율적인 여행 동선 구축: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시간이 부족한 바쁜 직장인들도 이동 소요 시간을 직관적으로 확인해 일정 설계 용이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37" y="2340439"/>
            <a:ext cx="133498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24637" y="2734684"/>
            <a:ext cx="47767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C3C20"/>
                </a:solidFill>
                <a:latin typeface="Noto Sans KR"/>
              </a:rPr>
              <a:t>● 전국 야영지 정보 단일창구 가시화: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전국에 분산된 3,800여 개 야영장 위치와 실시간 운영시설 현황을 한곳에서 일목요연하게 파악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4637" y="3229984"/>
            <a:ext cx="47767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C3C20"/>
                </a:solidFill>
                <a:latin typeface="Noto Sans KR"/>
              </a:rPr>
              <a:t>● 경유지 결합 맞춤 소요시간 제공: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장보기 마트 등 중간 경유지까지 포함하여 실제로 차량이 가는데 걸리는 시간을 실시간 연동 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4637" y="3725284"/>
            <a:ext cx="47767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C3C20"/>
                </a:solidFill>
                <a:latin typeface="Noto Sans KR"/>
              </a:rPr>
              <a:t>● 인프라 매칭 예약 최적화: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필요한 편의시설(글램핑, 카라반, 화장실 등) 위주로 골라 안전하고 정확한 예약 링크로 즉시 연결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2725159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220459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715759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211059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1762" y="2725159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1762" y="3220459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1762" y="3715759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571500" y="2404020"/>
            <a:ext cx="5405437" cy="227028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B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15062" y="2404020"/>
            <a:ext cx="5405437" cy="227028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B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4375" y="428625"/>
            <a:ext cx="1145143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0C3C20"/>
                </a:solidFill>
                <a:latin typeface="Noto Sans KR ExtraBold"/>
              </a:rPr>
              <a:t>2. 데이터 설계: 수집 데이터 정보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5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2361" y="2623096"/>
            <a:ext cx="5215651" cy="241845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1" i="0" u="none">
                <a:solidFill>
                  <a:srgbClr val="0C3C20"/>
                </a:solidFill>
                <a:latin typeface="Noto Sans KR"/>
              </a:rPr>
              <a:t>어떤 데이터를 수집했는가?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575" y="2903041"/>
            <a:ext cx="4967287" cy="1905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575" y="3036391"/>
            <a:ext cx="496728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C3C20"/>
                </a:solidFill>
                <a:latin typeface="Noto Sans KR"/>
              </a:rPr>
              <a:t>🏕 전국 야영장(캠핑장) 상세 정보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5923" y="2623096"/>
            <a:ext cx="5215651" cy="241845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1" i="0" u="none">
                <a:solidFill>
                  <a:srgbClr val="0C3C20"/>
                </a:solidFill>
                <a:latin typeface="Noto Sans KR"/>
              </a:rPr>
              <a:t>수집한 주요 데이터 필드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4137" y="2903041"/>
            <a:ext cx="4967287" cy="1905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2642146"/>
            <a:ext cx="133498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075" y="3345954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E65F2C"/>
                </a:solidFill>
                <a:latin typeface="Noto Sans KR"/>
              </a:rPr>
              <a:t>데이터 출처: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공공데이터포털 (data.go.kr) 공식 수집 창구 일원화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3641229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E65F2C"/>
                </a:solidFill>
                <a:latin typeface="Noto Sans KR"/>
              </a:rPr>
              <a:t>수집처 기관: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한국관광공사 '고캠핑(GoCamping)' 정식 Open API 승인 연동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3936504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E65F2C"/>
                </a:solidFill>
                <a:latin typeface="Noto Sans KR"/>
              </a:rPr>
              <a:t>수집 규모: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전국 등록 야영장 약 </a:t>
            </a:r>
            <a:r>
              <a:rPr sz="1050" b="1" i="0" u="none">
                <a:solidFill>
                  <a:srgbClr val="E65F2C"/>
                </a:solidFill>
                <a:latin typeface="Noto Sans KR"/>
              </a:rPr>
              <a:t>3,800여 곳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의 실시간 데이터베이스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37" y="2642146"/>
            <a:ext cx="133498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24637" y="3036391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2E3B32"/>
                </a:solidFill>
                <a:latin typeface="Noto Sans KR"/>
              </a:rPr>
              <a:t>캠핑장 핵심 메타: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캠핑장명, 도로명 주소, 위도/경도 지도 매핑 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4637" y="3331666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2E3B32"/>
                </a:solidFill>
                <a:latin typeface="Noto Sans KR"/>
              </a:rPr>
              <a:t>시설 형태 분석: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일반야영장, 글램핑, 카라반, 자동차 야영장 등 세부 업종 구분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4637" y="3626941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2E3B32"/>
                </a:solidFill>
                <a:latin typeface="Noto Sans KR"/>
              </a:rPr>
              <a:t>보유 인프라 정보: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전기, 온수, 샤워실, 화장실 완비 여부 및 바비큐 가능 환경 여부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4637" y="3922216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2E3B32"/>
                </a:solidFill>
                <a:latin typeface="Noto Sans KR"/>
              </a:rPr>
              <a:t>영업 시설 규모: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데크 개수, 파쇄석 면적, 카라반 사이트 총 공급 수량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4637" y="4217491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2E3B32"/>
                </a:solidFill>
                <a:latin typeface="Noto Sans KR"/>
              </a:rPr>
              <a:t>예약 연계 필드: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캠핑장 공식 대표사진 및 외부 직접 예약 사이트 이동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336429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631704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3926979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1762" y="3026866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1762" y="3322141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1762" y="3617416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1762" y="3912691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1762" y="4207966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540448"/>
            <a:ext cx="11049000" cy="1043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28625"/>
            <a:ext cx="1145143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0C3C20"/>
                </a:solidFill>
                <a:latin typeface="Noto Sans KR ExtraBold"/>
              </a:rPr>
              <a:t>2. 데이터 설계: 데이터 및 외부 연계 API 상세 출처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5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500" y="1825823"/>
            <a:ext cx="11049000" cy="25717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203216"/>
              </p:ext>
            </p:extLst>
          </p:nvPr>
        </p:nvGraphicFramePr>
        <p:xfrm>
          <a:off x="571500" y="1825823"/>
          <a:ext cx="11039473" cy="257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3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연동 데이터 종류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3C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제공 기관 및 구체적 기술 출처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3C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수신 형식 (수신방식)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3C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핵심 활용 방식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3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2E3B32"/>
                          </a:solidFill>
                          <a:latin typeface="Noto Sans KR"/>
                        </a:rPr>
                        <a:t>🏕 캠핑장 전국 데이터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2E3B32"/>
                          </a:solidFill>
                          <a:latin typeface="Noto Sans KR"/>
                        </a:rPr>
                        <a:t>공공데이터포털 (data.go.kr) / 한국관광공사 '고캠핑'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12" b="0" i="0" u="none" dirty="0">
                        <a:solidFill>
                          <a:srgbClr val="2E3B32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전국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3,800개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캠핑장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기본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프로필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수집</a:t>
                      </a:r>
                      <a:endParaRPr sz="1012" b="0" i="0" u="none" dirty="0">
                        <a:solidFill>
                          <a:srgbClr val="2E3B32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2E3B32"/>
                          </a:solidFill>
                          <a:latin typeface="Noto Sans KR"/>
                        </a:rPr>
                        <a:t>🚗 소요시간 및 최적 경로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2E3B32"/>
                          </a:solidFill>
                          <a:latin typeface="Noto Sans KR"/>
                        </a:rPr>
                        <a:t>네이버 클라우드 플랫폼 (Maps Directions API)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출발지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➔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경유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마트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➔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캠핑장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실시간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시간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계산</a:t>
                      </a:r>
                      <a:endParaRPr sz="1012" b="0" i="0" u="none" dirty="0">
                        <a:solidFill>
                          <a:srgbClr val="2E3B32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2E3B32"/>
                          </a:solidFill>
                          <a:latin typeface="Noto Sans KR"/>
                        </a:rPr>
                        <a:t>🛒 중간 장보기 경유지 검색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2E3B32"/>
                          </a:solidFill>
                          <a:latin typeface="Noto Sans KR"/>
                        </a:rPr>
                        <a:t>카카오 디벨로퍼스 (Kakao Local Search API)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2" b="0" i="0" u="none">
                          <a:solidFill>
                            <a:srgbClr val="2E3B32"/>
                          </a:solidFill>
                          <a:latin typeface="Noto Sans KR"/>
                        </a:rPr>
                        <a:t>REST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2E3B32"/>
                          </a:solidFill>
                          <a:latin typeface="Noto Sans KR"/>
                        </a:rPr>
                        <a:t>내 주변 대형마트 좌표 자동 추출 및 경로 이식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2E3B32"/>
                          </a:solidFill>
                          <a:latin typeface="Noto Sans KR"/>
                        </a:rPr>
                        <a:t>🌤 실시간 주말 날씨 정보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2E3B32"/>
                          </a:solidFill>
                          <a:latin typeface="Noto Sans KR"/>
                        </a:rPr>
                        <a:t>Open-Meteo Weather Forecast (무료 기상 정보 서비스)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2" b="0" i="0" u="none">
                          <a:solidFill>
                            <a:srgbClr val="2E3B32"/>
                          </a:solidFill>
                          <a:latin typeface="Noto Sans KR"/>
                        </a:rPr>
                        <a:t>Weather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해당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캠핑장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위치의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금/토/일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예보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병합</a:t>
                      </a:r>
                      <a:r>
                        <a:rPr sz="1012" b="0" i="0" u="none" dirty="0">
                          <a:solidFill>
                            <a:srgbClr val="2E3B32"/>
                          </a:solidFill>
                          <a:latin typeface="Noto Sans KR"/>
                        </a:rPr>
                        <a:t> </a:t>
                      </a:r>
                      <a:r>
                        <a:rPr sz="1012" b="0" i="0" u="none" dirty="0" err="1">
                          <a:solidFill>
                            <a:srgbClr val="2E3B32"/>
                          </a:solidFill>
                          <a:latin typeface="Noto Sans KR"/>
                        </a:rPr>
                        <a:t>표출</a:t>
                      </a:r>
                      <a:endParaRPr sz="1012" b="0" i="0" u="none" dirty="0">
                        <a:solidFill>
                          <a:srgbClr val="2E3B32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6262" y="2640210"/>
            <a:ext cx="2428577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04839" y="2640210"/>
            <a:ext cx="3863726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68566" y="2640210"/>
            <a:ext cx="1987004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855571" y="2640210"/>
            <a:ext cx="2760166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3221235"/>
            <a:ext cx="2428577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04839" y="3221235"/>
            <a:ext cx="3863726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68566" y="3221235"/>
            <a:ext cx="1987004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55571" y="3221235"/>
            <a:ext cx="2760166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262" y="3802260"/>
            <a:ext cx="2428577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04839" y="3802260"/>
            <a:ext cx="3863726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68566" y="3802260"/>
            <a:ext cx="1987004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55571" y="3802260"/>
            <a:ext cx="2760166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6262" y="4383285"/>
            <a:ext cx="2428577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04839" y="4383285"/>
            <a:ext cx="3863726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68566" y="4383285"/>
            <a:ext cx="1987004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55571" y="4383285"/>
            <a:ext cx="2760166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3215" y="4683323"/>
            <a:ext cx="5061346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65F2C"/>
                </a:solidFill>
                <a:latin typeface="Noto Sans KR ExtraBold"/>
              </a:rPr>
              <a:t>수집 특징 및 비용 조건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4902398"/>
            <a:ext cx="5214937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A4230"/>
                </a:solidFill>
                <a:latin typeface="Noto Sans KR"/>
              </a:rPr>
              <a:t>네이버 클라우드는 API 신청 후 클라이언트 ID 및 Secret 발급을 통해 상호 유기적 암호화 전송을 유지하며, Open-Meteo는 별도 키가 필요 없는 완전 개방형 API로 트래픽 유연성을 부여했습니다.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8653" y="4683323"/>
            <a:ext cx="5061346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65F2C"/>
                </a:solidFill>
                <a:latin typeface="Noto Sans KR ExtraBold"/>
              </a:rPr>
              <a:t>비용 리스크 사전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5062" y="4902398"/>
            <a:ext cx="5214937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A4230"/>
                </a:solidFill>
                <a:latin typeface="Noto Sans KR"/>
              </a:rPr>
              <a:t>제시된 모든 데이터 파이프라인은 </a:t>
            </a:r>
            <a:r>
              <a:rPr sz="975" b="1" i="0" u="none">
                <a:solidFill>
                  <a:srgbClr val="4A4230"/>
                </a:solidFill>
                <a:latin typeface="Noto Sans KR"/>
              </a:rPr>
              <a:t>100% 무료 등급</a:t>
            </a:r>
            <a:r>
              <a:rPr sz="975" b="0" i="0" u="none">
                <a:solidFill>
                  <a:srgbClr val="4A4230"/>
                </a:solidFill>
                <a:latin typeface="Noto Sans KR"/>
              </a:rPr>
              <a:t> 범위 내에서 완벽하게 구동할 수 있도록 설계되었으며, 불필요한 과금 한도 초과 리스크를 원천 배제했습니다.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205" y="2343447"/>
            <a:ext cx="1143000" cy="2571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205" y="2914947"/>
            <a:ext cx="1149613" cy="258663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206" y="3426022"/>
            <a:ext cx="1142999" cy="2571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5205" y="3954659"/>
            <a:ext cx="1158283" cy="247651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707135"/>
            <a:ext cx="96440" cy="1238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5062" y="4707135"/>
            <a:ext cx="9644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565576"/>
            <a:ext cx="11049000" cy="86379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71500" y="2038369"/>
            <a:ext cx="5405437" cy="22607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B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15062" y="2038369"/>
            <a:ext cx="5405437" cy="22607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B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4375" y="428625"/>
            <a:ext cx="1145143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0C3C20"/>
                </a:solidFill>
                <a:latin typeface="Noto Sans KR ExtraBold"/>
              </a:rPr>
              <a:t>2. 데이터 수집: 웹 크롤링 vs 공식 API 활용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5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3215" y="5708451"/>
            <a:ext cx="10466784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2E7D32"/>
                </a:solidFill>
                <a:latin typeface="Noto Sans KR ExtraBold"/>
              </a:rPr>
              <a:t>본 프로젝트의 선언 (100% API 활용 보장)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5927526"/>
            <a:ext cx="1062037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A4230"/>
                </a:solidFill>
                <a:latin typeface="Noto Sans KR"/>
              </a:rPr>
              <a:t>본 캠핑나침반 프로젝트는 </a:t>
            </a:r>
            <a:r>
              <a:rPr sz="975" b="1" i="0" u="none">
                <a:solidFill>
                  <a:srgbClr val="4A4230"/>
                </a:solidFill>
                <a:latin typeface="Noto Sans KR"/>
              </a:rPr>
              <a:t>100% 검증된 API 통신</a:t>
            </a:r>
            <a:r>
              <a:rPr sz="975" b="0" i="0" u="none">
                <a:solidFill>
                  <a:srgbClr val="4A4230"/>
                </a:solidFill>
                <a:latin typeface="Noto Sans KR"/>
              </a:rPr>
              <a:t>만을 이용합니다. 공공데이터포털 정식 파이프라인을 구축하여 실시간 JSON 형식으로 캠핑장 정보를 수수하므로, 임시 웹페이지 HTML을 무단으로 긁어서 연동 오류를 뿜어내는 '크롤링'은 철저히 배제했습니다.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361" y="2257445"/>
            <a:ext cx="5215651" cy="241845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1" i="0" u="none">
                <a:solidFill>
                  <a:srgbClr val="0C3C20"/>
                </a:solidFill>
                <a:latin typeface="Noto Sans KR"/>
              </a:rPr>
              <a:t>기존 방식: 일반적인 웹 크롤링 (Crawling)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575" y="2537390"/>
            <a:ext cx="4967287" cy="1905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5923" y="2257445"/>
            <a:ext cx="5215651" cy="241845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1" i="0" u="none">
                <a:solidFill>
                  <a:srgbClr val="0C3C20"/>
                </a:solidFill>
                <a:latin typeface="Noto Sans KR"/>
              </a:rPr>
              <a:t>정석 설계: 공식 Open API 사용 (본 서비스 적용)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34137" y="2537390"/>
            <a:ext cx="4967287" cy="1905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5732264"/>
            <a:ext cx="96440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2276495"/>
            <a:ext cx="133498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1075" y="2670740"/>
            <a:ext cx="47767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E65F2C"/>
                </a:solidFill>
                <a:latin typeface="Noto Sans KR"/>
              </a:rPr>
              <a:t>작동 구조: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브라우저 상의 HTML 코드 원본을 통째 복사해와 특정 태그를 파싱해 원하는 필드 수동 추출 (requests + BeautifulSoup 활용)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3166040"/>
            <a:ext cx="47767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E65F2C"/>
                </a:solidFill>
                <a:latin typeface="Noto Sans KR"/>
              </a:rPr>
              <a:t>구조적 결함: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대상 사이트의 화면 디자인 레이아웃이나 태그 이름이 아주 미세하게 바뀌기만 해도 데이터를 전혀 파싱하지 못해 크래시 발생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3661340"/>
            <a:ext cx="47767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E65F2C"/>
                </a:solidFill>
                <a:latin typeface="Noto Sans KR"/>
              </a:rPr>
              <a:t>법적/운영 위험: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일시적으로 수많은 트래픽을 단숨에 끌어올려 차단을 당하거나 사이트 소유자로부터 차단(IP Block) 등 법적 제재 우려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137" y="2276495"/>
            <a:ext cx="133498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24637" y="2670740"/>
            <a:ext cx="47767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C3C20"/>
                </a:solidFill>
                <a:latin typeface="Noto Sans KR"/>
              </a:rPr>
              <a:t>작동 구조: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데이터 제공자가 외부에 정식으로 약속해 열어둔 표준 데이터 창구(API)로 전송받아 깔끔하게 검수 완료된 JSON 형태를 즉시 매핑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4637" y="3166040"/>
            <a:ext cx="47767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C3C20"/>
                </a:solidFill>
                <a:latin typeface="Noto Sans KR"/>
              </a:rPr>
              <a:t>압도적인 안정성: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웹사이트 프론트엔드 디자인이 어떻게 전면 리뉴얼되더라도 뒤에서 받는 데이터 형태와 핵심 규격은 변함없어 마비 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4637" y="3661340"/>
            <a:ext cx="47767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C3C20"/>
                </a:solidFill>
                <a:latin typeface="Noto Sans KR"/>
              </a:rPr>
              <a:t>합법성과 영속성: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국가 공인 데이터를 인가 하에 수수하므로 가이드라인 준수 시 평생 완벽하고 합법적인 배포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6121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315651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65181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1762" y="266121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1762" y="315651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1762" y="365181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15730"/>
            <a:ext cx="2735609" cy="9715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709" y="2215730"/>
            <a:ext cx="4103340" cy="971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798" y="2215730"/>
            <a:ext cx="3282701" cy="97155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71500" y="3377780"/>
            <a:ext cx="5405437" cy="16797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B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215062" y="3377780"/>
            <a:ext cx="5405437" cy="16797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B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4375" y="428625"/>
            <a:ext cx="1145143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0C3C20"/>
                </a:solidFill>
                <a:latin typeface="Noto Sans KR ExtraBold"/>
              </a:rPr>
              <a:t>3. 시스템 구성: 데이터와 서버가 유기적으로 도는 구조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5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3133" y="2396705"/>
            <a:ext cx="249234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C3C20"/>
                </a:solidFill>
                <a:latin typeface="Noto Sans KR"/>
              </a:rPr>
              <a:t>사용자</a:t>
            </a:r>
            <a:r>
              <a:t>
</a:t>
            </a:r>
            <a:r>
              <a:rPr sz="1125" b="1" i="0" u="none">
                <a:solidFill>
                  <a:srgbClr val="0C3C20"/>
                </a:solidFill>
                <a:latin typeface="Noto Sans KR"/>
              </a:rPr>
              <a:t> (웹 브라우저)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2834855"/>
            <a:ext cx="237365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55665A"/>
                </a:solidFill>
                <a:latin typeface="Noto Sans KR"/>
              </a:rPr>
              <a:t>PC, 스마트폰 화면에서 입력 조건 필터링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984" y="2587205"/>
            <a:ext cx="177849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68150" y="2406230"/>
            <a:ext cx="390845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C3C20"/>
                </a:solidFill>
                <a:latin typeface="Noto Sans KR"/>
              </a:rPr>
              <a:t>Flask 웹 서버</a:t>
            </a:r>
            <a:r>
              <a:t>
</a:t>
            </a:r>
            <a:r>
              <a:rPr sz="1125" b="1" i="0" u="none">
                <a:solidFill>
                  <a:srgbClr val="0C3C20"/>
                </a:solidFill>
                <a:latin typeface="Noto Sans KR"/>
              </a:rPr>
              <a:t> (app.py)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1209" y="2825330"/>
            <a:ext cx="372234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55665A"/>
                </a:solidFill>
                <a:latin typeface="Noto Sans KR"/>
              </a:rPr>
              <a:t>검색 처리 및 매시업 중앙 통제 중추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6924" y="2587205"/>
            <a:ext cx="177849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45754" y="2396705"/>
            <a:ext cx="306678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C3C20"/>
                </a:solidFill>
                <a:latin typeface="Noto Sans KR"/>
              </a:rPr>
              <a:t>공공데이터포털</a:t>
            </a:r>
            <a:r>
              <a:t>
</a:t>
            </a:r>
            <a:r>
              <a:rPr sz="1125" b="1" i="0" u="none">
                <a:solidFill>
                  <a:srgbClr val="0C3C20"/>
                </a:solidFill>
                <a:latin typeface="Noto Sans KR"/>
              </a:rPr>
              <a:t> (고캠핑 Open 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8773" y="2834855"/>
            <a:ext cx="292075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55665A"/>
                </a:solidFill>
                <a:latin typeface="Noto Sans KR"/>
              </a:rPr>
              <a:t>전국 캠핑장 표준 데이터 소스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361" y="3596855"/>
            <a:ext cx="5215651" cy="241845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1" i="0" u="none">
                <a:solidFill>
                  <a:srgbClr val="0C3C20"/>
                </a:solidFill>
                <a:latin typeface="Noto Sans KR"/>
              </a:rPr>
              <a:t>외부 부가 연동 생태계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575" y="3876800"/>
            <a:ext cx="4967287" cy="1905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5923" y="3596855"/>
            <a:ext cx="5215651" cy="241845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1" i="0" u="none">
                <a:solidFill>
                  <a:srgbClr val="0C3C20"/>
                </a:solidFill>
                <a:latin typeface="Noto Sans KR"/>
              </a:rPr>
              <a:t>사용 기술 및 환경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4137" y="3876800"/>
            <a:ext cx="4967287" cy="1905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3615905"/>
            <a:ext cx="133498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075" y="4010150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2E3B32"/>
                </a:solidFill>
                <a:latin typeface="Noto Sans KR"/>
              </a:rPr>
              <a:t>날씨 동적 예보: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Open-Meteo API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075" y="4305425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2E3B32"/>
                </a:solidFill>
                <a:latin typeface="Noto Sans KR"/>
              </a:rPr>
              <a:t>소요시간/거리 추적: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네이버 지도 길찾기 API 연동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75" y="4600700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2E3B32"/>
                </a:solidFill>
                <a:latin typeface="Noto Sans KR"/>
              </a:rPr>
              <a:t>클라우드 프로덕션 배포: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Render + gunicorn 웹 서버 탑재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4137" y="3615905"/>
            <a:ext cx="133498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24637" y="4010150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2E3B32"/>
                </a:solidFill>
                <a:latin typeface="Noto Sans KR"/>
              </a:rPr>
              <a:t>Back-end &amp; Engine: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Python, Flask, requests, gunicorn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4637" y="4305425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2E3B32"/>
                </a:solidFill>
                <a:latin typeface="Noto Sans KR"/>
              </a:rPr>
              <a:t>Front-end UI: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Jinja2 HTML Template, CSS3, JavaScript (AJAX)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4637" y="4600700"/>
            <a:ext cx="47767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2E3B32"/>
                </a:solidFill>
                <a:latin typeface="Noto Sans KR"/>
              </a:rPr>
              <a:t>Hosting Service: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Render Cloud Platform 배포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400062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4295900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459117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1762" y="400062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1762" y="4295900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1762" y="459117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38599"/>
            <a:ext cx="11049000" cy="86379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0312"/>
            <a:ext cx="2735609" cy="1109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709" y="2500312"/>
            <a:ext cx="4103340" cy="11096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798" y="2500312"/>
            <a:ext cx="3282701" cy="11096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28625"/>
            <a:ext cx="1145143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0C3C20"/>
                </a:solidFill>
                <a:latin typeface="Noto Sans KR ExtraBold"/>
              </a:rPr>
              <a:t>3. 시스템 구성: 검색 한 번에 구동되는 실시간 3단계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5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3215" y="4181474"/>
            <a:ext cx="10466784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0C3C20"/>
                </a:solidFill>
                <a:latin typeface="Noto Sans KR ExtraBold"/>
              </a:rPr>
              <a:t>[핵심 동작 비화] 전국 데이터 최초 메모리 탑재 캐시 기법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400549"/>
            <a:ext cx="1062037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A4230"/>
                </a:solidFill>
                <a:latin typeface="Noto Sans KR"/>
              </a:rPr>
              <a:t>고캠핑 Open API 서버는 데이터를 일괄 전송하지 않고 100개씩 '페이지'로만 끊어줍니다. 사용자가 매 검색 시마다 공공포털 서버에서 무겁게 페이징 호출을 하게 되면 엄청난 딜레이가 발생하므로, </a:t>
            </a:r>
            <a:r>
              <a:rPr sz="975" b="1" i="0" u="none">
                <a:solidFill>
                  <a:srgbClr val="4A4230"/>
                </a:solidFill>
                <a:latin typeface="Noto Sans KR"/>
              </a:rPr>
              <a:t>서버 부팅 시 처음에 무한 루프를 통해 끝까지 받아와 메모리에 저장(캐싱)</a:t>
            </a:r>
            <a:r>
              <a:rPr sz="975" b="0" i="0" u="none">
                <a:solidFill>
                  <a:srgbClr val="4A4230"/>
                </a:solidFill>
                <a:latin typeface="Noto Sans KR"/>
              </a:rPr>
              <a:t>해 두는 전처리 알고리즘을 장착해 검색 대기 시간을 줄였습니다.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33" y="2709862"/>
            <a:ext cx="249234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E65F2C"/>
                </a:solidFill>
                <a:latin typeface="Noto Sans KR"/>
              </a:rPr>
              <a:t>1. 입력 조건 파악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3043237"/>
            <a:ext cx="2373659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8"/>
              </a:lnSpc>
            </a:pPr>
            <a:r>
              <a:rPr sz="1012" b="0" i="0" u="none">
                <a:solidFill>
                  <a:srgbClr val="55665A"/>
                </a:solidFill>
                <a:latin typeface="Noto Sans KR"/>
              </a:rPr>
              <a:t>시도, 시군구 지역 선택</a:t>
            </a:r>
            <a:r>
              <a:t>
</a:t>
            </a:r>
            <a:r>
              <a:rPr sz="1012" b="0" i="0" u="none">
                <a:solidFill>
                  <a:srgbClr val="55665A"/>
                </a:solidFill>
                <a:latin typeface="Noto Sans KR"/>
              </a:rPr>
              <a:t> '글램핑', '온수' 복수 키워드 제출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9984" y="2940843"/>
            <a:ext cx="177849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58149" y="2709862"/>
            <a:ext cx="392845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C3C20"/>
                </a:solidFill>
                <a:latin typeface="Noto Sans KR"/>
              </a:rPr>
              <a:t>2. 서버사이드 추려내기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1684" y="3043237"/>
            <a:ext cx="374139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8"/>
              </a:lnSpc>
            </a:pPr>
            <a:r>
              <a:rPr sz="1012" b="0" i="0" u="none">
                <a:solidFill>
                  <a:srgbClr val="55665A"/>
                </a:solidFill>
                <a:latin typeface="Noto Sans KR"/>
              </a:rPr>
              <a:t>전체 로드된 메모리 데이터 중</a:t>
            </a:r>
            <a:r>
              <a:t>
</a:t>
            </a:r>
            <a:r>
              <a:rPr sz="1012" b="0" i="0" u="none">
                <a:solidFill>
                  <a:srgbClr val="55665A"/>
                </a:solidFill>
                <a:latin typeface="Noto Sans KR"/>
              </a:rPr>
              <a:t> 조건 일치 캠핑장 필터링 완료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924" y="2940843"/>
            <a:ext cx="177849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45754" y="2709862"/>
            <a:ext cx="306678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C3C20"/>
                </a:solidFill>
                <a:latin typeface="Noto Sans KR"/>
              </a:rPr>
              <a:t>3. 화면 다이내믹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8773" y="3043237"/>
            <a:ext cx="2920751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8"/>
              </a:lnSpc>
            </a:pPr>
            <a:r>
              <a:rPr sz="1012" b="0" i="0" u="none">
                <a:solidFill>
                  <a:srgbClr val="55665A"/>
                </a:solidFill>
                <a:latin typeface="Noto Sans KR"/>
              </a:rPr>
              <a:t>사진, 날씨, 경유 소요 시간</a:t>
            </a:r>
            <a:r>
              <a:t>
</a:t>
            </a:r>
            <a:r>
              <a:rPr sz="1012" b="0" i="0" u="none">
                <a:solidFill>
                  <a:srgbClr val="55665A"/>
                </a:solidFill>
                <a:latin typeface="Noto Sans KR"/>
              </a:rPr>
              <a:t> 비동기 병합 카드로 화면 표시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205287"/>
            <a:ext cx="9644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62025"/>
            <a:ext cx="5405437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5405437" cy="5181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962025"/>
            <a:ext cx="5405437" cy="15220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626965"/>
            <a:ext cx="5405437" cy="12529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28625"/>
            <a:ext cx="1145143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0C3C20"/>
                </a:solidFill>
                <a:latin typeface="Noto Sans KR ExtraBold"/>
              </a:rPr>
              <a:t>핵심 코드 ①: 데이터 일괄 프리패치 및 메모리 캐시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5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1991" y="1162050"/>
            <a:ext cx="5255656" cy="198090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0C3C20"/>
                </a:solidFill>
                <a:latin typeface="Noto Sans KR"/>
              </a:rPr>
              <a:t>쉽게 말하면 어떻게 작동하나요?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087" y="1436340"/>
            <a:ext cx="5005387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55665A"/>
                </a:solidFill>
                <a:latin typeface="Noto Sans KR"/>
              </a:rPr>
              <a:t>공공데이터포털 API는 데이터를 한꺼번에 통째로 넘겨주지 않고, 번거롭게 책장을 넘기듯 여러 '페이지'로 나누어 반환합니다.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5087" y="1898302"/>
            <a:ext cx="5005387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55665A"/>
                </a:solidFill>
                <a:latin typeface="Noto Sans KR"/>
              </a:rPr>
              <a:t>이 코드는 반복문을 통해 첫 페이지 1부터 끝까지 수집하여 서버 컴퓨터의 활성 메모리에 일괄로 차곡차곡 모아놓는 역할을 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1991" y="2826990"/>
            <a:ext cx="5255656" cy="198090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핵심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087" y="3101280"/>
            <a:ext cx="5005387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4A4230"/>
                </a:solidFill>
                <a:latin typeface="Noto Sans KR"/>
              </a:rPr>
              <a:t>최초 한 번만 원거리 공공서버에서 데이터를 모두 가져온 뒤 메모리에 저장합니다. 이후 사용자가 검색할 때는 먼 네트워크를 우회하여 0.05초 내로 검색 결과를 즉각 받아볼 수 있습니다.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087" y="1181100"/>
            <a:ext cx="118616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087" y="2846040"/>
            <a:ext cx="118616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62025"/>
            <a:ext cx="5449788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5449788" cy="5181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13" y="962025"/>
            <a:ext cx="5361086" cy="126250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13" y="2367408"/>
            <a:ext cx="5361086" cy="12529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28625"/>
            <a:ext cx="1145143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0C3C20"/>
                </a:solidFill>
                <a:latin typeface="Noto Sans KR ExtraBold"/>
              </a:rPr>
              <a:t>핵심 코드 ②: 영어 명칭 번역 사전 및 공백 무시 검색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5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96342" y="1162050"/>
            <a:ext cx="5209088" cy="198090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0C3C20"/>
                </a:solidFill>
                <a:latin typeface="Noto Sans KR"/>
              </a:rPr>
              <a:t>쉽게 말하면 어떻게 작동하나요?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9438" y="1436340"/>
            <a:ext cx="4961036" cy="588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55665A"/>
                </a:solidFill>
                <a:latin typeface="Noto Sans KR"/>
              </a:rPr>
              <a:t>공공 API가 제공하는 원형 파일 속 영어 이름 필드(facltNm 등)들을 개발자와 일반인이 쉽게 알아볼 수 있도록 직관적인 한글로 매핑하는 변환 매퍼(FIELD_MAP)를 구현했습니다.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6342" y="2567433"/>
            <a:ext cx="5209088" cy="198090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핵심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9438" y="2841724"/>
            <a:ext cx="4961036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4A4230"/>
                </a:solidFill>
                <a:latin typeface="Noto Sans KR"/>
              </a:rPr>
              <a:t>사용자가 '금호강오토캠핑장'을 '금호강 오토 캠핑장'처럼 무심코 띄어쓰기를 다르게 입력하여 검색이 먹통이 되는 문제를 원천 방어하고자 공백을 미리 양방향 삭제 전처리하고 일치 판별을 내립니다.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9438" y="1181100"/>
            <a:ext cx="118616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438" y="2586483"/>
            <a:ext cx="118616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62025"/>
            <a:ext cx="5405437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5405437" cy="5181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962025"/>
            <a:ext cx="5405437" cy="106962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174527"/>
            <a:ext cx="5405437" cy="10601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28625"/>
            <a:ext cx="1145143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0C3C20"/>
                </a:solidFill>
                <a:latin typeface="Noto Sans KR ExtraBold"/>
              </a:rPr>
              <a:t>핵심 코드 ③: Flask 라우트와 동적 데이터 연결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5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1991" y="1162050"/>
            <a:ext cx="5255656" cy="198090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0C3C20"/>
                </a:solidFill>
                <a:latin typeface="Noto Sans KR"/>
              </a:rPr>
              <a:t>쉽게 말하면 어떻게 작동하나요?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087" y="1436340"/>
            <a:ext cx="5005387" cy="395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55665A"/>
                </a:solidFill>
                <a:latin typeface="Noto Sans KR"/>
              </a:rPr>
              <a:t>@app.route 구문은 사용자가 주소창에 도메인을 치고 웹 브라우저로 접근했을 때, 서버 내부의 어떤 기능 함수가 마중 나가 응대할지 연결 지어 주는 관문입니다.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991" y="2374552"/>
            <a:ext cx="5255656" cy="198090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핵심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087" y="2648842"/>
            <a:ext cx="5005387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4A4230"/>
                </a:solidFill>
                <a:latin typeface="Noto Sans KR"/>
              </a:rPr>
              <a:t>'사용자의 접근 요청 수수 ➔ 맞춤 데이터 추출 및 가공 ➔ 디자인 HTML 화면 반환'의 견고한 웹 프로덕션 표준 패턴을 정직하게 수수하여 뛰어난 호환성을 보장합니다.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087" y="1181100"/>
            <a:ext cx="118616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087" y="2393602"/>
            <a:ext cx="118616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62025"/>
            <a:ext cx="5405437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5405437" cy="5181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962025"/>
            <a:ext cx="5405437" cy="125298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357883"/>
            <a:ext cx="5405437" cy="10601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28625"/>
            <a:ext cx="1145143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0C3C20"/>
                </a:solidFill>
                <a:latin typeface="Noto Sans KR ExtraBold"/>
              </a:rPr>
              <a:t>핵심 코드 ④: 외부 API 연동 - 소요 시간 및 경유 마트 계산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5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1991" y="1162050"/>
            <a:ext cx="5255656" cy="198090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0C3C20"/>
                </a:solidFill>
                <a:latin typeface="Noto Sans KR"/>
              </a:rPr>
              <a:t>쉽게 말하면 어떻게 작동하나요?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087" y="1436340"/>
            <a:ext cx="5005387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55665A"/>
                </a:solidFill>
                <a:latin typeface="Noto Sans KR"/>
              </a:rPr>
              <a:t>사용자 GPS 기반 출발지 주소와 카카오 디벨로퍼스로 탐색한 인근 대형마트 위치 좌표를 취합해, 네이버 길찾기 시스템(Directions)에 전달하여 실재 이동 소요시간을 획득합니다.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991" y="2557908"/>
            <a:ext cx="5255656" cy="198090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핵심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087" y="2832199"/>
            <a:ext cx="5005387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4A4230"/>
                </a:solidFill>
                <a:latin typeface="Noto Sans KR"/>
              </a:rPr>
              <a:t>네이버(경로 시간)와 카카오(주변 검색)라는 거대 플랫폼의 이종 API를 유기적으로 조합하여, 화면 깜빡임이 없는 AJAX 통신 기반으로 실시간 최적 동선을 그려냅니다.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087" y="1181100"/>
            <a:ext cx="118616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087" y="2576958"/>
            <a:ext cx="118616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62025"/>
            <a:ext cx="5405437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5405437" cy="5181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962025"/>
            <a:ext cx="5405437" cy="12787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383631"/>
            <a:ext cx="5405437" cy="8846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28625"/>
            <a:ext cx="1145143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0C3C20"/>
                </a:solidFill>
                <a:latin typeface="Noto Sans KR ExtraBold"/>
              </a:rPr>
              <a:t>핵심 코드 ⑤ &amp; ⑥: 웹 서버 실 배포 및 완전 반응형 CSS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5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6923" y="1114425"/>
            <a:ext cx="5355669" cy="185737"/>
          </a:xfrm>
          <a:prstGeom prst="rect">
            <a:avLst/>
          </a:prstGeom>
          <a:noFill/>
        </p:spPr>
        <p:txBody>
          <a:bodyPr wrap="square" lIns="111174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0C3C20"/>
                </a:solidFill>
                <a:latin typeface="Noto Sans KR"/>
              </a:rPr>
              <a:t>쉬운 설명 (배포 및 모바일)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7462" y="1347787"/>
            <a:ext cx="510063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55665A"/>
                </a:solidFill>
                <a:latin typeface="Noto Sans KR"/>
              </a:rPr>
              <a:t>배포:</a:t>
            </a:r>
            <a:r>
              <a:rPr sz="975" b="0" i="0" u="none">
                <a:solidFill>
                  <a:srgbClr val="55665A"/>
                </a:solidFill>
                <a:latin typeface="Noto Sans KR"/>
              </a:rPr>
              <a:t> 개인 PC 내부가 아닌, 누구나 스마트폰 주소창으로 들어올 수 있게 클라우드 플랫폼인 Render와 가속용 엔진 Gunicorn으로 구동시켰습니다.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7462" y="1741884"/>
            <a:ext cx="510063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55665A"/>
                </a:solidFill>
                <a:latin typeface="Noto Sans KR"/>
              </a:rPr>
              <a:t>모바일:</a:t>
            </a:r>
            <a:r>
              <a:rPr sz="975" b="0" i="0" u="none">
                <a:solidFill>
                  <a:srgbClr val="55665A"/>
                </a:solidFill>
                <a:latin typeface="Noto Sans KR"/>
              </a:rPr>
              <a:t> 화면 가로 폭이 680px 이하인 작은 휴대폰으로 보면 복잡했던 카드 모양 가로 레이아웃이 상하 세로로 자동 줄 바꿈 정렬되는 미디어쿼리 디자인을 전 기종 탑재했습니다.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923" y="2536031"/>
            <a:ext cx="5355669" cy="185737"/>
          </a:xfrm>
          <a:prstGeom prst="rect">
            <a:avLst/>
          </a:prstGeom>
          <a:noFill/>
        </p:spPr>
        <p:txBody>
          <a:bodyPr wrap="square" lIns="111174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E65F2C"/>
                </a:solidFill>
                <a:latin typeface="Noto Sans KR"/>
              </a:rPr>
              <a:t>핵심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7462" y="2769393"/>
            <a:ext cx="510063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4A4230"/>
                </a:solidFill>
                <a:latin typeface="Noto Sans KR"/>
              </a:rPr>
              <a:t>최초 실행 시 전국 데이터를 모으는 과정에서 30초 한계를 돌파하여 멈추는 에러를 극복하기 위해 타임아웃 세팅을 120초로 대폭 늘려 안정적 가동을 구현했습니다.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7462" y="1143000"/>
            <a:ext cx="111174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7462" y="2564606"/>
            <a:ext cx="111174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62025"/>
            <a:ext cx="5896719" cy="54673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438275"/>
            <a:ext cx="5591919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866900"/>
            <a:ext cx="5591919" cy="876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28625"/>
            <a:ext cx="1145143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0C3C20"/>
                </a:solidFill>
                <a:latin typeface="Noto Sans KR ExtraBold"/>
              </a:rPr>
              <a:t>4. 구현 화면: 메인 홈, 검색 및 CSV 추출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5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6248" y="1114425"/>
            <a:ext cx="489957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C3C20"/>
                </a:solidFill>
                <a:latin typeface="Noto Sans KR"/>
              </a:rPr>
              <a:t> 캠핑나침반 </a:t>
            </a:r>
            <a:r>
              <a:rPr sz="900" b="1" i="0" u="none">
                <a:solidFill>
                  <a:srgbClr val="999999"/>
                </a:solidFill>
                <a:latin typeface="Noto Sans KR"/>
              </a:rPr>
              <a:t>camping-scrapper.onrender.com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900" y="1333500"/>
            <a:ext cx="5591919" cy="9525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129" y="2884140"/>
            <a:ext cx="5159707" cy="222795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1" i="0" u="none">
                <a:solidFill>
                  <a:srgbClr val="0C3C20"/>
                </a:solidFill>
                <a:latin typeface="Noto Sans KR"/>
              </a:rPr>
              <a:t>유기적 뷰 매핑 구성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1971675"/>
            <a:ext cx="666750" cy="666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6344" y="2903190"/>
            <a:ext cx="133498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96844" y="3221235"/>
            <a:ext cx="472350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E65F2C"/>
                </a:solidFill>
                <a:latin typeface="Noto Sans KR"/>
              </a:rPr>
              <a:t>● 메인 화면: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시각적으로 뛰어난 자연 배너 검색창과 원클릭 마트 동선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6844" y="3516510"/>
            <a:ext cx="472350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E65F2C"/>
                </a:solidFill>
                <a:latin typeface="Noto Sans KR"/>
              </a:rPr>
              <a:t>● 검색 결과 목록: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실제 캠핑지 전경 사진, 기상청 주말 요약 기상 정보, 편의 아이콘 일괄 노출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6844" y="4011810"/>
            <a:ext cx="472350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E65F2C"/>
                </a:solidFill>
                <a:latin typeface="Noto Sans KR"/>
              </a:rPr>
              <a:t>● CSV(엑셀) 다운로드:</a:t>
            </a:r>
            <a:r>
              <a:rPr sz="1050" b="0" i="0" u="none">
                <a:solidFill>
                  <a:srgbClr val="2E3B32"/>
                </a:solidFill>
                <a:latin typeface="Noto Sans KR"/>
              </a:rPr>
              <a:t> 현 캠핑 데이터 목록을 로컬 하드디스크에 액셀 파일 형태로 저장 가능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133475"/>
            <a:ext cx="88999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667" y="2228850"/>
            <a:ext cx="118616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90675" y="2005012"/>
            <a:ext cx="191050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C3C20"/>
                </a:solidFill>
                <a:latin typeface="Noto Sans KR"/>
              </a:rPr>
              <a:t>⛺ </a:t>
            </a:r>
            <a:r>
              <a:rPr sz="900" b="1" i="0" u="none" dirty="0" err="1">
                <a:solidFill>
                  <a:srgbClr val="0C3C20"/>
                </a:solidFill>
                <a:latin typeface="Noto Sans KR"/>
              </a:rPr>
              <a:t>별빛솔밭</a:t>
            </a:r>
            <a:r>
              <a:rPr sz="900" b="1" i="0" u="none" dirty="0">
                <a:solidFill>
                  <a:srgbClr val="0C3C20"/>
                </a:solidFill>
                <a:latin typeface="Noto Sans KR"/>
              </a:rPr>
              <a:t> </a:t>
            </a:r>
            <a:r>
              <a:rPr sz="900" b="1" i="0" u="none" dirty="0" err="1">
                <a:solidFill>
                  <a:srgbClr val="0C3C20"/>
                </a:solidFill>
                <a:latin typeface="Noto Sans KR"/>
              </a:rPr>
              <a:t>오토캠핑장</a:t>
            </a:r>
            <a:r>
              <a:rPr sz="900" b="1" i="0" u="none" dirty="0">
                <a:solidFill>
                  <a:srgbClr val="0C3C20"/>
                </a:solidFill>
                <a:latin typeface="Noto Sans KR"/>
              </a:rPr>
              <a:t> (</a:t>
            </a:r>
            <a:r>
              <a:rPr sz="900" b="1" i="0" u="none" dirty="0" err="1">
                <a:solidFill>
                  <a:srgbClr val="0C3C20"/>
                </a:solidFill>
                <a:latin typeface="Noto Sans KR"/>
              </a:rPr>
              <a:t>강원</a:t>
            </a:r>
            <a:r>
              <a:rPr sz="900" b="1" i="0" u="none" dirty="0">
                <a:solidFill>
                  <a:srgbClr val="0C3C20"/>
                </a:solidFill>
                <a:latin typeface="Noto Sans KR"/>
              </a:rPr>
              <a:t> </a:t>
            </a:r>
            <a:r>
              <a:rPr sz="900" b="1" i="0" u="none" dirty="0" err="1">
                <a:solidFill>
                  <a:srgbClr val="0C3C20"/>
                </a:solidFill>
                <a:latin typeface="Noto Sans KR"/>
              </a:rPr>
              <a:t>원주</a:t>
            </a:r>
            <a:r>
              <a:rPr sz="900" b="1" i="0" u="none" dirty="0">
                <a:solidFill>
                  <a:srgbClr val="0C3C20"/>
                </a:solidFill>
                <a:latin typeface="Noto Sans KR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3079" y="2205037"/>
            <a:ext cx="1910506" cy="133350"/>
          </a:xfrm>
          <a:prstGeom prst="rect">
            <a:avLst/>
          </a:prstGeom>
          <a:noFill/>
        </p:spPr>
        <p:txBody>
          <a:bodyPr wrap="square" lIns="74116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55665A"/>
                </a:solidFill>
                <a:latin typeface="Noto Sans KR"/>
              </a:rPr>
              <a:t>내 출발지 ➔ 마트 ➔ 캠핑장 (약 52분 소요)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3969" y="3211710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969" y="350698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969" y="400228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0675" y="2224087"/>
            <a:ext cx="74116" cy="95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0675" y="2414587"/>
            <a:ext cx="33337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2150" y="2414587"/>
            <a:ext cx="366861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67111" y="2414587"/>
            <a:ext cx="571648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261312"/>
            <a:ext cx="11049000" cy="86379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58222"/>
            <a:ext cx="5896719" cy="19602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344" y="2158222"/>
            <a:ext cx="4914007" cy="19602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28625"/>
            <a:ext cx="1145143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0C3C20"/>
                </a:solidFill>
                <a:latin typeface="Noto Sans KR ExtraBold"/>
              </a:rPr>
              <a:t>5. 핵심 트러블슈팅: 날씨 API '한도 초과' 에러 분석 및 해결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28625"/>
            <a:ext cx="57150" cy="342900"/>
          </a:xfrm>
          <a:prstGeom prst="rect">
            <a:avLst/>
          </a:prstGeom>
          <a:solidFill>
            <a:srgbClr val="E65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3215" y="4404187"/>
            <a:ext cx="10466784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65F2C"/>
                </a:solidFill>
                <a:latin typeface="Noto Sans KR ExtraBold"/>
              </a:rPr>
              <a:t>핵심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623262"/>
            <a:ext cx="1062037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4A4230"/>
                </a:solidFill>
                <a:latin typeface="Noto Sans KR"/>
              </a:rPr>
              <a:t>'덜 자주 호출하고, 대표 좌표로 간소화하며, 이미 가져온 정보는 3시간 동안 돌려쓴다!'</a:t>
            </a:r>
            <a:r>
              <a:rPr sz="975" b="0" i="0" u="none">
                <a:solidFill>
                  <a:srgbClr val="4A4230"/>
                </a:solidFill>
                <a:latin typeface="Noto Sans KR"/>
              </a:rPr>
              <a:t>는 자원 절약 사상을 이식하여 기상 호출 트래픽량을 </a:t>
            </a:r>
            <a:r>
              <a:rPr sz="975" b="1" i="0" u="none">
                <a:solidFill>
                  <a:srgbClr val="E65F2C"/>
                </a:solidFill>
                <a:latin typeface="Noto Sans KR"/>
              </a:rPr>
              <a:t>95% 이상 획기적으로 낮춰</a:t>
            </a:r>
            <a:r>
              <a:rPr sz="975" b="0" i="0" u="none">
                <a:solidFill>
                  <a:srgbClr val="4A4230"/>
                </a:solidFill>
                <a:latin typeface="Noto Sans KR"/>
              </a:rPr>
              <a:t> 에러 리스크를 원천 진압했습니다.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528" y="2358247"/>
            <a:ext cx="5731497" cy="198090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C62828"/>
                </a:solidFill>
                <a:latin typeface="Noto Sans KR"/>
              </a:rPr>
              <a:t>왜 생겼는가 (원인 파악)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632537"/>
            <a:ext cx="5458569" cy="192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5D2525"/>
                </a:solidFill>
                <a:latin typeface="Noto Sans KR"/>
              </a:rPr>
              <a:t>무료 기상 오픈 소스(Open-Meteo)는 하루 요청 횟수 한도가 철저히 제한되어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901618"/>
            <a:ext cx="5458569" cy="5976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5D2525"/>
                </a:solidFill>
                <a:latin typeface="Noto Sans KR"/>
              </a:rPr>
              <a:t>최초 개발 시에는 검색할 때마다 수십여 곳 캠핑장의 주소를 하나하나 기상청 서버로 매번 새로 동기 호출해 요청량이 폭주했고 결국 일시 차단되는 현상 발생 "Daily request limit exceeded"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1373" y="2358247"/>
            <a:ext cx="4699649" cy="198090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 u="none">
                <a:solidFill>
                  <a:srgbClr val="2E7D32"/>
                </a:solidFill>
                <a:latin typeface="Noto Sans KR"/>
              </a:rPr>
              <a:t>어떻게 극복했는가 (해결 완료)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427999"/>
            <a:ext cx="96440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377297"/>
            <a:ext cx="118616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4469" y="2377297"/>
            <a:ext cx="118616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34969" y="2632537"/>
            <a:ext cx="428535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C3C20"/>
                </a:solidFill>
                <a:latin typeface="Noto Sans KR"/>
              </a:rPr>
              <a:t>① 인접 좌표 군집화:</a:t>
            </a:r>
            <a:r>
              <a:rPr sz="975" b="0" i="0" u="none">
                <a:solidFill>
                  <a:srgbClr val="2E3B32"/>
                </a:solidFill>
                <a:latin typeface="Noto Sans KR"/>
              </a:rPr>
              <a:t> 소수점 자리 반올림으로 아주 가까운 위치 야영지들은 하나의 묶음 대표 좌표로 전송하여 통신 횟수 대폭 감소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4969" y="3061162"/>
            <a:ext cx="428535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C3C20"/>
                </a:solidFill>
                <a:latin typeface="Noto Sans KR"/>
              </a:rPr>
              <a:t>② 3시간 임시 저장 캐시:</a:t>
            </a:r>
            <a:r>
              <a:rPr sz="975" b="0" i="0" u="none">
                <a:solidFill>
                  <a:srgbClr val="2E3B32"/>
                </a:solidFill>
                <a:latin typeface="Noto Sans KR"/>
              </a:rPr>
              <a:t> 한 번 받아온 지역 주말 기상 값은 메모리에 3시간 동안 저장해두고 중복 호출을 차단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4969" y="3489787"/>
            <a:ext cx="428535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C3C20"/>
                </a:solidFill>
                <a:latin typeface="Noto Sans KR"/>
              </a:rPr>
              <a:t>③ 날씨 데이터 경량화:</a:t>
            </a:r>
            <a:r>
              <a:rPr sz="975" b="0" i="0" u="none">
                <a:solidFill>
                  <a:srgbClr val="2E3B32"/>
                </a:solidFill>
                <a:latin typeface="Noto Sans KR"/>
              </a:rPr>
              <a:t> 불필요한 10일치 날씨 대신 주말 캠핑용 금/토/일 핵심 3일 전용 데이터 필드만 요청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2094" y="2623012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2094" y="3051637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2094" y="3480262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65F2C"/>
                </a:solidFill>
                <a:latin typeface="Noto Sans KR"/>
              </a:rPr>
              <a:t>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108424"/>
            <a:ext cx="4191000" cy="13477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3108424"/>
            <a:ext cx="4191000" cy="13477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75607" y="1143000"/>
            <a:ext cx="3840480" cy="1051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sz="4800" b="1" i="0" u="none">
                <a:solidFill>
                  <a:srgbClr val="0C3C20"/>
                </a:solidFill>
                <a:latin typeface="Noto Sans KR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96555" y="2487168"/>
            <a:ext cx="539874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55665A"/>
                </a:solidFill>
                <a:latin typeface="Noto Sans KR"/>
              </a:rPr>
              <a:t>전국 캠핑장 종합 정보 안내 서비스, "캠핑나침반" 발표를 마치겠습니다.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1612" y="3260824"/>
            <a:ext cx="4080510" cy="180975"/>
          </a:xfrm>
          <a:prstGeom prst="rect">
            <a:avLst/>
          </a:prstGeom>
          <a:noFill/>
        </p:spPr>
        <p:txBody>
          <a:bodyPr wrap="square" lIns="111174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C3C20"/>
                </a:solidFill>
                <a:latin typeface="Noto Sans KR"/>
              </a:rPr>
              <a:t>깊이 배운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2150" y="3517999"/>
            <a:ext cx="38862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55665A"/>
                </a:solidFill>
                <a:latin typeface="Noto Sans KR"/>
              </a:rPr>
              <a:t>캠핑 데이터, 네이버 지상 경로, 카카오 주변 마트 검색 등 이종 API를 하나로 아우르는 고도화된 매시업 아키텍처 실무 역량을 확보했습니다.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111" y="3260824"/>
            <a:ext cx="4080510" cy="180975"/>
          </a:xfrm>
          <a:prstGeom prst="rect">
            <a:avLst/>
          </a:prstGeom>
          <a:noFill/>
        </p:spPr>
        <p:txBody>
          <a:bodyPr wrap="square" lIns="111174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C3C20"/>
                </a:solidFill>
                <a:latin typeface="Noto Sans KR"/>
              </a:rPr>
              <a:t>향후 계획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3650" y="3517999"/>
            <a:ext cx="3886200" cy="500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55665A"/>
                </a:solidFill>
                <a:latin typeface="Noto Sans KR"/>
              </a:rPr>
              <a:t>실시간 잔여 데크 빈자리 확인과 통합 결제 연동 모듈을 구비하고, 누적 유저 평점을 기상에 따라 매칭해 제안해주는 AI 비서를 탑재할 예정입니다.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150" y="3279874"/>
            <a:ext cx="111174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3279874"/>
            <a:ext cx="111174" cy="1428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535527" y="4709160"/>
            <a:ext cx="5120640" cy="475488"/>
          </a:xfrm>
          <a:prstGeom prst="roundRect">
            <a:avLst>
              <a:gd name="adj" fmla="val 50000"/>
            </a:avLst>
          </a:prstGeom>
          <a:solidFill>
            <a:srgbClr val="F0EFEA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200" b="1">
                <a:solidFill>
                  <a:srgbClr val="1E3932"/>
                </a:solidFill>
                <a:latin typeface="Malgun Gothic"/>
              </a:rPr>
              <a:t>서비스 주소   </a:t>
            </a:r>
            <a:r>
              <a:rPr sz="1200">
                <a:solidFill>
                  <a:srgbClr val="3C5A50"/>
                </a:solidFill>
                <a:latin typeface="Malgun Gothic"/>
              </a:rPr>
              <a:t>camping-scrapper.onrender.com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1792</Words>
  <Application>Microsoft Office PowerPoint</Application>
  <PresentationFormat>와이드스크린</PresentationFormat>
  <Paragraphs>170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Noto Sans KR</vt:lpstr>
      <vt:lpstr>Noto Sans KR Black</vt:lpstr>
      <vt:lpstr>Noto Sans KR ExtraBold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JUNGWOO LEE</dc:creator>
  <cp:keywords/>
  <dc:description>generated using python-pptx</dc:description>
  <cp:lastModifiedBy>JUNGWOO LEE</cp:lastModifiedBy>
  <cp:revision>4</cp:revision>
  <dcterms:created xsi:type="dcterms:W3CDTF">2013-01-27T09:14:16Z</dcterms:created>
  <dcterms:modified xsi:type="dcterms:W3CDTF">2026-07-18T06:55:38Z</dcterms:modified>
  <cp:category/>
</cp:coreProperties>
</file>